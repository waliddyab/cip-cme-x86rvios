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Lst>
  <p:sldSz cy="6858000" cx="12192000"/>
  <p:notesSz cx="6858000" cy="12192000"/>
  <p:embeddedFontLst>
    <p:embeddedFont>
      <p:font typeface="Quattrocento Sans"/>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hchF1cZFVNk/YN8Pci81d9LwFh0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QuattrocentoSans-bold.fntdata"/><Relationship Id="rId12" Type="http://schemas.openxmlformats.org/officeDocument/2006/relationships/font" Target="fonts/QuattrocentoSans-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QuattrocentoSans-boldItalic.fntdata"/><Relationship Id="rId14" Type="http://schemas.openxmlformats.org/officeDocument/2006/relationships/font" Target="fonts/QuattrocentoSans-italic.fntdata"/><Relationship Id="rId16"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Preparatory-year exclusion is the dean's instruction and it changes two columns sharply: KSU falls from 29 to 8 because all 12 English credits, Arabic, university skills, entrepreneurship and PE sit inside its 32-credit Common First Year; KAU falls from 23 to 14. Alfaisal is corrected from 13 to 15 — the earlier figure missed AI 102 (3) and wrongly placed CoE 100 at university level when their plan puts it under College Engineering Requirements. PMU's 8-credit ALIS block splits 6 Islamic studies plus 2 Arabic, since ALIS 2211 is Linguistic Communication Skills (Arabic); the same applies at KFUPM, where IAS 121 is Language Foundation. That is why the combined row, not the Islamic-studies row, is the robust comparison: four of five comparators sit on exactly 8 combined and PSU sits on 14. Alfaisal requires no Arabic and no Islamic studies at all, which is not a design choice PSU can copy. PMU's 31 is the highest in the set but is spent on communication, professional development and learning-outcome assessment rather than on language and religious studies.</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9" name="Google Shape;16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set answers the dean's request without curating by outcome: the inclusion rule is stated on the slide, and every programme meeting it is reported. UT Austin is not here because Texas mandates a 42-hour core curriculum by state statute, which is a legislative fact about Texas rather than an engineering-curriculum choice — if asked, say exactly that rather than implying it was dropped for being inconvenient, and note that its 42 credits are almost entirely student-selected, which supports our flexibility argument anyway. Illinois replaces it as the additional top-50 semester-credit comparator. Do not run the Arabic and Islamic studies argument against these programmes: those are national requirements and no US comparator is relevant to them. The domestic slide carries that point. The argument here is prescription and total length only. Hopkins can be added if someone can pull the BS requirement from the Whiting School advising sheet.</a:t>
            </a:r>
            <a:endParaRPr/>
          </a:p>
        </p:txBody>
      </p:sp>
      <p:sp>
        <p:nvSpPr>
          <p:cNvPr id="170" name="Google Shape;170;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f3e54dd001_1_9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8" name="Google Shape;228;g3f3e54dd001_1_9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set answers the dean's request without curating by outcome: the inclusion rule is stated on the slide, and every programme meeting it is reported. UT Austin is not here because Texas mandates a 42-hour core curriculum by state statute, which is a legislative fact about Texas rather than an engineering-curriculum choice — if asked, say exactly that rather than implying it was dropped for being inconvenient, and note that its 42 credits are almost entirely student-selected, which supports our flexibility argument anyway. Illinois replaces it as the additional top-50 semester-credit comparator. Do not run the Arabic and Islamic studies argument against these programmes: those are national requirements and no US comparator is relevant to them. The domestic slide carries that point. The argument here is prescription and total length only. Hopkins can be added if someone can pull the BS requirement from the Whiting School advising sheet.</a:t>
            </a:r>
            <a:endParaRPr/>
          </a:p>
        </p:txBody>
      </p:sp>
      <p:sp>
        <p:nvSpPr>
          <p:cNvPr id="229" name="Google Shape;229;g3f3e54dd001_1_9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f7661adc39_0_3: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f7661adc39_0_3: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f7661adc39_0_9: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f7661adc39_0_9: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f7661adc39_0_15: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f7661adc39_0_15: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f7661adc39_0_21: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f7661adc39_0_21: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coe.alfaisal.edu/pdf/ee/EE_Detailed-study_plan_Fall_2026.pdf" TargetMode="External"/><Relationship Id="rId4" Type="http://schemas.openxmlformats.org/officeDocument/2006/relationships/hyperlink" Target="https://bulletin.kfupm.edu.sa/program?program_id=90&amp;title=bachelor-of-science-in-electrical-engineering---internship-option" TargetMode="External"/><Relationship Id="rId5" Type="http://schemas.openxmlformats.org/officeDocument/2006/relationships/hyperlink" Target="https://www.pmu.edu.sa/pdf/viewer?ID=19" TargetMode="External"/><Relationship Id="rId6" Type="http://schemas.openxmlformats.org/officeDocument/2006/relationships/hyperlink" Target="https://engineering.ksu.edu.sa/sites/engineering.ksu.edu.sa/files/imce_images/ee_common_year_plan_english_short_updated_2021.pdf?utm_source=chatgpt.com" TargetMode="External"/><Relationship Id="rId7" Type="http://schemas.openxmlformats.org/officeDocument/2006/relationships/hyperlink" Target="https://kau.edu.sa/en/programs/bachelor-of-science-in-electrical-engineering-power-and-machines" TargetMode="External"/><Relationship Id="rId8" Type="http://schemas.openxmlformats.org/officeDocument/2006/relationships/hyperlink" Target="https://ee.kfupm.edu.sa/academics/Undergraduate_Programs/bs-in-electrical-engineering-%28internship-option%29%28new%29?utm_source=chatgpt.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engineering.berkeley.edu/students/2025-26-undergraduate-guide-undergraduate-guide/2025-26-undergraduate-guide-degree-requirements/?utm_source=chatgpt.com" TargetMode="External"/><Relationship Id="rId4" Type="http://schemas.openxmlformats.org/officeDocument/2006/relationships/hyperlink" Target="https://courses.cornell.edu/programs/electrical-computer-engineering-bs/#curriculumtext" TargetMode="External"/><Relationship Id="rId5" Type="http://schemas.openxmlformats.org/officeDocument/2006/relationships/hyperlink" Target="https://docs.google.com/document/d/1NZ7-0qe5vj0W_3ZN8CuV8OqfKudM1FTe2XRz0toBAtM/edit?tab=t.0" TargetMode="External"/><Relationship Id="rId6" Type="http://schemas.openxmlformats.org/officeDocument/2006/relationships/hyperlink" Target="https://ece.illinois.edu/academics/ugrad/curriculum/ee?utm_source=chatgpt.com" TargetMode="External"/><Relationship Id="rId7" Type="http://schemas.openxmlformats.org/officeDocument/2006/relationships/hyperlink" Target="https://undergraduate.catalog.berkeley.edu/programs/16333U/plan-of-study-6Zx6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e-catalogue.jhu.edu/engineering/full-time-residential-programs/degree-programs/electrical-computer-engineering/electrical-engineering-bachelor-science/#twozerotwofourrequirementstext" TargetMode="External"/><Relationship Id="rId4" Type="http://schemas.openxmlformats.org/officeDocument/2006/relationships/hyperlink" Target="https://cse.umn.edu/college/four-year-plans/mechanical-engineering-four-year-plan" TargetMode="External"/><Relationship Id="rId5" Type="http://schemas.openxmlformats.org/officeDocument/2006/relationships/hyperlink" Target="https://www.dropbox.com/scl/fi/33w859fqhmwjy79y8j53q/me_2627.pdf?rlkey=eend3gq6q4y8rt2wr2t4s61nl&amp;st=qa8wnolb&amp;e=2&amp;dl=0" TargetMode="External"/><Relationship Id="rId6" Type="http://schemas.openxmlformats.org/officeDocument/2006/relationships/hyperlink" Target="https://catalog.tamu.edu/undergraduate/engineering/mechanical/bs/#programrequirementstext" TargetMode="External"/><Relationship Id="rId7" Type="http://schemas.openxmlformats.org/officeDocument/2006/relationships/hyperlink" Target="https://www.usg.edu/curriculum/core-impact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 name="Shape 11"/>
        <p:cNvGrpSpPr/>
        <p:nvPr/>
      </p:nvGrpSpPr>
      <p:grpSpPr>
        <a:xfrm>
          <a:off x="0" y="0"/>
          <a:ext cx="0" cy="0"/>
          <a:chOff x="0" y="0"/>
          <a:chExt cx="0" cy="0"/>
        </a:xfrm>
      </p:grpSpPr>
      <p:sp>
        <p:nvSpPr>
          <p:cNvPr id="12" name="Google Shape;12;p1"/>
          <p:cNvSpPr/>
          <p:nvPr/>
        </p:nvSpPr>
        <p:spPr>
          <a:xfrm>
            <a:off x="457200" y="310896"/>
            <a:ext cx="1133856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700"/>
              <a:buFont typeface="Quattrocento Sans"/>
              <a:buNone/>
            </a:pPr>
            <a:r>
              <a:rPr b="1" i="0" lang="en-US" sz="2700" u="none" cap="none" strike="noStrike">
                <a:solidFill>
                  <a:srgbClr val="1F3864"/>
                </a:solidFill>
                <a:latin typeface="Quattrocento Sans"/>
                <a:ea typeface="Quattrocento Sans"/>
                <a:cs typeface="Quattrocento Sans"/>
                <a:sym typeface="Quattrocento Sans"/>
              </a:rPr>
              <a:t>University-Level Requirements Compared</a:t>
            </a:r>
            <a:endParaRPr b="0" i="0" sz="2700" u="none" cap="none" strike="noStrike">
              <a:solidFill>
                <a:schemeClr val="dk1"/>
              </a:solidFill>
              <a:latin typeface="Calibri"/>
              <a:ea typeface="Calibri"/>
              <a:cs typeface="Calibri"/>
              <a:sym typeface="Calibri"/>
            </a:endParaRPr>
          </a:p>
        </p:txBody>
      </p:sp>
      <p:sp>
        <p:nvSpPr>
          <p:cNvPr id="13" name="Google Shape;13;p1"/>
          <p:cNvSpPr/>
          <p:nvPr/>
        </p:nvSpPr>
        <p:spPr>
          <a:xfrm>
            <a:off x="457200" y="722376"/>
            <a:ext cx="113385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8798"/>
              </a:buClr>
              <a:buSzPts val="1200"/>
              <a:buFont typeface="Quattrocento Sans"/>
              <a:buNone/>
            </a:pPr>
            <a:r>
              <a:rPr b="0" i="0" lang="en-US" sz="1200" u="none" cap="none" strike="noStrike">
                <a:solidFill>
                  <a:srgbClr val="7B8798"/>
                </a:solidFill>
                <a:latin typeface="Quattrocento Sans"/>
                <a:ea typeface="Quattrocento Sans"/>
                <a:cs typeface="Quattrocento Sans"/>
                <a:sym typeface="Quattrocento Sans"/>
              </a:rPr>
              <a:t>Four-year plan only , preparatory-year (PYP) courses excluded. Built from the official study plans.</a:t>
            </a:r>
            <a:endParaRPr b="0" i="0" sz="1200" u="none" cap="none" strike="noStrike">
              <a:solidFill>
                <a:schemeClr val="dk1"/>
              </a:solidFill>
              <a:latin typeface="Calibri"/>
              <a:ea typeface="Calibri"/>
              <a:cs typeface="Calibri"/>
              <a:sym typeface="Calibri"/>
            </a:endParaRPr>
          </a:p>
        </p:txBody>
      </p:sp>
      <p:sp>
        <p:nvSpPr>
          <p:cNvPr id="14" name="Google Shape;14;p1"/>
          <p:cNvSpPr/>
          <p:nvPr/>
        </p:nvSpPr>
        <p:spPr>
          <a:xfrm>
            <a:off x="457200" y="1060704"/>
            <a:ext cx="11311128" cy="310896"/>
          </a:xfrm>
          <a:prstGeom prst="rect">
            <a:avLst/>
          </a:prstGeom>
          <a:solidFill>
            <a:srgbClr val="1F3864"/>
          </a:solidFill>
          <a:ln cap="flat" cmpd="sng" w="9525">
            <a:solidFill>
              <a:srgbClr val="1F386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900">
              <a:solidFill>
                <a:schemeClr val="dk1"/>
              </a:solidFill>
              <a:latin typeface="Calibri"/>
              <a:ea typeface="Calibri"/>
              <a:cs typeface="Calibri"/>
              <a:sym typeface="Calibri"/>
            </a:endParaRPr>
          </a:p>
        </p:txBody>
      </p:sp>
      <p:sp>
        <p:nvSpPr>
          <p:cNvPr id="15" name="Google Shape;15;p1"/>
          <p:cNvSpPr/>
          <p:nvPr/>
        </p:nvSpPr>
        <p:spPr>
          <a:xfrm>
            <a:off x="512064" y="1060704"/>
            <a:ext cx="3410712"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Quattrocento Sans"/>
              <a:buNone/>
            </a:pPr>
            <a:r>
              <a:rPr b="1" lang="en-US" sz="1150">
                <a:solidFill>
                  <a:srgbClr val="FFFFFF"/>
                </a:solidFill>
                <a:latin typeface="Quattrocento Sans"/>
                <a:ea typeface="Quattrocento Sans"/>
                <a:cs typeface="Quattrocento Sans"/>
                <a:sym typeface="Quattrocento Sans"/>
              </a:rPr>
              <a:t>Component</a:t>
            </a:r>
            <a:endParaRPr sz="1150">
              <a:solidFill>
                <a:schemeClr val="dk1"/>
              </a:solidFill>
              <a:latin typeface="Calibri"/>
              <a:ea typeface="Calibri"/>
              <a:cs typeface="Calibri"/>
              <a:sym typeface="Calibri"/>
            </a:endParaRPr>
          </a:p>
        </p:txBody>
      </p:sp>
      <p:sp>
        <p:nvSpPr>
          <p:cNvPr id="16" name="Google Shape;16;p1"/>
          <p:cNvSpPr/>
          <p:nvPr/>
        </p:nvSpPr>
        <p:spPr>
          <a:xfrm>
            <a:off x="4032504" y="1060704"/>
            <a:ext cx="118872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Quattrocento Sans"/>
              <a:buNone/>
            </a:pPr>
            <a:r>
              <a:rPr b="1" lang="en-US" sz="1150">
                <a:solidFill>
                  <a:srgbClr val="FFFFFF"/>
                </a:solidFill>
                <a:latin typeface="Quattrocento Sans"/>
                <a:ea typeface="Quattrocento Sans"/>
                <a:cs typeface="Quattrocento Sans"/>
                <a:sym typeface="Quattrocento Sans"/>
              </a:rPr>
              <a:t>PSU</a:t>
            </a:r>
            <a:endParaRPr sz="1150">
              <a:solidFill>
                <a:schemeClr val="dk1"/>
              </a:solidFill>
              <a:latin typeface="Calibri"/>
              <a:ea typeface="Calibri"/>
              <a:cs typeface="Calibri"/>
              <a:sym typeface="Calibri"/>
            </a:endParaRPr>
          </a:p>
        </p:txBody>
      </p:sp>
      <p:sp>
        <p:nvSpPr>
          <p:cNvPr id="17" name="Google Shape;17;p1"/>
          <p:cNvSpPr/>
          <p:nvPr/>
        </p:nvSpPr>
        <p:spPr>
          <a:xfrm>
            <a:off x="5330952" y="1060704"/>
            <a:ext cx="118872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Quattrocento Sans"/>
              <a:buNone/>
            </a:pPr>
            <a:r>
              <a:rPr b="1" lang="en-US" sz="1150" u="sng">
                <a:solidFill>
                  <a:schemeClr val="hlink"/>
                </a:solidFill>
                <a:latin typeface="Quattrocento Sans"/>
                <a:ea typeface="Quattrocento Sans"/>
                <a:cs typeface="Quattrocento Sans"/>
                <a:sym typeface="Quattrocento Sans"/>
                <a:hlinkClick r:id="rId3"/>
              </a:rPr>
              <a:t>Alfaisal</a:t>
            </a:r>
            <a:endParaRPr sz="1150">
              <a:solidFill>
                <a:schemeClr val="dk1"/>
              </a:solidFill>
              <a:latin typeface="Calibri"/>
              <a:ea typeface="Calibri"/>
              <a:cs typeface="Calibri"/>
              <a:sym typeface="Calibri"/>
            </a:endParaRPr>
          </a:p>
        </p:txBody>
      </p:sp>
      <p:sp>
        <p:nvSpPr>
          <p:cNvPr id="18" name="Google Shape;18;p1"/>
          <p:cNvSpPr/>
          <p:nvPr/>
        </p:nvSpPr>
        <p:spPr>
          <a:xfrm>
            <a:off x="6629400" y="1060704"/>
            <a:ext cx="118872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Quattrocento Sans"/>
              <a:buNone/>
            </a:pPr>
            <a:r>
              <a:rPr b="1" lang="en-US" sz="1150" u="sng">
                <a:solidFill>
                  <a:schemeClr val="hlink"/>
                </a:solidFill>
                <a:latin typeface="Quattrocento Sans"/>
                <a:ea typeface="Quattrocento Sans"/>
                <a:cs typeface="Quattrocento Sans"/>
                <a:sym typeface="Quattrocento Sans"/>
                <a:hlinkClick r:id="rId4"/>
              </a:rPr>
              <a:t>KFUPM</a:t>
            </a:r>
            <a:endParaRPr sz="1150">
              <a:solidFill>
                <a:schemeClr val="dk1"/>
              </a:solidFill>
              <a:latin typeface="Calibri"/>
              <a:ea typeface="Calibri"/>
              <a:cs typeface="Calibri"/>
              <a:sym typeface="Calibri"/>
            </a:endParaRPr>
          </a:p>
        </p:txBody>
      </p:sp>
      <p:sp>
        <p:nvSpPr>
          <p:cNvPr id="19" name="Google Shape;19;p1"/>
          <p:cNvSpPr/>
          <p:nvPr/>
        </p:nvSpPr>
        <p:spPr>
          <a:xfrm>
            <a:off x="7927848" y="1060704"/>
            <a:ext cx="118872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Quattrocento Sans"/>
              <a:buNone/>
            </a:pPr>
            <a:r>
              <a:rPr b="1" lang="en-US" sz="1150" u="sng">
                <a:solidFill>
                  <a:schemeClr val="hlink"/>
                </a:solidFill>
                <a:latin typeface="Quattrocento Sans"/>
                <a:ea typeface="Quattrocento Sans"/>
                <a:cs typeface="Quattrocento Sans"/>
                <a:sym typeface="Quattrocento Sans"/>
                <a:hlinkClick r:id="rId5"/>
              </a:rPr>
              <a:t>PMU</a:t>
            </a:r>
            <a:endParaRPr sz="1150">
              <a:solidFill>
                <a:schemeClr val="dk1"/>
              </a:solidFill>
              <a:latin typeface="Calibri"/>
              <a:ea typeface="Calibri"/>
              <a:cs typeface="Calibri"/>
              <a:sym typeface="Calibri"/>
            </a:endParaRPr>
          </a:p>
        </p:txBody>
      </p:sp>
      <p:sp>
        <p:nvSpPr>
          <p:cNvPr id="20" name="Google Shape;20;p1"/>
          <p:cNvSpPr/>
          <p:nvPr/>
        </p:nvSpPr>
        <p:spPr>
          <a:xfrm>
            <a:off x="9226296" y="1060704"/>
            <a:ext cx="118872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Quattrocento Sans"/>
              <a:buNone/>
            </a:pPr>
            <a:r>
              <a:rPr b="1" lang="en-US" sz="1150" u="sng">
                <a:solidFill>
                  <a:schemeClr val="hlink"/>
                </a:solidFill>
                <a:latin typeface="Quattrocento Sans"/>
                <a:ea typeface="Quattrocento Sans"/>
                <a:cs typeface="Quattrocento Sans"/>
                <a:sym typeface="Quattrocento Sans"/>
                <a:hlinkClick r:id="rId6"/>
              </a:rPr>
              <a:t>KSU</a:t>
            </a:r>
            <a:endParaRPr sz="1150">
              <a:solidFill>
                <a:schemeClr val="dk1"/>
              </a:solidFill>
              <a:latin typeface="Calibri"/>
              <a:ea typeface="Calibri"/>
              <a:cs typeface="Calibri"/>
              <a:sym typeface="Calibri"/>
            </a:endParaRPr>
          </a:p>
        </p:txBody>
      </p:sp>
      <p:sp>
        <p:nvSpPr>
          <p:cNvPr id="21" name="Google Shape;21;p1"/>
          <p:cNvSpPr/>
          <p:nvPr/>
        </p:nvSpPr>
        <p:spPr>
          <a:xfrm>
            <a:off x="10524744" y="1060704"/>
            <a:ext cx="118872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Quattrocento Sans"/>
              <a:buNone/>
            </a:pPr>
            <a:r>
              <a:rPr b="1" lang="en-US" sz="1150" u="sng">
                <a:solidFill>
                  <a:schemeClr val="hlink"/>
                </a:solidFill>
                <a:latin typeface="Quattrocento Sans"/>
                <a:ea typeface="Quattrocento Sans"/>
                <a:cs typeface="Quattrocento Sans"/>
                <a:sym typeface="Quattrocento Sans"/>
                <a:hlinkClick r:id="rId7"/>
              </a:rPr>
              <a:t>KAU</a:t>
            </a:r>
            <a:endParaRPr sz="1150">
              <a:solidFill>
                <a:schemeClr val="dk1"/>
              </a:solidFill>
              <a:latin typeface="Calibri"/>
              <a:ea typeface="Calibri"/>
              <a:cs typeface="Calibri"/>
              <a:sym typeface="Calibri"/>
            </a:endParaRPr>
          </a:p>
        </p:txBody>
      </p:sp>
      <p:sp>
        <p:nvSpPr>
          <p:cNvPr id="22" name="Google Shape;22;p1"/>
          <p:cNvSpPr/>
          <p:nvPr/>
        </p:nvSpPr>
        <p:spPr>
          <a:xfrm>
            <a:off x="457200" y="1371600"/>
            <a:ext cx="11311128" cy="260604"/>
          </a:xfrm>
          <a:prstGeom prst="rect">
            <a:avLst/>
          </a:prstGeom>
          <a:solidFill>
            <a:srgbClr val="EEF2FA"/>
          </a:solidFill>
          <a:ln cap="flat" cmpd="sng" w="9525">
            <a:solidFill>
              <a:srgbClr val="DDE3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900">
              <a:solidFill>
                <a:schemeClr val="dk1"/>
              </a:solidFill>
              <a:latin typeface="Calibri"/>
              <a:ea typeface="Calibri"/>
              <a:cs typeface="Calibri"/>
              <a:sym typeface="Calibri"/>
            </a:endParaRPr>
          </a:p>
        </p:txBody>
      </p:sp>
      <p:sp>
        <p:nvSpPr>
          <p:cNvPr id="23" name="Google Shape;23;p1"/>
          <p:cNvSpPr/>
          <p:nvPr/>
        </p:nvSpPr>
        <p:spPr>
          <a:xfrm>
            <a:off x="512064" y="1371600"/>
            <a:ext cx="3410712" cy="2606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Islamic studies</a:t>
            </a:r>
            <a:endParaRPr sz="1150">
              <a:solidFill>
                <a:schemeClr val="dk1"/>
              </a:solidFill>
              <a:latin typeface="Calibri"/>
              <a:ea typeface="Calibri"/>
              <a:cs typeface="Calibri"/>
              <a:sym typeface="Calibri"/>
            </a:endParaRPr>
          </a:p>
        </p:txBody>
      </p:sp>
      <p:sp>
        <p:nvSpPr>
          <p:cNvPr id="24" name="Google Shape;24;p1"/>
          <p:cNvSpPr/>
          <p:nvPr/>
        </p:nvSpPr>
        <p:spPr>
          <a:xfrm>
            <a:off x="4032504" y="1371600"/>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8</a:t>
            </a:r>
            <a:endParaRPr sz="1150">
              <a:solidFill>
                <a:schemeClr val="dk1"/>
              </a:solidFill>
              <a:latin typeface="Calibri"/>
              <a:ea typeface="Calibri"/>
              <a:cs typeface="Calibri"/>
              <a:sym typeface="Calibri"/>
            </a:endParaRPr>
          </a:p>
        </p:txBody>
      </p:sp>
      <p:sp>
        <p:nvSpPr>
          <p:cNvPr id="25" name="Google Shape;25;p1"/>
          <p:cNvSpPr/>
          <p:nvPr/>
        </p:nvSpPr>
        <p:spPr>
          <a:xfrm>
            <a:off x="5330952" y="1371600"/>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0</a:t>
            </a:r>
            <a:endParaRPr sz="1150">
              <a:solidFill>
                <a:schemeClr val="dk1"/>
              </a:solidFill>
              <a:latin typeface="Calibri"/>
              <a:ea typeface="Calibri"/>
              <a:cs typeface="Calibri"/>
              <a:sym typeface="Calibri"/>
            </a:endParaRPr>
          </a:p>
        </p:txBody>
      </p:sp>
      <p:sp>
        <p:nvSpPr>
          <p:cNvPr id="26" name="Google Shape;26;p1">
            <a:hlinkClick r:id="rId8"/>
          </p:cNvPr>
          <p:cNvSpPr/>
          <p:nvPr/>
        </p:nvSpPr>
        <p:spPr>
          <a:xfrm>
            <a:off x="6629400" y="1371600"/>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6</a:t>
            </a:r>
            <a:endParaRPr sz="1150">
              <a:solidFill>
                <a:schemeClr val="dk1"/>
              </a:solidFill>
              <a:latin typeface="Calibri"/>
              <a:ea typeface="Calibri"/>
              <a:cs typeface="Calibri"/>
              <a:sym typeface="Calibri"/>
            </a:endParaRPr>
          </a:p>
        </p:txBody>
      </p:sp>
      <p:sp>
        <p:nvSpPr>
          <p:cNvPr id="27" name="Google Shape;27;p1"/>
          <p:cNvSpPr/>
          <p:nvPr/>
        </p:nvSpPr>
        <p:spPr>
          <a:xfrm>
            <a:off x="7927848" y="1371600"/>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6</a:t>
            </a:r>
            <a:endParaRPr sz="1150">
              <a:solidFill>
                <a:schemeClr val="dk1"/>
              </a:solidFill>
              <a:latin typeface="Calibri"/>
              <a:ea typeface="Calibri"/>
              <a:cs typeface="Calibri"/>
              <a:sym typeface="Calibri"/>
            </a:endParaRPr>
          </a:p>
        </p:txBody>
      </p:sp>
      <p:sp>
        <p:nvSpPr>
          <p:cNvPr id="28" name="Google Shape;28;p1"/>
          <p:cNvSpPr/>
          <p:nvPr/>
        </p:nvSpPr>
        <p:spPr>
          <a:xfrm>
            <a:off x="9226296" y="1371600"/>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8</a:t>
            </a:r>
            <a:endParaRPr sz="1150">
              <a:solidFill>
                <a:schemeClr val="dk1"/>
              </a:solidFill>
              <a:latin typeface="Calibri"/>
              <a:ea typeface="Calibri"/>
              <a:cs typeface="Calibri"/>
              <a:sym typeface="Calibri"/>
            </a:endParaRPr>
          </a:p>
        </p:txBody>
      </p:sp>
      <p:sp>
        <p:nvSpPr>
          <p:cNvPr id="29" name="Google Shape;29;p1"/>
          <p:cNvSpPr/>
          <p:nvPr/>
        </p:nvSpPr>
        <p:spPr>
          <a:xfrm>
            <a:off x="10524744" y="1371600"/>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8</a:t>
            </a:r>
            <a:endParaRPr sz="1150">
              <a:solidFill>
                <a:schemeClr val="dk1"/>
              </a:solidFill>
              <a:latin typeface="Calibri"/>
              <a:ea typeface="Calibri"/>
              <a:cs typeface="Calibri"/>
              <a:sym typeface="Calibri"/>
            </a:endParaRPr>
          </a:p>
        </p:txBody>
      </p:sp>
      <p:sp>
        <p:nvSpPr>
          <p:cNvPr id="30" name="Google Shape;30;p1"/>
          <p:cNvSpPr/>
          <p:nvPr/>
        </p:nvSpPr>
        <p:spPr>
          <a:xfrm>
            <a:off x="457200" y="1632204"/>
            <a:ext cx="11311128" cy="187452"/>
          </a:xfrm>
          <a:prstGeom prst="rect">
            <a:avLst/>
          </a:prstGeom>
          <a:solidFill>
            <a:srgbClr val="FFFFFF"/>
          </a:solidFill>
          <a:ln cap="flat" cmpd="sng" w="9525">
            <a:solidFill>
              <a:srgbClr val="DDE3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900">
              <a:solidFill>
                <a:schemeClr val="dk1"/>
              </a:solidFill>
              <a:latin typeface="Calibri"/>
              <a:ea typeface="Calibri"/>
              <a:cs typeface="Calibri"/>
              <a:sym typeface="Calibri"/>
            </a:endParaRPr>
          </a:p>
        </p:txBody>
      </p:sp>
      <p:sp>
        <p:nvSpPr>
          <p:cNvPr id="31" name="Google Shape;31;p1"/>
          <p:cNvSpPr/>
          <p:nvPr/>
        </p:nvSpPr>
        <p:spPr>
          <a:xfrm>
            <a:off x="4032504" y="1632204"/>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ISC 101/103/105/203</a:t>
            </a:r>
            <a:endParaRPr sz="820">
              <a:solidFill>
                <a:schemeClr val="dk1"/>
              </a:solidFill>
              <a:latin typeface="Calibri"/>
              <a:ea typeface="Calibri"/>
              <a:cs typeface="Calibri"/>
              <a:sym typeface="Calibri"/>
            </a:endParaRPr>
          </a:p>
        </p:txBody>
      </p:sp>
      <p:sp>
        <p:nvSpPr>
          <p:cNvPr id="32" name="Google Shape;32;p1"/>
          <p:cNvSpPr/>
          <p:nvPr/>
        </p:nvSpPr>
        <p:spPr>
          <a:xfrm>
            <a:off x="5330952" y="1632204"/>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none</a:t>
            </a:r>
            <a:endParaRPr sz="820">
              <a:solidFill>
                <a:schemeClr val="dk1"/>
              </a:solidFill>
              <a:latin typeface="Calibri"/>
              <a:ea typeface="Calibri"/>
              <a:cs typeface="Calibri"/>
              <a:sym typeface="Calibri"/>
            </a:endParaRPr>
          </a:p>
        </p:txBody>
      </p:sp>
      <p:sp>
        <p:nvSpPr>
          <p:cNvPr id="33" name="Google Shape;33;p1"/>
          <p:cNvSpPr/>
          <p:nvPr/>
        </p:nvSpPr>
        <p:spPr>
          <a:xfrm>
            <a:off x="6629400" y="1632204"/>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IAS 111, 212 + elective</a:t>
            </a:r>
            <a:endParaRPr sz="820">
              <a:solidFill>
                <a:schemeClr val="dk1"/>
              </a:solidFill>
              <a:latin typeface="Calibri"/>
              <a:ea typeface="Calibri"/>
              <a:cs typeface="Calibri"/>
              <a:sym typeface="Calibri"/>
            </a:endParaRPr>
          </a:p>
        </p:txBody>
      </p:sp>
      <p:sp>
        <p:nvSpPr>
          <p:cNvPr id="34" name="Google Shape;34;p1"/>
          <p:cNvSpPr/>
          <p:nvPr/>
        </p:nvSpPr>
        <p:spPr>
          <a:xfrm>
            <a:off x="7927848" y="1632204"/>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ALIS 1211/1212/2212</a:t>
            </a:r>
            <a:endParaRPr sz="820">
              <a:solidFill>
                <a:schemeClr val="dk1"/>
              </a:solidFill>
              <a:latin typeface="Calibri"/>
              <a:ea typeface="Calibri"/>
              <a:cs typeface="Calibri"/>
              <a:sym typeface="Calibri"/>
            </a:endParaRPr>
          </a:p>
        </p:txBody>
      </p:sp>
      <p:sp>
        <p:nvSpPr>
          <p:cNvPr id="35" name="Google Shape;35;p1"/>
          <p:cNvSpPr/>
          <p:nvPr/>
        </p:nvSpPr>
        <p:spPr>
          <a:xfrm>
            <a:off x="9226296" y="1632204"/>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IC 107 + 3 IC electives</a:t>
            </a:r>
            <a:endParaRPr sz="820">
              <a:solidFill>
                <a:schemeClr val="dk1"/>
              </a:solidFill>
              <a:latin typeface="Calibri"/>
              <a:ea typeface="Calibri"/>
              <a:cs typeface="Calibri"/>
              <a:sym typeface="Calibri"/>
            </a:endParaRPr>
          </a:p>
        </p:txBody>
      </p:sp>
      <p:sp>
        <p:nvSpPr>
          <p:cNvPr id="36" name="Google Shape;36;p1"/>
          <p:cNvSpPr/>
          <p:nvPr/>
        </p:nvSpPr>
        <p:spPr>
          <a:xfrm>
            <a:off x="10524744" y="1632204"/>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ISLS 101/201/301/401</a:t>
            </a:r>
            <a:endParaRPr sz="820">
              <a:solidFill>
                <a:schemeClr val="dk1"/>
              </a:solidFill>
              <a:latin typeface="Calibri"/>
              <a:ea typeface="Calibri"/>
              <a:cs typeface="Calibri"/>
              <a:sym typeface="Calibri"/>
            </a:endParaRPr>
          </a:p>
        </p:txBody>
      </p:sp>
      <p:sp>
        <p:nvSpPr>
          <p:cNvPr id="37" name="Google Shape;37;p1"/>
          <p:cNvSpPr/>
          <p:nvPr/>
        </p:nvSpPr>
        <p:spPr>
          <a:xfrm>
            <a:off x="457200" y="1819656"/>
            <a:ext cx="11311128" cy="260604"/>
          </a:xfrm>
          <a:prstGeom prst="rect">
            <a:avLst/>
          </a:prstGeom>
          <a:solidFill>
            <a:srgbClr val="EEF2FA"/>
          </a:solidFill>
          <a:ln cap="flat" cmpd="sng" w="9525">
            <a:solidFill>
              <a:srgbClr val="DDE3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900">
              <a:solidFill>
                <a:schemeClr val="dk1"/>
              </a:solidFill>
              <a:latin typeface="Calibri"/>
              <a:ea typeface="Calibri"/>
              <a:cs typeface="Calibri"/>
              <a:sym typeface="Calibri"/>
            </a:endParaRPr>
          </a:p>
        </p:txBody>
      </p:sp>
      <p:sp>
        <p:nvSpPr>
          <p:cNvPr id="38" name="Google Shape;38;p1"/>
          <p:cNvSpPr/>
          <p:nvPr/>
        </p:nvSpPr>
        <p:spPr>
          <a:xfrm>
            <a:off x="512064" y="1819656"/>
            <a:ext cx="3410712" cy="2606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Arabic language</a:t>
            </a:r>
            <a:endParaRPr sz="1150">
              <a:solidFill>
                <a:schemeClr val="dk1"/>
              </a:solidFill>
              <a:latin typeface="Calibri"/>
              <a:ea typeface="Calibri"/>
              <a:cs typeface="Calibri"/>
              <a:sym typeface="Calibri"/>
            </a:endParaRPr>
          </a:p>
        </p:txBody>
      </p:sp>
      <p:sp>
        <p:nvSpPr>
          <p:cNvPr id="39" name="Google Shape;39;p1"/>
          <p:cNvSpPr/>
          <p:nvPr/>
        </p:nvSpPr>
        <p:spPr>
          <a:xfrm>
            <a:off x="4032504" y="1819656"/>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6</a:t>
            </a:r>
            <a:endParaRPr sz="1150">
              <a:solidFill>
                <a:schemeClr val="dk1"/>
              </a:solidFill>
              <a:latin typeface="Calibri"/>
              <a:ea typeface="Calibri"/>
              <a:cs typeface="Calibri"/>
              <a:sym typeface="Calibri"/>
            </a:endParaRPr>
          </a:p>
        </p:txBody>
      </p:sp>
      <p:sp>
        <p:nvSpPr>
          <p:cNvPr id="40" name="Google Shape;40;p1"/>
          <p:cNvSpPr/>
          <p:nvPr/>
        </p:nvSpPr>
        <p:spPr>
          <a:xfrm>
            <a:off x="5330952" y="1819656"/>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0</a:t>
            </a:r>
            <a:endParaRPr sz="1150">
              <a:solidFill>
                <a:schemeClr val="dk1"/>
              </a:solidFill>
              <a:latin typeface="Calibri"/>
              <a:ea typeface="Calibri"/>
              <a:cs typeface="Calibri"/>
              <a:sym typeface="Calibri"/>
            </a:endParaRPr>
          </a:p>
        </p:txBody>
      </p:sp>
      <p:sp>
        <p:nvSpPr>
          <p:cNvPr id="41" name="Google Shape;41;p1"/>
          <p:cNvSpPr/>
          <p:nvPr/>
        </p:nvSpPr>
        <p:spPr>
          <a:xfrm>
            <a:off x="6629400" y="1819656"/>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2</a:t>
            </a:r>
            <a:endParaRPr sz="1150">
              <a:solidFill>
                <a:schemeClr val="dk1"/>
              </a:solidFill>
              <a:latin typeface="Calibri"/>
              <a:ea typeface="Calibri"/>
              <a:cs typeface="Calibri"/>
              <a:sym typeface="Calibri"/>
            </a:endParaRPr>
          </a:p>
        </p:txBody>
      </p:sp>
      <p:sp>
        <p:nvSpPr>
          <p:cNvPr id="42" name="Google Shape;42;p1"/>
          <p:cNvSpPr/>
          <p:nvPr/>
        </p:nvSpPr>
        <p:spPr>
          <a:xfrm>
            <a:off x="7927848" y="1819656"/>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2</a:t>
            </a:r>
            <a:endParaRPr sz="1150">
              <a:solidFill>
                <a:schemeClr val="dk1"/>
              </a:solidFill>
              <a:latin typeface="Calibri"/>
              <a:ea typeface="Calibri"/>
              <a:cs typeface="Calibri"/>
              <a:sym typeface="Calibri"/>
            </a:endParaRPr>
          </a:p>
        </p:txBody>
      </p:sp>
      <p:sp>
        <p:nvSpPr>
          <p:cNvPr id="43" name="Google Shape;43;p1"/>
          <p:cNvSpPr/>
          <p:nvPr/>
        </p:nvSpPr>
        <p:spPr>
          <a:xfrm>
            <a:off x="9226296" y="1819656"/>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0</a:t>
            </a:r>
            <a:endParaRPr sz="1150">
              <a:solidFill>
                <a:schemeClr val="dk1"/>
              </a:solidFill>
              <a:latin typeface="Calibri"/>
              <a:ea typeface="Calibri"/>
              <a:cs typeface="Calibri"/>
              <a:sym typeface="Calibri"/>
            </a:endParaRPr>
          </a:p>
        </p:txBody>
      </p:sp>
      <p:sp>
        <p:nvSpPr>
          <p:cNvPr id="44" name="Google Shape;44;p1"/>
          <p:cNvSpPr/>
          <p:nvPr/>
        </p:nvSpPr>
        <p:spPr>
          <a:xfrm>
            <a:off x="10524744" y="1819656"/>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6</a:t>
            </a:r>
            <a:endParaRPr sz="1150">
              <a:solidFill>
                <a:schemeClr val="dk1"/>
              </a:solidFill>
              <a:latin typeface="Calibri"/>
              <a:ea typeface="Calibri"/>
              <a:cs typeface="Calibri"/>
              <a:sym typeface="Calibri"/>
            </a:endParaRPr>
          </a:p>
        </p:txBody>
      </p:sp>
      <p:sp>
        <p:nvSpPr>
          <p:cNvPr id="45" name="Google Shape;45;p1"/>
          <p:cNvSpPr/>
          <p:nvPr/>
        </p:nvSpPr>
        <p:spPr>
          <a:xfrm>
            <a:off x="457200" y="2080260"/>
            <a:ext cx="11311128" cy="187452"/>
          </a:xfrm>
          <a:prstGeom prst="rect">
            <a:avLst/>
          </a:prstGeom>
          <a:solidFill>
            <a:srgbClr val="FFFFFF"/>
          </a:solidFill>
          <a:ln cap="flat" cmpd="sng" w="9525">
            <a:solidFill>
              <a:srgbClr val="DDE3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900">
              <a:solidFill>
                <a:schemeClr val="dk1"/>
              </a:solidFill>
              <a:latin typeface="Calibri"/>
              <a:ea typeface="Calibri"/>
              <a:cs typeface="Calibri"/>
              <a:sym typeface="Calibri"/>
            </a:endParaRPr>
          </a:p>
        </p:txBody>
      </p:sp>
      <p:sp>
        <p:nvSpPr>
          <p:cNvPr id="46" name="Google Shape;46;p1"/>
          <p:cNvSpPr/>
          <p:nvPr/>
        </p:nvSpPr>
        <p:spPr>
          <a:xfrm>
            <a:off x="4032504" y="2080260"/>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ARAB 101/103/203</a:t>
            </a:r>
            <a:endParaRPr sz="820">
              <a:solidFill>
                <a:schemeClr val="dk1"/>
              </a:solidFill>
              <a:latin typeface="Calibri"/>
              <a:ea typeface="Calibri"/>
              <a:cs typeface="Calibri"/>
              <a:sym typeface="Calibri"/>
            </a:endParaRPr>
          </a:p>
        </p:txBody>
      </p:sp>
      <p:sp>
        <p:nvSpPr>
          <p:cNvPr id="47" name="Google Shape;47;p1"/>
          <p:cNvSpPr/>
          <p:nvPr/>
        </p:nvSpPr>
        <p:spPr>
          <a:xfrm>
            <a:off x="5330952" y="2080260"/>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none</a:t>
            </a:r>
            <a:endParaRPr sz="820">
              <a:solidFill>
                <a:schemeClr val="dk1"/>
              </a:solidFill>
              <a:latin typeface="Calibri"/>
              <a:ea typeface="Calibri"/>
              <a:cs typeface="Calibri"/>
              <a:sym typeface="Calibri"/>
            </a:endParaRPr>
          </a:p>
        </p:txBody>
      </p:sp>
      <p:sp>
        <p:nvSpPr>
          <p:cNvPr id="48" name="Google Shape;48;p1"/>
          <p:cNvSpPr/>
          <p:nvPr/>
        </p:nvSpPr>
        <p:spPr>
          <a:xfrm>
            <a:off x="6629400" y="2080260"/>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IAS 121 Lang. Foundation</a:t>
            </a:r>
            <a:endParaRPr sz="820">
              <a:solidFill>
                <a:schemeClr val="dk1"/>
              </a:solidFill>
              <a:latin typeface="Calibri"/>
              <a:ea typeface="Calibri"/>
              <a:cs typeface="Calibri"/>
              <a:sym typeface="Calibri"/>
            </a:endParaRPr>
          </a:p>
        </p:txBody>
      </p:sp>
      <p:sp>
        <p:nvSpPr>
          <p:cNvPr id="49" name="Google Shape;49;p1"/>
          <p:cNvSpPr/>
          <p:nvPr/>
        </p:nvSpPr>
        <p:spPr>
          <a:xfrm>
            <a:off x="7927848" y="2080260"/>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ALIS 2211</a:t>
            </a:r>
            <a:endParaRPr sz="820">
              <a:solidFill>
                <a:schemeClr val="dk1"/>
              </a:solidFill>
              <a:latin typeface="Calibri"/>
              <a:ea typeface="Calibri"/>
              <a:cs typeface="Calibri"/>
              <a:sym typeface="Calibri"/>
            </a:endParaRPr>
          </a:p>
        </p:txBody>
      </p:sp>
      <p:sp>
        <p:nvSpPr>
          <p:cNvPr id="50" name="Google Shape;50;p1"/>
          <p:cNvSpPr/>
          <p:nvPr/>
        </p:nvSpPr>
        <p:spPr>
          <a:xfrm>
            <a:off x="9226296" y="2080260"/>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ARAB 100 sits in the PYP</a:t>
            </a:r>
            <a:endParaRPr sz="820">
              <a:solidFill>
                <a:schemeClr val="dk1"/>
              </a:solidFill>
              <a:latin typeface="Calibri"/>
              <a:ea typeface="Calibri"/>
              <a:cs typeface="Calibri"/>
              <a:sym typeface="Calibri"/>
            </a:endParaRPr>
          </a:p>
        </p:txBody>
      </p:sp>
      <p:sp>
        <p:nvSpPr>
          <p:cNvPr id="51" name="Google Shape;51;p1"/>
          <p:cNvSpPr/>
          <p:nvPr/>
        </p:nvSpPr>
        <p:spPr>
          <a:xfrm>
            <a:off x="10524744" y="2080260"/>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ARAB 101 and 201</a:t>
            </a:r>
            <a:endParaRPr sz="820">
              <a:solidFill>
                <a:schemeClr val="dk1"/>
              </a:solidFill>
              <a:latin typeface="Calibri"/>
              <a:ea typeface="Calibri"/>
              <a:cs typeface="Calibri"/>
              <a:sym typeface="Calibri"/>
            </a:endParaRPr>
          </a:p>
        </p:txBody>
      </p:sp>
      <p:sp>
        <p:nvSpPr>
          <p:cNvPr id="52" name="Google Shape;52;p1"/>
          <p:cNvSpPr/>
          <p:nvPr/>
        </p:nvSpPr>
        <p:spPr>
          <a:xfrm>
            <a:off x="457200" y="2267712"/>
            <a:ext cx="11311128" cy="288036"/>
          </a:xfrm>
          <a:prstGeom prst="rect">
            <a:avLst/>
          </a:prstGeom>
          <a:solidFill>
            <a:srgbClr val="FDEDE3"/>
          </a:solidFill>
          <a:ln cap="flat" cmpd="sng" w="9525">
            <a:solidFill>
              <a:srgbClr val="DDE3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900">
              <a:solidFill>
                <a:schemeClr val="dk1"/>
              </a:solidFill>
              <a:latin typeface="Calibri"/>
              <a:ea typeface="Calibri"/>
              <a:cs typeface="Calibri"/>
              <a:sym typeface="Calibri"/>
            </a:endParaRPr>
          </a:p>
        </p:txBody>
      </p:sp>
      <p:sp>
        <p:nvSpPr>
          <p:cNvPr id="53" name="Google Shape;53;p1"/>
          <p:cNvSpPr/>
          <p:nvPr/>
        </p:nvSpPr>
        <p:spPr>
          <a:xfrm>
            <a:off x="512064" y="2267712"/>
            <a:ext cx="3410712" cy="28803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F5B1B"/>
              </a:buClr>
              <a:buSzPts val="1050"/>
              <a:buFont typeface="Quattrocento Sans"/>
              <a:buNone/>
            </a:pPr>
            <a:r>
              <a:rPr b="1" lang="en-US" sz="1150">
                <a:solidFill>
                  <a:srgbClr val="BF5B1B"/>
                </a:solidFill>
                <a:latin typeface="Quattrocento Sans"/>
                <a:ea typeface="Quattrocento Sans"/>
                <a:cs typeface="Quattrocento Sans"/>
                <a:sym typeface="Quattrocento Sans"/>
              </a:rPr>
              <a:t>ARABIC + ISLAMIC STUDIES, COMBINED</a:t>
            </a:r>
            <a:endParaRPr sz="1150">
              <a:solidFill>
                <a:schemeClr val="dk1"/>
              </a:solidFill>
              <a:latin typeface="Calibri"/>
              <a:ea typeface="Calibri"/>
              <a:cs typeface="Calibri"/>
              <a:sym typeface="Calibri"/>
            </a:endParaRPr>
          </a:p>
        </p:txBody>
      </p:sp>
      <p:sp>
        <p:nvSpPr>
          <p:cNvPr id="54" name="Google Shape;54;p1"/>
          <p:cNvSpPr/>
          <p:nvPr/>
        </p:nvSpPr>
        <p:spPr>
          <a:xfrm>
            <a:off x="4032504" y="2267712"/>
            <a:ext cx="1188720" cy="28803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BF5B1B"/>
              </a:buClr>
              <a:buSzPts val="1050"/>
              <a:buFont typeface="Quattrocento Sans"/>
              <a:buNone/>
            </a:pPr>
            <a:r>
              <a:rPr b="1" lang="en-US" sz="1150">
                <a:solidFill>
                  <a:srgbClr val="BF5B1B"/>
                </a:solidFill>
                <a:latin typeface="Quattrocento Sans"/>
                <a:ea typeface="Quattrocento Sans"/>
                <a:cs typeface="Quattrocento Sans"/>
                <a:sym typeface="Quattrocento Sans"/>
              </a:rPr>
              <a:t>14</a:t>
            </a:r>
            <a:endParaRPr sz="1150">
              <a:solidFill>
                <a:schemeClr val="dk1"/>
              </a:solidFill>
              <a:latin typeface="Calibri"/>
              <a:ea typeface="Calibri"/>
              <a:cs typeface="Calibri"/>
              <a:sym typeface="Calibri"/>
            </a:endParaRPr>
          </a:p>
        </p:txBody>
      </p:sp>
      <p:sp>
        <p:nvSpPr>
          <p:cNvPr id="55" name="Google Shape;55;p1"/>
          <p:cNvSpPr/>
          <p:nvPr/>
        </p:nvSpPr>
        <p:spPr>
          <a:xfrm>
            <a:off x="5330952" y="2267712"/>
            <a:ext cx="1188720" cy="28803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1050"/>
              <a:buFont typeface="Quattrocento Sans"/>
              <a:buNone/>
            </a:pPr>
            <a:r>
              <a:rPr b="1" lang="en-US" sz="1150">
                <a:solidFill>
                  <a:srgbClr val="7B8798"/>
                </a:solidFill>
                <a:latin typeface="Quattrocento Sans"/>
                <a:ea typeface="Quattrocento Sans"/>
                <a:cs typeface="Quattrocento Sans"/>
                <a:sym typeface="Quattrocento Sans"/>
              </a:rPr>
              <a:t>0</a:t>
            </a:r>
            <a:endParaRPr sz="1150">
              <a:solidFill>
                <a:schemeClr val="dk1"/>
              </a:solidFill>
              <a:latin typeface="Calibri"/>
              <a:ea typeface="Calibri"/>
              <a:cs typeface="Calibri"/>
              <a:sym typeface="Calibri"/>
            </a:endParaRPr>
          </a:p>
        </p:txBody>
      </p:sp>
      <p:sp>
        <p:nvSpPr>
          <p:cNvPr id="56" name="Google Shape;56;p1"/>
          <p:cNvSpPr/>
          <p:nvPr/>
        </p:nvSpPr>
        <p:spPr>
          <a:xfrm>
            <a:off x="6629400" y="2267712"/>
            <a:ext cx="1188720" cy="28803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7A46"/>
              </a:buClr>
              <a:buSzPts val="1050"/>
              <a:buFont typeface="Quattrocento Sans"/>
              <a:buNone/>
            </a:pPr>
            <a:r>
              <a:rPr b="1" lang="en-US" sz="1150">
                <a:solidFill>
                  <a:srgbClr val="1E7A46"/>
                </a:solidFill>
                <a:latin typeface="Quattrocento Sans"/>
                <a:ea typeface="Quattrocento Sans"/>
                <a:cs typeface="Quattrocento Sans"/>
                <a:sym typeface="Quattrocento Sans"/>
              </a:rPr>
              <a:t>8</a:t>
            </a:r>
            <a:endParaRPr sz="1150">
              <a:solidFill>
                <a:schemeClr val="dk1"/>
              </a:solidFill>
              <a:latin typeface="Calibri"/>
              <a:ea typeface="Calibri"/>
              <a:cs typeface="Calibri"/>
              <a:sym typeface="Calibri"/>
            </a:endParaRPr>
          </a:p>
        </p:txBody>
      </p:sp>
      <p:sp>
        <p:nvSpPr>
          <p:cNvPr id="57" name="Google Shape;57;p1"/>
          <p:cNvSpPr/>
          <p:nvPr/>
        </p:nvSpPr>
        <p:spPr>
          <a:xfrm>
            <a:off x="7927848" y="2267712"/>
            <a:ext cx="1188720" cy="28803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7A46"/>
              </a:buClr>
              <a:buSzPts val="1050"/>
              <a:buFont typeface="Quattrocento Sans"/>
              <a:buNone/>
            </a:pPr>
            <a:r>
              <a:rPr b="1" lang="en-US" sz="1150">
                <a:solidFill>
                  <a:srgbClr val="1E7A46"/>
                </a:solidFill>
                <a:latin typeface="Quattrocento Sans"/>
                <a:ea typeface="Quattrocento Sans"/>
                <a:cs typeface="Quattrocento Sans"/>
                <a:sym typeface="Quattrocento Sans"/>
              </a:rPr>
              <a:t>8</a:t>
            </a:r>
            <a:endParaRPr sz="1150">
              <a:solidFill>
                <a:schemeClr val="dk1"/>
              </a:solidFill>
              <a:latin typeface="Calibri"/>
              <a:ea typeface="Calibri"/>
              <a:cs typeface="Calibri"/>
              <a:sym typeface="Calibri"/>
            </a:endParaRPr>
          </a:p>
        </p:txBody>
      </p:sp>
      <p:sp>
        <p:nvSpPr>
          <p:cNvPr id="58" name="Google Shape;58;p1"/>
          <p:cNvSpPr/>
          <p:nvPr/>
        </p:nvSpPr>
        <p:spPr>
          <a:xfrm>
            <a:off x="9226296" y="2267712"/>
            <a:ext cx="1188720" cy="28803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7A46"/>
              </a:buClr>
              <a:buSzPts val="1050"/>
              <a:buFont typeface="Quattrocento Sans"/>
              <a:buNone/>
            </a:pPr>
            <a:r>
              <a:rPr b="1" lang="en-US" sz="1150">
                <a:solidFill>
                  <a:srgbClr val="1E7A46"/>
                </a:solidFill>
                <a:latin typeface="Quattrocento Sans"/>
                <a:ea typeface="Quattrocento Sans"/>
                <a:cs typeface="Quattrocento Sans"/>
                <a:sym typeface="Quattrocento Sans"/>
              </a:rPr>
              <a:t>8</a:t>
            </a:r>
            <a:endParaRPr sz="1150">
              <a:solidFill>
                <a:schemeClr val="dk1"/>
              </a:solidFill>
              <a:latin typeface="Calibri"/>
              <a:ea typeface="Calibri"/>
              <a:cs typeface="Calibri"/>
              <a:sym typeface="Calibri"/>
            </a:endParaRPr>
          </a:p>
        </p:txBody>
      </p:sp>
      <p:sp>
        <p:nvSpPr>
          <p:cNvPr id="59" name="Google Shape;59;p1"/>
          <p:cNvSpPr/>
          <p:nvPr/>
        </p:nvSpPr>
        <p:spPr>
          <a:xfrm>
            <a:off x="10524744" y="2267712"/>
            <a:ext cx="1188720" cy="28803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E7A46"/>
              </a:buClr>
              <a:buSzPts val="1050"/>
              <a:buFont typeface="Quattrocento Sans"/>
              <a:buNone/>
            </a:pPr>
            <a:r>
              <a:rPr b="1" lang="en-US" sz="1150">
                <a:solidFill>
                  <a:srgbClr val="1E7A46"/>
                </a:solidFill>
                <a:latin typeface="Quattrocento Sans"/>
                <a:ea typeface="Quattrocento Sans"/>
                <a:cs typeface="Quattrocento Sans"/>
                <a:sym typeface="Quattrocento Sans"/>
              </a:rPr>
              <a:t>14</a:t>
            </a:r>
            <a:endParaRPr sz="1150">
              <a:solidFill>
                <a:schemeClr val="dk1"/>
              </a:solidFill>
              <a:latin typeface="Calibri"/>
              <a:ea typeface="Calibri"/>
              <a:cs typeface="Calibri"/>
              <a:sym typeface="Calibri"/>
            </a:endParaRPr>
          </a:p>
        </p:txBody>
      </p:sp>
      <p:sp>
        <p:nvSpPr>
          <p:cNvPr id="60" name="Google Shape;60;p1"/>
          <p:cNvSpPr/>
          <p:nvPr/>
        </p:nvSpPr>
        <p:spPr>
          <a:xfrm>
            <a:off x="457200" y="2555748"/>
            <a:ext cx="11311128" cy="260604"/>
          </a:xfrm>
          <a:prstGeom prst="rect">
            <a:avLst/>
          </a:prstGeom>
          <a:solidFill>
            <a:srgbClr val="EEF2FA"/>
          </a:solidFill>
          <a:ln cap="flat" cmpd="sng" w="9525">
            <a:solidFill>
              <a:srgbClr val="DDE3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900">
              <a:solidFill>
                <a:schemeClr val="dk1"/>
              </a:solidFill>
              <a:latin typeface="Calibri"/>
              <a:ea typeface="Calibri"/>
              <a:cs typeface="Calibri"/>
              <a:sym typeface="Calibri"/>
            </a:endParaRPr>
          </a:p>
        </p:txBody>
      </p:sp>
      <p:sp>
        <p:nvSpPr>
          <p:cNvPr id="61" name="Google Shape;61;p1"/>
          <p:cNvSpPr/>
          <p:nvPr/>
        </p:nvSpPr>
        <p:spPr>
          <a:xfrm>
            <a:off x="512064" y="2555748"/>
            <a:ext cx="3410712" cy="2606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English &amp; communication</a:t>
            </a:r>
            <a:endParaRPr sz="1150">
              <a:solidFill>
                <a:schemeClr val="dk1"/>
              </a:solidFill>
              <a:latin typeface="Calibri"/>
              <a:ea typeface="Calibri"/>
              <a:cs typeface="Calibri"/>
              <a:sym typeface="Calibri"/>
            </a:endParaRPr>
          </a:p>
        </p:txBody>
      </p:sp>
      <p:sp>
        <p:nvSpPr>
          <p:cNvPr id="62" name="Google Shape;62;p1"/>
          <p:cNvSpPr/>
          <p:nvPr/>
        </p:nvSpPr>
        <p:spPr>
          <a:xfrm>
            <a:off x="4032504" y="2555748"/>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6</a:t>
            </a:r>
            <a:endParaRPr sz="1150">
              <a:solidFill>
                <a:schemeClr val="dk1"/>
              </a:solidFill>
              <a:latin typeface="Calibri"/>
              <a:ea typeface="Calibri"/>
              <a:cs typeface="Calibri"/>
              <a:sym typeface="Calibri"/>
            </a:endParaRPr>
          </a:p>
        </p:txBody>
      </p:sp>
      <p:sp>
        <p:nvSpPr>
          <p:cNvPr id="63" name="Google Shape;63;p1"/>
          <p:cNvSpPr/>
          <p:nvPr/>
        </p:nvSpPr>
        <p:spPr>
          <a:xfrm>
            <a:off x="5330952" y="2555748"/>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6</a:t>
            </a:r>
            <a:endParaRPr sz="1150">
              <a:solidFill>
                <a:schemeClr val="dk1"/>
              </a:solidFill>
              <a:latin typeface="Calibri"/>
              <a:ea typeface="Calibri"/>
              <a:cs typeface="Calibri"/>
              <a:sym typeface="Calibri"/>
            </a:endParaRPr>
          </a:p>
        </p:txBody>
      </p:sp>
      <p:sp>
        <p:nvSpPr>
          <p:cNvPr id="64" name="Google Shape;64;p1"/>
          <p:cNvSpPr/>
          <p:nvPr/>
        </p:nvSpPr>
        <p:spPr>
          <a:xfrm>
            <a:off x="6629400" y="2555748"/>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9</a:t>
            </a:r>
            <a:endParaRPr sz="1150">
              <a:solidFill>
                <a:schemeClr val="dk1"/>
              </a:solidFill>
              <a:latin typeface="Calibri"/>
              <a:ea typeface="Calibri"/>
              <a:cs typeface="Calibri"/>
              <a:sym typeface="Calibri"/>
            </a:endParaRPr>
          </a:p>
        </p:txBody>
      </p:sp>
      <p:sp>
        <p:nvSpPr>
          <p:cNvPr id="65" name="Google Shape;65;p1"/>
          <p:cNvSpPr/>
          <p:nvPr/>
        </p:nvSpPr>
        <p:spPr>
          <a:xfrm>
            <a:off x="7927848" y="2555748"/>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12</a:t>
            </a:r>
            <a:endParaRPr sz="1150">
              <a:solidFill>
                <a:schemeClr val="dk1"/>
              </a:solidFill>
              <a:latin typeface="Calibri"/>
              <a:ea typeface="Calibri"/>
              <a:cs typeface="Calibri"/>
              <a:sym typeface="Calibri"/>
            </a:endParaRPr>
          </a:p>
        </p:txBody>
      </p:sp>
      <p:sp>
        <p:nvSpPr>
          <p:cNvPr id="66" name="Google Shape;66;p1"/>
          <p:cNvSpPr/>
          <p:nvPr/>
        </p:nvSpPr>
        <p:spPr>
          <a:xfrm>
            <a:off x="9226296" y="2555748"/>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0</a:t>
            </a:r>
            <a:endParaRPr sz="1150">
              <a:solidFill>
                <a:schemeClr val="dk1"/>
              </a:solidFill>
              <a:latin typeface="Calibri"/>
              <a:ea typeface="Calibri"/>
              <a:cs typeface="Calibri"/>
              <a:sym typeface="Calibri"/>
            </a:endParaRPr>
          </a:p>
        </p:txBody>
      </p:sp>
      <p:sp>
        <p:nvSpPr>
          <p:cNvPr id="67" name="Google Shape;67;p1"/>
          <p:cNvSpPr/>
          <p:nvPr/>
        </p:nvSpPr>
        <p:spPr>
          <a:xfrm>
            <a:off x="10524744" y="2555748"/>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0</a:t>
            </a:r>
            <a:endParaRPr sz="1150">
              <a:solidFill>
                <a:schemeClr val="dk1"/>
              </a:solidFill>
              <a:latin typeface="Calibri"/>
              <a:ea typeface="Calibri"/>
              <a:cs typeface="Calibri"/>
              <a:sym typeface="Calibri"/>
            </a:endParaRPr>
          </a:p>
        </p:txBody>
      </p:sp>
      <p:sp>
        <p:nvSpPr>
          <p:cNvPr id="68" name="Google Shape;68;p1"/>
          <p:cNvSpPr/>
          <p:nvPr/>
        </p:nvSpPr>
        <p:spPr>
          <a:xfrm>
            <a:off x="457200" y="2816352"/>
            <a:ext cx="11311128" cy="187452"/>
          </a:xfrm>
          <a:prstGeom prst="rect">
            <a:avLst/>
          </a:prstGeom>
          <a:solidFill>
            <a:srgbClr val="FFFFFF"/>
          </a:solidFill>
          <a:ln cap="flat" cmpd="sng" w="9525">
            <a:solidFill>
              <a:srgbClr val="DDE3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900">
              <a:solidFill>
                <a:schemeClr val="dk1"/>
              </a:solidFill>
              <a:latin typeface="Calibri"/>
              <a:ea typeface="Calibri"/>
              <a:cs typeface="Calibri"/>
              <a:sym typeface="Calibri"/>
            </a:endParaRPr>
          </a:p>
        </p:txBody>
      </p:sp>
      <p:sp>
        <p:nvSpPr>
          <p:cNvPr id="69" name="Google Shape;69;p1"/>
          <p:cNvSpPr/>
          <p:nvPr/>
        </p:nvSpPr>
        <p:spPr>
          <a:xfrm>
            <a:off x="4032504" y="2816352"/>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ENG 101, COM 201</a:t>
            </a:r>
            <a:endParaRPr sz="820">
              <a:solidFill>
                <a:schemeClr val="dk1"/>
              </a:solidFill>
              <a:latin typeface="Calibri"/>
              <a:ea typeface="Calibri"/>
              <a:cs typeface="Calibri"/>
              <a:sym typeface="Calibri"/>
            </a:endParaRPr>
          </a:p>
        </p:txBody>
      </p:sp>
      <p:sp>
        <p:nvSpPr>
          <p:cNvPr id="70" name="Google Shape;70;p1"/>
          <p:cNvSpPr/>
          <p:nvPr/>
        </p:nvSpPr>
        <p:spPr>
          <a:xfrm>
            <a:off x="5330952" y="2816352"/>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ENG 101 , ENG222</a:t>
            </a:r>
            <a:endParaRPr sz="820">
              <a:solidFill>
                <a:schemeClr val="dk1"/>
              </a:solidFill>
              <a:latin typeface="Calibri"/>
              <a:ea typeface="Calibri"/>
              <a:cs typeface="Calibri"/>
              <a:sym typeface="Calibri"/>
            </a:endParaRPr>
          </a:p>
        </p:txBody>
      </p:sp>
      <p:sp>
        <p:nvSpPr>
          <p:cNvPr id="71" name="Google Shape;71;p1"/>
          <p:cNvSpPr/>
          <p:nvPr/>
        </p:nvSpPr>
        <p:spPr>
          <a:xfrm>
            <a:off x="6629400" y="2816352"/>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ENGL 101, 102, ENG222</a:t>
            </a:r>
            <a:endParaRPr sz="820">
              <a:solidFill>
                <a:schemeClr val="dk1"/>
              </a:solidFill>
              <a:latin typeface="Calibri"/>
              <a:ea typeface="Calibri"/>
              <a:cs typeface="Calibri"/>
              <a:sym typeface="Calibri"/>
            </a:endParaRPr>
          </a:p>
        </p:txBody>
      </p:sp>
      <p:sp>
        <p:nvSpPr>
          <p:cNvPr id="72" name="Google Shape;72;p1"/>
          <p:cNvSpPr/>
          <p:nvPr/>
        </p:nvSpPr>
        <p:spPr>
          <a:xfrm>
            <a:off x="7927848" y="2816352"/>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COMM 1311/1312/2311, 2312</a:t>
            </a:r>
            <a:endParaRPr sz="820">
              <a:solidFill>
                <a:schemeClr val="dk1"/>
              </a:solidFill>
              <a:latin typeface="Calibri"/>
              <a:ea typeface="Calibri"/>
              <a:cs typeface="Calibri"/>
              <a:sym typeface="Calibri"/>
            </a:endParaRPr>
          </a:p>
        </p:txBody>
      </p:sp>
      <p:sp>
        <p:nvSpPr>
          <p:cNvPr id="73" name="Google Shape;73;p1"/>
          <p:cNvSpPr/>
          <p:nvPr/>
        </p:nvSpPr>
        <p:spPr>
          <a:xfrm>
            <a:off x="9226296" y="2816352"/>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ENGS 100/110 in the PYP</a:t>
            </a:r>
            <a:endParaRPr sz="820">
              <a:solidFill>
                <a:schemeClr val="dk1"/>
              </a:solidFill>
              <a:latin typeface="Calibri"/>
              <a:ea typeface="Calibri"/>
              <a:cs typeface="Calibri"/>
              <a:sym typeface="Calibri"/>
            </a:endParaRPr>
          </a:p>
        </p:txBody>
      </p:sp>
      <p:sp>
        <p:nvSpPr>
          <p:cNvPr id="74" name="Google Shape;74;p1"/>
          <p:cNvSpPr/>
          <p:nvPr/>
        </p:nvSpPr>
        <p:spPr>
          <a:xfrm>
            <a:off x="10524744" y="2816352"/>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ELIS 110/120 are PYP</a:t>
            </a:r>
            <a:endParaRPr sz="820">
              <a:solidFill>
                <a:schemeClr val="dk1"/>
              </a:solidFill>
              <a:latin typeface="Calibri"/>
              <a:ea typeface="Calibri"/>
              <a:cs typeface="Calibri"/>
              <a:sym typeface="Calibri"/>
            </a:endParaRPr>
          </a:p>
        </p:txBody>
      </p:sp>
      <p:sp>
        <p:nvSpPr>
          <p:cNvPr id="75" name="Google Shape;75;p1"/>
          <p:cNvSpPr/>
          <p:nvPr/>
        </p:nvSpPr>
        <p:spPr>
          <a:xfrm>
            <a:off x="457200" y="3003804"/>
            <a:ext cx="11311128" cy="260604"/>
          </a:xfrm>
          <a:prstGeom prst="rect">
            <a:avLst/>
          </a:prstGeom>
          <a:solidFill>
            <a:srgbClr val="EEF2FA"/>
          </a:solidFill>
          <a:ln cap="flat" cmpd="sng" w="9525">
            <a:solidFill>
              <a:srgbClr val="DDE3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900">
              <a:solidFill>
                <a:schemeClr val="dk1"/>
              </a:solidFill>
              <a:latin typeface="Calibri"/>
              <a:ea typeface="Calibri"/>
              <a:cs typeface="Calibri"/>
              <a:sym typeface="Calibri"/>
            </a:endParaRPr>
          </a:p>
        </p:txBody>
      </p:sp>
      <p:sp>
        <p:nvSpPr>
          <p:cNvPr id="76" name="Google Shape;76;p1"/>
          <p:cNvSpPr/>
          <p:nvPr/>
        </p:nvSpPr>
        <p:spPr>
          <a:xfrm>
            <a:off x="512064" y="3003804"/>
            <a:ext cx="3410712" cy="2606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Computing &amp; AI literacy</a:t>
            </a:r>
            <a:endParaRPr sz="1150">
              <a:solidFill>
                <a:schemeClr val="dk1"/>
              </a:solidFill>
              <a:latin typeface="Calibri"/>
              <a:ea typeface="Calibri"/>
              <a:cs typeface="Calibri"/>
              <a:sym typeface="Calibri"/>
            </a:endParaRPr>
          </a:p>
        </p:txBody>
      </p:sp>
      <p:sp>
        <p:nvSpPr>
          <p:cNvPr id="77" name="Google Shape;77;p1"/>
          <p:cNvSpPr/>
          <p:nvPr/>
        </p:nvSpPr>
        <p:spPr>
          <a:xfrm>
            <a:off x="4032504" y="3003804"/>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0</a:t>
            </a:r>
            <a:endParaRPr sz="1150">
              <a:solidFill>
                <a:schemeClr val="dk1"/>
              </a:solidFill>
              <a:latin typeface="Calibri"/>
              <a:ea typeface="Calibri"/>
              <a:cs typeface="Calibri"/>
              <a:sym typeface="Calibri"/>
            </a:endParaRPr>
          </a:p>
        </p:txBody>
      </p:sp>
      <p:sp>
        <p:nvSpPr>
          <p:cNvPr id="78" name="Google Shape;78;p1"/>
          <p:cNvSpPr/>
          <p:nvPr/>
        </p:nvSpPr>
        <p:spPr>
          <a:xfrm>
            <a:off x="5330952" y="3003804"/>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3</a:t>
            </a:r>
            <a:endParaRPr sz="1150">
              <a:solidFill>
                <a:schemeClr val="dk1"/>
              </a:solidFill>
              <a:latin typeface="Calibri"/>
              <a:ea typeface="Calibri"/>
              <a:cs typeface="Calibri"/>
              <a:sym typeface="Calibri"/>
            </a:endParaRPr>
          </a:p>
        </p:txBody>
      </p:sp>
      <p:sp>
        <p:nvSpPr>
          <p:cNvPr id="79" name="Google Shape;79;p1"/>
          <p:cNvSpPr/>
          <p:nvPr/>
        </p:nvSpPr>
        <p:spPr>
          <a:xfrm>
            <a:off x="6629400" y="3003804"/>
            <a:ext cx="1188720" cy="260604"/>
          </a:xfrm>
          <a:prstGeom prst="rect">
            <a:avLst/>
          </a:prstGeom>
          <a:noFill/>
          <a:ln cap="flat" cmpd="sng" w="9525">
            <a:solidFill>
              <a:srgbClr val="FF0000"/>
            </a:solidFill>
            <a:prstDash val="solid"/>
            <a:round/>
            <a:headEnd len="sm" w="sm" type="none"/>
            <a:tailEnd len="sm" w="sm" type="none"/>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12</a:t>
            </a:r>
            <a:endParaRPr sz="1150">
              <a:solidFill>
                <a:schemeClr val="dk1"/>
              </a:solidFill>
              <a:latin typeface="Calibri"/>
              <a:ea typeface="Calibri"/>
              <a:cs typeface="Calibri"/>
              <a:sym typeface="Calibri"/>
            </a:endParaRPr>
          </a:p>
        </p:txBody>
      </p:sp>
      <p:sp>
        <p:nvSpPr>
          <p:cNvPr id="80" name="Google Shape;80;p1"/>
          <p:cNvSpPr/>
          <p:nvPr/>
        </p:nvSpPr>
        <p:spPr>
          <a:xfrm>
            <a:off x="7927848" y="3003804"/>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0</a:t>
            </a:r>
            <a:endParaRPr sz="1150">
              <a:solidFill>
                <a:schemeClr val="dk1"/>
              </a:solidFill>
              <a:latin typeface="Calibri"/>
              <a:ea typeface="Calibri"/>
              <a:cs typeface="Calibri"/>
              <a:sym typeface="Calibri"/>
            </a:endParaRPr>
          </a:p>
        </p:txBody>
      </p:sp>
      <p:sp>
        <p:nvSpPr>
          <p:cNvPr id="81" name="Google Shape;81;p1"/>
          <p:cNvSpPr/>
          <p:nvPr/>
        </p:nvSpPr>
        <p:spPr>
          <a:xfrm>
            <a:off x="9226296" y="3003804"/>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0</a:t>
            </a:r>
            <a:endParaRPr sz="1150">
              <a:solidFill>
                <a:schemeClr val="dk1"/>
              </a:solidFill>
              <a:latin typeface="Calibri"/>
              <a:ea typeface="Calibri"/>
              <a:cs typeface="Calibri"/>
              <a:sym typeface="Calibri"/>
            </a:endParaRPr>
          </a:p>
        </p:txBody>
      </p:sp>
      <p:sp>
        <p:nvSpPr>
          <p:cNvPr id="82" name="Google Shape;82;p1"/>
          <p:cNvSpPr/>
          <p:nvPr/>
        </p:nvSpPr>
        <p:spPr>
          <a:xfrm>
            <a:off x="10524744" y="3003804"/>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0</a:t>
            </a:r>
            <a:endParaRPr sz="1150">
              <a:solidFill>
                <a:schemeClr val="dk1"/>
              </a:solidFill>
              <a:latin typeface="Calibri"/>
              <a:ea typeface="Calibri"/>
              <a:cs typeface="Calibri"/>
              <a:sym typeface="Calibri"/>
            </a:endParaRPr>
          </a:p>
        </p:txBody>
      </p:sp>
      <p:sp>
        <p:nvSpPr>
          <p:cNvPr id="83" name="Google Shape;83;p1"/>
          <p:cNvSpPr/>
          <p:nvPr/>
        </p:nvSpPr>
        <p:spPr>
          <a:xfrm>
            <a:off x="457200" y="3264408"/>
            <a:ext cx="11311128" cy="187452"/>
          </a:xfrm>
          <a:prstGeom prst="rect">
            <a:avLst/>
          </a:prstGeom>
          <a:solidFill>
            <a:srgbClr val="FFFFFF"/>
          </a:solidFill>
          <a:ln cap="flat" cmpd="sng" w="9525">
            <a:solidFill>
              <a:srgbClr val="DDE3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900">
              <a:solidFill>
                <a:schemeClr val="dk1"/>
              </a:solidFill>
              <a:latin typeface="Calibri"/>
              <a:ea typeface="Calibri"/>
              <a:cs typeface="Calibri"/>
              <a:sym typeface="Calibri"/>
            </a:endParaRPr>
          </a:p>
        </p:txBody>
      </p:sp>
      <p:sp>
        <p:nvSpPr>
          <p:cNvPr id="84" name="Google Shape;84;p1"/>
          <p:cNvSpPr/>
          <p:nvPr/>
        </p:nvSpPr>
        <p:spPr>
          <a:xfrm>
            <a:off x="4032504" y="3264408"/>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none</a:t>
            </a:r>
            <a:endParaRPr sz="820">
              <a:solidFill>
                <a:schemeClr val="dk1"/>
              </a:solidFill>
              <a:latin typeface="Calibri"/>
              <a:ea typeface="Calibri"/>
              <a:cs typeface="Calibri"/>
              <a:sym typeface="Calibri"/>
            </a:endParaRPr>
          </a:p>
        </p:txBody>
      </p:sp>
      <p:sp>
        <p:nvSpPr>
          <p:cNvPr id="85" name="Google Shape;85;p1"/>
          <p:cNvSpPr/>
          <p:nvPr/>
        </p:nvSpPr>
        <p:spPr>
          <a:xfrm>
            <a:off x="5330952" y="3264408"/>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AI 102</a:t>
            </a:r>
            <a:endParaRPr sz="820">
              <a:solidFill>
                <a:schemeClr val="dk1"/>
              </a:solidFill>
              <a:latin typeface="Calibri"/>
              <a:ea typeface="Calibri"/>
              <a:cs typeface="Calibri"/>
              <a:sym typeface="Calibri"/>
            </a:endParaRPr>
          </a:p>
        </p:txBody>
      </p:sp>
      <p:sp>
        <p:nvSpPr>
          <p:cNvPr id="86" name="Google Shape;86;p1"/>
          <p:cNvSpPr/>
          <p:nvPr/>
        </p:nvSpPr>
        <p:spPr>
          <a:xfrm>
            <a:off x="6629400" y="3264408"/>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a:t>
            </a:r>
            <a:endParaRPr sz="820">
              <a:solidFill>
                <a:schemeClr val="dk1"/>
              </a:solidFill>
              <a:latin typeface="Calibri"/>
              <a:ea typeface="Calibri"/>
              <a:cs typeface="Calibri"/>
              <a:sym typeface="Calibri"/>
            </a:endParaRPr>
          </a:p>
        </p:txBody>
      </p:sp>
      <p:sp>
        <p:nvSpPr>
          <p:cNvPr id="87" name="Google Shape;87;p1"/>
          <p:cNvSpPr/>
          <p:nvPr/>
        </p:nvSpPr>
        <p:spPr>
          <a:xfrm>
            <a:off x="7927848" y="3264408"/>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a:t>
            </a:r>
            <a:endParaRPr sz="820">
              <a:solidFill>
                <a:schemeClr val="dk1"/>
              </a:solidFill>
              <a:latin typeface="Calibri"/>
              <a:ea typeface="Calibri"/>
              <a:cs typeface="Calibri"/>
              <a:sym typeface="Calibri"/>
            </a:endParaRPr>
          </a:p>
        </p:txBody>
      </p:sp>
      <p:sp>
        <p:nvSpPr>
          <p:cNvPr id="88" name="Google Shape;88;p1"/>
          <p:cNvSpPr/>
          <p:nvPr/>
        </p:nvSpPr>
        <p:spPr>
          <a:xfrm>
            <a:off x="9226296" y="3264408"/>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CT 101 in the PYP</a:t>
            </a:r>
            <a:endParaRPr sz="820">
              <a:solidFill>
                <a:schemeClr val="dk1"/>
              </a:solidFill>
              <a:latin typeface="Calibri"/>
              <a:ea typeface="Calibri"/>
              <a:cs typeface="Calibri"/>
              <a:sym typeface="Calibri"/>
            </a:endParaRPr>
          </a:p>
        </p:txBody>
      </p:sp>
      <p:sp>
        <p:nvSpPr>
          <p:cNvPr id="89" name="Google Shape;89;p1"/>
          <p:cNvSpPr/>
          <p:nvPr/>
        </p:nvSpPr>
        <p:spPr>
          <a:xfrm>
            <a:off x="10524744" y="3264408"/>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CPIT 110 is PYP</a:t>
            </a:r>
            <a:endParaRPr sz="820">
              <a:solidFill>
                <a:schemeClr val="dk1"/>
              </a:solidFill>
              <a:latin typeface="Calibri"/>
              <a:ea typeface="Calibri"/>
              <a:cs typeface="Calibri"/>
              <a:sym typeface="Calibri"/>
            </a:endParaRPr>
          </a:p>
        </p:txBody>
      </p:sp>
      <p:sp>
        <p:nvSpPr>
          <p:cNvPr id="90" name="Google Shape;90;p1"/>
          <p:cNvSpPr/>
          <p:nvPr/>
        </p:nvSpPr>
        <p:spPr>
          <a:xfrm>
            <a:off x="457200" y="3451860"/>
            <a:ext cx="11311128" cy="260604"/>
          </a:xfrm>
          <a:prstGeom prst="rect">
            <a:avLst/>
          </a:prstGeom>
          <a:solidFill>
            <a:srgbClr val="EEF2FA"/>
          </a:solidFill>
          <a:ln cap="flat" cmpd="sng" w="9525">
            <a:solidFill>
              <a:srgbClr val="DDE3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900">
              <a:solidFill>
                <a:schemeClr val="dk1"/>
              </a:solidFill>
              <a:latin typeface="Calibri"/>
              <a:ea typeface="Calibri"/>
              <a:cs typeface="Calibri"/>
              <a:sym typeface="Calibri"/>
            </a:endParaRPr>
          </a:p>
        </p:txBody>
      </p:sp>
      <p:sp>
        <p:nvSpPr>
          <p:cNvPr id="91" name="Google Shape;91;p1"/>
          <p:cNvSpPr/>
          <p:nvPr/>
        </p:nvSpPr>
        <p:spPr>
          <a:xfrm>
            <a:off x="512064" y="3451860"/>
            <a:ext cx="3410712" cy="2606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Professional &amp; study skills</a:t>
            </a:r>
            <a:endParaRPr sz="1150">
              <a:solidFill>
                <a:schemeClr val="dk1"/>
              </a:solidFill>
              <a:latin typeface="Calibri"/>
              <a:ea typeface="Calibri"/>
              <a:cs typeface="Calibri"/>
              <a:sym typeface="Calibri"/>
            </a:endParaRPr>
          </a:p>
        </p:txBody>
      </p:sp>
      <p:sp>
        <p:nvSpPr>
          <p:cNvPr id="92" name="Google Shape;92;p1"/>
          <p:cNvSpPr/>
          <p:nvPr/>
        </p:nvSpPr>
        <p:spPr>
          <a:xfrm>
            <a:off x="4032504" y="3451860"/>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0</a:t>
            </a:r>
            <a:endParaRPr sz="1150">
              <a:solidFill>
                <a:schemeClr val="dk1"/>
              </a:solidFill>
              <a:latin typeface="Calibri"/>
              <a:ea typeface="Calibri"/>
              <a:cs typeface="Calibri"/>
              <a:sym typeface="Calibri"/>
            </a:endParaRPr>
          </a:p>
        </p:txBody>
      </p:sp>
      <p:sp>
        <p:nvSpPr>
          <p:cNvPr id="93" name="Google Shape;93;p1"/>
          <p:cNvSpPr/>
          <p:nvPr/>
        </p:nvSpPr>
        <p:spPr>
          <a:xfrm>
            <a:off x="5330952" y="3451860"/>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0</a:t>
            </a:r>
            <a:endParaRPr sz="1150">
              <a:solidFill>
                <a:schemeClr val="dk1"/>
              </a:solidFill>
              <a:latin typeface="Calibri"/>
              <a:ea typeface="Calibri"/>
              <a:cs typeface="Calibri"/>
              <a:sym typeface="Calibri"/>
            </a:endParaRPr>
          </a:p>
        </p:txBody>
      </p:sp>
      <p:sp>
        <p:nvSpPr>
          <p:cNvPr id="94" name="Google Shape;94;p1"/>
          <p:cNvSpPr/>
          <p:nvPr/>
        </p:nvSpPr>
        <p:spPr>
          <a:xfrm>
            <a:off x="6629400" y="3451860"/>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1</a:t>
            </a:r>
            <a:endParaRPr sz="1150">
              <a:solidFill>
                <a:schemeClr val="dk1"/>
              </a:solidFill>
              <a:latin typeface="Calibri"/>
              <a:ea typeface="Calibri"/>
              <a:cs typeface="Calibri"/>
              <a:sym typeface="Calibri"/>
            </a:endParaRPr>
          </a:p>
        </p:txBody>
      </p:sp>
      <p:sp>
        <p:nvSpPr>
          <p:cNvPr id="95" name="Google Shape;95;p1"/>
          <p:cNvSpPr/>
          <p:nvPr/>
        </p:nvSpPr>
        <p:spPr>
          <a:xfrm>
            <a:off x="7927848" y="3451860"/>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9</a:t>
            </a:r>
            <a:endParaRPr sz="1150">
              <a:solidFill>
                <a:schemeClr val="dk1"/>
              </a:solidFill>
              <a:latin typeface="Calibri"/>
              <a:ea typeface="Calibri"/>
              <a:cs typeface="Calibri"/>
              <a:sym typeface="Calibri"/>
            </a:endParaRPr>
          </a:p>
        </p:txBody>
      </p:sp>
      <p:sp>
        <p:nvSpPr>
          <p:cNvPr id="96" name="Google Shape;96;p1"/>
          <p:cNvSpPr/>
          <p:nvPr/>
        </p:nvSpPr>
        <p:spPr>
          <a:xfrm>
            <a:off x="9226296" y="3451860"/>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0</a:t>
            </a:r>
            <a:endParaRPr sz="1150">
              <a:solidFill>
                <a:schemeClr val="dk1"/>
              </a:solidFill>
              <a:latin typeface="Calibri"/>
              <a:ea typeface="Calibri"/>
              <a:cs typeface="Calibri"/>
              <a:sym typeface="Calibri"/>
            </a:endParaRPr>
          </a:p>
        </p:txBody>
      </p:sp>
      <p:sp>
        <p:nvSpPr>
          <p:cNvPr id="97" name="Google Shape;97;p1"/>
          <p:cNvSpPr/>
          <p:nvPr/>
        </p:nvSpPr>
        <p:spPr>
          <a:xfrm>
            <a:off x="10524744" y="3451860"/>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0</a:t>
            </a:r>
            <a:endParaRPr sz="1150">
              <a:solidFill>
                <a:schemeClr val="dk1"/>
              </a:solidFill>
              <a:latin typeface="Calibri"/>
              <a:ea typeface="Calibri"/>
              <a:cs typeface="Calibri"/>
              <a:sym typeface="Calibri"/>
            </a:endParaRPr>
          </a:p>
        </p:txBody>
      </p:sp>
      <p:sp>
        <p:nvSpPr>
          <p:cNvPr id="98" name="Google Shape;98;p1"/>
          <p:cNvSpPr/>
          <p:nvPr/>
        </p:nvSpPr>
        <p:spPr>
          <a:xfrm>
            <a:off x="457200" y="3712464"/>
            <a:ext cx="11311128" cy="187452"/>
          </a:xfrm>
          <a:prstGeom prst="rect">
            <a:avLst/>
          </a:prstGeom>
          <a:solidFill>
            <a:srgbClr val="FFFFFF"/>
          </a:solidFill>
          <a:ln cap="flat" cmpd="sng" w="9525">
            <a:solidFill>
              <a:srgbClr val="DDE3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900">
              <a:solidFill>
                <a:schemeClr val="dk1"/>
              </a:solidFill>
              <a:latin typeface="Calibri"/>
              <a:ea typeface="Calibri"/>
              <a:cs typeface="Calibri"/>
              <a:sym typeface="Calibri"/>
            </a:endParaRPr>
          </a:p>
        </p:txBody>
      </p:sp>
      <p:sp>
        <p:nvSpPr>
          <p:cNvPr id="99" name="Google Shape;99;p1"/>
          <p:cNvSpPr/>
          <p:nvPr/>
        </p:nvSpPr>
        <p:spPr>
          <a:xfrm>
            <a:off x="4032504" y="3712464"/>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none</a:t>
            </a:r>
            <a:endParaRPr sz="820">
              <a:solidFill>
                <a:schemeClr val="dk1"/>
              </a:solidFill>
              <a:latin typeface="Calibri"/>
              <a:ea typeface="Calibri"/>
              <a:cs typeface="Calibri"/>
              <a:sym typeface="Calibri"/>
            </a:endParaRPr>
          </a:p>
        </p:txBody>
      </p:sp>
      <p:sp>
        <p:nvSpPr>
          <p:cNvPr id="100" name="Google Shape;100;p1"/>
          <p:cNvSpPr/>
          <p:nvPr/>
        </p:nvSpPr>
        <p:spPr>
          <a:xfrm>
            <a:off x="5330952" y="3712464"/>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none</a:t>
            </a:r>
            <a:endParaRPr sz="820">
              <a:solidFill>
                <a:schemeClr val="dk1"/>
              </a:solidFill>
              <a:latin typeface="Calibri"/>
              <a:ea typeface="Calibri"/>
              <a:cs typeface="Calibri"/>
              <a:sym typeface="Calibri"/>
            </a:endParaRPr>
          </a:p>
        </p:txBody>
      </p:sp>
      <p:sp>
        <p:nvSpPr>
          <p:cNvPr id="101" name="Google Shape;101;p1"/>
          <p:cNvSpPr/>
          <p:nvPr/>
        </p:nvSpPr>
        <p:spPr>
          <a:xfrm>
            <a:off x="6629400" y="3712464"/>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CGS 392</a:t>
            </a:r>
            <a:endParaRPr sz="820">
              <a:solidFill>
                <a:schemeClr val="dk1"/>
              </a:solidFill>
              <a:latin typeface="Calibri"/>
              <a:ea typeface="Calibri"/>
              <a:cs typeface="Calibri"/>
              <a:sym typeface="Calibri"/>
            </a:endParaRPr>
          </a:p>
        </p:txBody>
      </p:sp>
      <p:sp>
        <p:nvSpPr>
          <p:cNvPr id="102" name="Google Shape;102;p1"/>
          <p:cNvSpPr/>
          <p:nvPr/>
        </p:nvSpPr>
        <p:spPr>
          <a:xfrm>
            <a:off x="7927848" y="3712464"/>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UNIV × 3, ASSE × 2</a:t>
            </a:r>
            <a:endParaRPr sz="820">
              <a:solidFill>
                <a:schemeClr val="dk1"/>
              </a:solidFill>
              <a:latin typeface="Calibri"/>
              <a:ea typeface="Calibri"/>
              <a:cs typeface="Calibri"/>
              <a:sym typeface="Calibri"/>
            </a:endParaRPr>
          </a:p>
        </p:txBody>
      </p:sp>
      <p:sp>
        <p:nvSpPr>
          <p:cNvPr id="103" name="Google Shape;103;p1"/>
          <p:cNvSpPr/>
          <p:nvPr/>
        </p:nvSpPr>
        <p:spPr>
          <a:xfrm>
            <a:off x="9226296" y="3712464"/>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CUR 101, ENT 101 (PYP)</a:t>
            </a:r>
            <a:endParaRPr sz="820">
              <a:solidFill>
                <a:schemeClr val="dk1"/>
              </a:solidFill>
              <a:latin typeface="Calibri"/>
              <a:ea typeface="Calibri"/>
              <a:cs typeface="Calibri"/>
              <a:sym typeface="Calibri"/>
            </a:endParaRPr>
          </a:p>
        </p:txBody>
      </p:sp>
      <p:sp>
        <p:nvSpPr>
          <p:cNvPr id="104" name="Google Shape;104;p1"/>
          <p:cNvSpPr/>
          <p:nvPr/>
        </p:nvSpPr>
        <p:spPr>
          <a:xfrm>
            <a:off x="10524744" y="3712464"/>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0</a:t>
            </a:r>
            <a:endParaRPr sz="820">
              <a:solidFill>
                <a:schemeClr val="dk1"/>
              </a:solidFill>
              <a:latin typeface="Calibri"/>
              <a:ea typeface="Calibri"/>
              <a:cs typeface="Calibri"/>
              <a:sym typeface="Calibri"/>
            </a:endParaRPr>
          </a:p>
        </p:txBody>
      </p:sp>
      <p:sp>
        <p:nvSpPr>
          <p:cNvPr id="105" name="Google Shape;105;p1"/>
          <p:cNvSpPr/>
          <p:nvPr/>
        </p:nvSpPr>
        <p:spPr>
          <a:xfrm>
            <a:off x="457200" y="3899916"/>
            <a:ext cx="11311128" cy="260604"/>
          </a:xfrm>
          <a:prstGeom prst="rect">
            <a:avLst/>
          </a:prstGeom>
          <a:solidFill>
            <a:srgbClr val="EEF2FA"/>
          </a:solidFill>
          <a:ln cap="flat" cmpd="sng" w="9525">
            <a:solidFill>
              <a:srgbClr val="DDE3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900">
              <a:solidFill>
                <a:schemeClr val="dk1"/>
              </a:solidFill>
              <a:latin typeface="Calibri"/>
              <a:ea typeface="Calibri"/>
              <a:cs typeface="Calibri"/>
              <a:sym typeface="Calibri"/>
            </a:endParaRPr>
          </a:p>
        </p:txBody>
      </p:sp>
      <p:sp>
        <p:nvSpPr>
          <p:cNvPr id="106" name="Google Shape;106;p1"/>
          <p:cNvSpPr/>
          <p:nvPr/>
        </p:nvSpPr>
        <p:spPr>
          <a:xfrm>
            <a:off x="512064" y="3899916"/>
            <a:ext cx="3410712" cy="2606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Student-chosen breadth electives</a:t>
            </a:r>
            <a:endParaRPr sz="1150">
              <a:solidFill>
                <a:schemeClr val="dk1"/>
              </a:solidFill>
              <a:latin typeface="Calibri"/>
              <a:ea typeface="Calibri"/>
              <a:cs typeface="Calibri"/>
              <a:sym typeface="Calibri"/>
            </a:endParaRPr>
          </a:p>
        </p:txBody>
      </p:sp>
      <p:sp>
        <p:nvSpPr>
          <p:cNvPr id="107" name="Google Shape;107;p1"/>
          <p:cNvSpPr/>
          <p:nvPr/>
        </p:nvSpPr>
        <p:spPr>
          <a:xfrm>
            <a:off x="4032504" y="3899916"/>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0</a:t>
            </a:r>
            <a:endParaRPr sz="1150">
              <a:solidFill>
                <a:schemeClr val="dk1"/>
              </a:solidFill>
              <a:latin typeface="Calibri"/>
              <a:ea typeface="Calibri"/>
              <a:cs typeface="Calibri"/>
              <a:sym typeface="Calibri"/>
            </a:endParaRPr>
          </a:p>
        </p:txBody>
      </p:sp>
      <p:sp>
        <p:nvSpPr>
          <p:cNvPr id="108" name="Google Shape;108;p1"/>
          <p:cNvSpPr/>
          <p:nvPr/>
        </p:nvSpPr>
        <p:spPr>
          <a:xfrm>
            <a:off x="5330952" y="3899916"/>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9</a:t>
            </a:r>
            <a:endParaRPr sz="1150">
              <a:solidFill>
                <a:schemeClr val="dk1"/>
              </a:solidFill>
              <a:latin typeface="Calibri"/>
              <a:ea typeface="Calibri"/>
              <a:cs typeface="Calibri"/>
              <a:sym typeface="Calibri"/>
            </a:endParaRPr>
          </a:p>
        </p:txBody>
      </p:sp>
      <p:sp>
        <p:nvSpPr>
          <p:cNvPr id="109" name="Google Shape;109;p1"/>
          <p:cNvSpPr/>
          <p:nvPr/>
        </p:nvSpPr>
        <p:spPr>
          <a:xfrm>
            <a:off x="6629400" y="3899916"/>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3</a:t>
            </a:r>
            <a:endParaRPr sz="1150">
              <a:solidFill>
                <a:schemeClr val="dk1"/>
              </a:solidFill>
              <a:latin typeface="Calibri"/>
              <a:ea typeface="Calibri"/>
              <a:cs typeface="Calibri"/>
              <a:sym typeface="Calibri"/>
            </a:endParaRPr>
          </a:p>
        </p:txBody>
      </p:sp>
      <p:sp>
        <p:nvSpPr>
          <p:cNvPr id="110" name="Google Shape;110;p1"/>
          <p:cNvSpPr/>
          <p:nvPr/>
        </p:nvSpPr>
        <p:spPr>
          <a:xfrm>
            <a:off x="7927848" y="3899916"/>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3</a:t>
            </a:r>
            <a:endParaRPr sz="1150">
              <a:solidFill>
                <a:schemeClr val="dk1"/>
              </a:solidFill>
              <a:latin typeface="Calibri"/>
              <a:ea typeface="Calibri"/>
              <a:cs typeface="Calibri"/>
              <a:sym typeface="Calibri"/>
            </a:endParaRPr>
          </a:p>
        </p:txBody>
      </p:sp>
      <p:sp>
        <p:nvSpPr>
          <p:cNvPr id="111" name="Google Shape;111;p1"/>
          <p:cNvSpPr/>
          <p:nvPr/>
        </p:nvSpPr>
        <p:spPr>
          <a:xfrm>
            <a:off x="9226296" y="3899916"/>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0</a:t>
            </a:r>
            <a:endParaRPr sz="1150">
              <a:solidFill>
                <a:schemeClr val="dk1"/>
              </a:solidFill>
              <a:latin typeface="Calibri"/>
              <a:ea typeface="Calibri"/>
              <a:cs typeface="Calibri"/>
              <a:sym typeface="Calibri"/>
            </a:endParaRPr>
          </a:p>
        </p:txBody>
      </p:sp>
      <p:sp>
        <p:nvSpPr>
          <p:cNvPr id="112" name="Google Shape;112;p1"/>
          <p:cNvSpPr/>
          <p:nvPr/>
        </p:nvSpPr>
        <p:spPr>
          <a:xfrm>
            <a:off x="10524744" y="3899916"/>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0</a:t>
            </a:r>
            <a:endParaRPr sz="1150">
              <a:solidFill>
                <a:schemeClr val="dk1"/>
              </a:solidFill>
              <a:latin typeface="Calibri"/>
              <a:ea typeface="Calibri"/>
              <a:cs typeface="Calibri"/>
              <a:sym typeface="Calibri"/>
            </a:endParaRPr>
          </a:p>
        </p:txBody>
      </p:sp>
      <p:sp>
        <p:nvSpPr>
          <p:cNvPr id="113" name="Google Shape;113;p1"/>
          <p:cNvSpPr/>
          <p:nvPr/>
        </p:nvSpPr>
        <p:spPr>
          <a:xfrm>
            <a:off x="457200" y="4160520"/>
            <a:ext cx="11311128" cy="187452"/>
          </a:xfrm>
          <a:prstGeom prst="rect">
            <a:avLst/>
          </a:prstGeom>
          <a:solidFill>
            <a:srgbClr val="FFFFFF"/>
          </a:solidFill>
          <a:ln cap="flat" cmpd="sng" w="9525">
            <a:solidFill>
              <a:srgbClr val="DDE3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900">
              <a:solidFill>
                <a:schemeClr val="dk1"/>
              </a:solidFill>
              <a:latin typeface="Calibri"/>
              <a:ea typeface="Calibri"/>
              <a:cs typeface="Calibri"/>
              <a:sym typeface="Calibri"/>
            </a:endParaRPr>
          </a:p>
        </p:txBody>
      </p:sp>
      <p:sp>
        <p:nvSpPr>
          <p:cNvPr id="114" name="Google Shape;114;p1"/>
          <p:cNvSpPr/>
          <p:nvPr/>
        </p:nvSpPr>
        <p:spPr>
          <a:xfrm>
            <a:off x="4032504" y="4160520"/>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none</a:t>
            </a:r>
            <a:endParaRPr sz="820">
              <a:solidFill>
                <a:schemeClr val="dk1"/>
              </a:solidFill>
              <a:latin typeface="Calibri"/>
              <a:ea typeface="Calibri"/>
              <a:cs typeface="Calibri"/>
              <a:sym typeface="Calibri"/>
            </a:endParaRPr>
          </a:p>
        </p:txBody>
      </p:sp>
      <p:sp>
        <p:nvSpPr>
          <p:cNvPr id="115" name="Google Shape;115;p1"/>
          <p:cNvSpPr/>
          <p:nvPr/>
        </p:nvSpPr>
        <p:spPr>
          <a:xfrm>
            <a:off x="5330952" y="4160520"/>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A&amp;H + Social Sci. × 2</a:t>
            </a:r>
            <a:endParaRPr sz="820">
              <a:solidFill>
                <a:schemeClr val="dk1"/>
              </a:solidFill>
              <a:latin typeface="Calibri"/>
              <a:ea typeface="Calibri"/>
              <a:cs typeface="Calibri"/>
              <a:sym typeface="Calibri"/>
            </a:endParaRPr>
          </a:p>
        </p:txBody>
      </p:sp>
      <p:sp>
        <p:nvSpPr>
          <p:cNvPr id="116" name="Google Shape;116;p1"/>
          <p:cNvSpPr/>
          <p:nvPr/>
        </p:nvSpPr>
        <p:spPr>
          <a:xfrm>
            <a:off x="6629400" y="4160520"/>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GS elective</a:t>
            </a:r>
            <a:endParaRPr sz="820">
              <a:solidFill>
                <a:schemeClr val="dk1"/>
              </a:solidFill>
              <a:latin typeface="Calibri"/>
              <a:ea typeface="Calibri"/>
              <a:cs typeface="Calibri"/>
              <a:sym typeface="Calibri"/>
            </a:endParaRPr>
          </a:p>
        </p:txBody>
      </p:sp>
      <p:sp>
        <p:nvSpPr>
          <p:cNvPr id="117" name="Google Shape;117;p1"/>
          <p:cNvSpPr/>
          <p:nvPr/>
        </p:nvSpPr>
        <p:spPr>
          <a:xfrm>
            <a:off x="7927848" y="4160520"/>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Social Science elective</a:t>
            </a:r>
            <a:endParaRPr sz="820">
              <a:solidFill>
                <a:schemeClr val="dk1"/>
              </a:solidFill>
              <a:latin typeface="Calibri"/>
              <a:ea typeface="Calibri"/>
              <a:cs typeface="Calibri"/>
              <a:sym typeface="Calibri"/>
            </a:endParaRPr>
          </a:p>
        </p:txBody>
      </p:sp>
      <p:sp>
        <p:nvSpPr>
          <p:cNvPr id="118" name="Google Shape;118;p1"/>
          <p:cNvSpPr/>
          <p:nvPr/>
        </p:nvSpPr>
        <p:spPr>
          <a:xfrm>
            <a:off x="9226296" y="4160520"/>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none</a:t>
            </a:r>
            <a:endParaRPr sz="820">
              <a:solidFill>
                <a:schemeClr val="dk1"/>
              </a:solidFill>
              <a:latin typeface="Calibri"/>
              <a:ea typeface="Calibri"/>
              <a:cs typeface="Calibri"/>
              <a:sym typeface="Calibri"/>
            </a:endParaRPr>
          </a:p>
        </p:txBody>
      </p:sp>
      <p:sp>
        <p:nvSpPr>
          <p:cNvPr id="119" name="Google Shape;119;p1"/>
          <p:cNvSpPr/>
          <p:nvPr/>
        </p:nvSpPr>
        <p:spPr>
          <a:xfrm>
            <a:off x="10524744" y="4160520"/>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none</a:t>
            </a:r>
            <a:endParaRPr sz="820">
              <a:solidFill>
                <a:schemeClr val="dk1"/>
              </a:solidFill>
              <a:latin typeface="Calibri"/>
              <a:ea typeface="Calibri"/>
              <a:cs typeface="Calibri"/>
              <a:sym typeface="Calibri"/>
            </a:endParaRPr>
          </a:p>
        </p:txBody>
      </p:sp>
      <p:sp>
        <p:nvSpPr>
          <p:cNvPr id="120" name="Google Shape;120;p1"/>
          <p:cNvSpPr/>
          <p:nvPr/>
        </p:nvSpPr>
        <p:spPr>
          <a:xfrm>
            <a:off x="457200" y="4347972"/>
            <a:ext cx="11311128" cy="260604"/>
          </a:xfrm>
          <a:prstGeom prst="rect">
            <a:avLst/>
          </a:prstGeom>
          <a:solidFill>
            <a:srgbClr val="EEF2FA"/>
          </a:solidFill>
          <a:ln cap="flat" cmpd="sng" w="9525">
            <a:solidFill>
              <a:srgbClr val="DDE3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900">
              <a:solidFill>
                <a:schemeClr val="dk1"/>
              </a:solidFill>
              <a:latin typeface="Calibri"/>
              <a:ea typeface="Calibri"/>
              <a:cs typeface="Calibri"/>
              <a:sym typeface="Calibri"/>
            </a:endParaRPr>
          </a:p>
        </p:txBody>
      </p:sp>
      <p:sp>
        <p:nvSpPr>
          <p:cNvPr id="121" name="Google Shape;121;p1"/>
          <p:cNvSpPr/>
          <p:nvPr/>
        </p:nvSpPr>
        <p:spPr>
          <a:xfrm>
            <a:off x="512064" y="4347972"/>
            <a:ext cx="3410712" cy="2606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Other prescribed (psychology, PE, health)</a:t>
            </a:r>
            <a:endParaRPr sz="1150">
              <a:solidFill>
                <a:schemeClr val="dk1"/>
              </a:solidFill>
              <a:latin typeface="Calibri"/>
              <a:ea typeface="Calibri"/>
              <a:cs typeface="Calibri"/>
              <a:sym typeface="Calibri"/>
            </a:endParaRPr>
          </a:p>
        </p:txBody>
      </p:sp>
      <p:sp>
        <p:nvSpPr>
          <p:cNvPr id="122" name="Google Shape;122;p1"/>
          <p:cNvSpPr/>
          <p:nvPr/>
        </p:nvSpPr>
        <p:spPr>
          <a:xfrm>
            <a:off x="4032504" y="4347972"/>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3</a:t>
            </a:r>
            <a:endParaRPr sz="1150">
              <a:solidFill>
                <a:schemeClr val="dk1"/>
              </a:solidFill>
              <a:latin typeface="Calibri"/>
              <a:ea typeface="Calibri"/>
              <a:cs typeface="Calibri"/>
              <a:sym typeface="Calibri"/>
            </a:endParaRPr>
          </a:p>
        </p:txBody>
      </p:sp>
      <p:sp>
        <p:nvSpPr>
          <p:cNvPr id="123" name="Google Shape;123;p1"/>
          <p:cNvSpPr/>
          <p:nvPr/>
        </p:nvSpPr>
        <p:spPr>
          <a:xfrm>
            <a:off x="5330952" y="4347972"/>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0</a:t>
            </a:r>
            <a:endParaRPr sz="1150">
              <a:solidFill>
                <a:schemeClr val="dk1"/>
              </a:solidFill>
              <a:latin typeface="Calibri"/>
              <a:ea typeface="Calibri"/>
              <a:cs typeface="Calibri"/>
              <a:sym typeface="Calibri"/>
            </a:endParaRPr>
          </a:p>
        </p:txBody>
      </p:sp>
      <p:sp>
        <p:nvSpPr>
          <p:cNvPr id="124" name="Google Shape;124;p1"/>
          <p:cNvSpPr/>
          <p:nvPr/>
        </p:nvSpPr>
        <p:spPr>
          <a:xfrm>
            <a:off x="6629400" y="4347972"/>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1</a:t>
            </a:r>
            <a:endParaRPr sz="1150">
              <a:solidFill>
                <a:schemeClr val="dk1"/>
              </a:solidFill>
              <a:latin typeface="Calibri"/>
              <a:ea typeface="Calibri"/>
              <a:cs typeface="Calibri"/>
              <a:sym typeface="Calibri"/>
            </a:endParaRPr>
          </a:p>
        </p:txBody>
      </p:sp>
      <p:sp>
        <p:nvSpPr>
          <p:cNvPr id="125" name="Google Shape;125;p1"/>
          <p:cNvSpPr/>
          <p:nvPr/>
        </p:nvSpPr>
        <p:spPr>
          <a:xfrm>
            <a:off x="7927848" y="4347972"/>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2</a:t>
            </a:r>
            <a:endParaRPr sz="1150">
              <a:solidFill>
                <a:schemeClr val="dk1"/>
              </a:solidFill>
              <a:latin typeface="Calibri"/>
              <a:ea typeface="Calibri"/>
              <a:cs typeface="Calibri"/>
              <a:sym typeface="Calibri"/>
            </a:endParaRPr>
          </a:p>
        </p:txBody>
      </p:sp>
      <p:sp>
        <p:nvSpPr>
          <p:cNvPr id="126" name="Google Shape;126;p1"/>
          <p:cNvSpPr/>
          <p:nvPr/>
        </p:nvSpPr>
        <p:spPr>
          <a:xfrm>
            <a:off x="9226296" y="4347972"/>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0</a:t>
            </a:r>
            <a:endParaRPr sz="1150">
              <a:solidFill>
                <a:schemeClr val="dk1"/>
              </a:solidFill>
              <a:latin typeface="Calibri"/>
              <a:ea typeface="Calibri"/>
              <a:cs typeface="Calibri"/>
              <a:sym typeface="Calibri"/>
            </a:endParaRPr>
          </a:p>
        </p:txBody>
      </p:sp>
      <p:sp>
        <p:nvSpPr>
          <p:cNvPr id="127" name="Google Shape;127;p1"/>
          <p:cNvSpPr/>
          <p:nvPr/>
        </p:nvSpPr>
        <p:spPr>
          <a:xfrm>
            <a:off x="10524744" y="4347972"/>
            <a:ext cx="1188720" cy="2606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0</a:t>
            </a:r>
            <a:endParaRPr sz="1150">
              <a:solidFill>
                <a:schemeClr val="dk1"/>
              </a:solidFill>
              <a:latin typeface="Calibri"/>
              <a:ea typeface="Calibri"/>
              <a:cs typeface="Calibri"/>
              <a:sym typeface="Calibri"/>
            </a:endParaRPr>
          </a:p>
        </p:txBody>
      </p:sp>
      <p:sp>
        <p:nvSpPr>
          <p:cNvPr id="128" name="Google Shape;128;p1"/>
          <p:cNvSpPr/>
          <p:nvPr/>
        </p:nvSpPr>
        <p:spPr>
          <a:xfrm>
            <a:off x="457200" y="4608576"/>
            <a:ext cx="11311128" cy="187452"/>
          </a:xfrm>
          <a:prstGeom prst="rect">
            <a:avLst/>
          </a:prstGeom>
          <a:solidFill>
            <a:srgbClr val="FFFFFF"/>
          </a:solidFill>
          <a:ln cap="flat" cmpd="sng" w="9525">
            <a:solidFill>
              <a:srgbClr val="DDE3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900">
              <a:solidFill>
                <a:schemeClr val="dk1"/>
              </a:solidFill>
              <a:latin typeface="Calibri"/>
              <a:ea typeface="Calibri"/>
              <a:cs typeface="Calibri"/>
              <a:sym typeface="Calibri"/>
            </a:endParaRPr>
          </a:p>
        </p:txBody>
      </p:sp>
      <p:sp>
        <p:nvSpPr>
          <p:cNvPr id="129" name="Google Shape;129;p1"/>
          <p:cNvSpPr/>
          <p:nvPr/>
        </p:nvSpPr>
        <p:spPr>
          <a:xfrm>
            <a:off x="4032504" y="4608576"/>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PSY 101</a:t>
            </a:r>
            <a:endParaRPr sz="820">
              <a:solidFill>
                <a:schemeClr val="dk1"/>
              </a:solidFill>
              <a:latin typeface="Calibri"/>
              <a:ea typeface="Calibri"/>
              <a:cs typeface="Calibri"/>
              <a:sym typeface="Calibri"/>
            </a:endParaRPr>
          </a:p>
        </p:txBody>
      </p:sp>
      <p:sp>
        <p:nvSpPr>
          <p:cNvPr id="130" name="Google Shape;130;p1"/>
          <p:cNvSpPr/>
          <p:nvPr/>
        </p:nvSpPr>
        <p:spPr>
          <a:xfrm>
            <a:off x="5330952" y="4608576"/>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a:t>
            </a:r>
            <a:endParaRPr sz="820">
              <a:solidFill>
                <a:schemeClr val="dk1"/>
              </a:solidFill>
              <a:latin typeface="Calibri"/>
              <a:ea typeface="Calibri"/>
              <a:cs typeface="Calibri"/>
              <a:sym typeface="Calibri"/>
            </a:endParaRPr>
          </a:p>
        </p:txBody>
      </p:sp>
      <p:sp>
        <p:nvSpPr>
          <p:cNvPr id="131" name="Google Shape;131;p1"/>
          <p:cNvSpPr/>
          <p:nvPr/>
        </p:nvSpPr>
        <p:spPr>
          <a:xfrm>
            <a:off x="6629400" y="4608576"/>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PE 101</a:t>
            </a:r>
            <a:endParaRPr sz="820">
              <a:solidFill>
                <a:schemeClr val="dk1"/>
              </a:solidFill>
              <a:latin typeface="Calibri"/>
              <a:ea typeface="Calibri"/>
              <a:cs typeface="Calibri"/>
              <a:sym typeface="Calibri"/>
            </a:endParaRPr>
          </a:p>
        </p:txBody>
      </p:sp>
      <p:sp>
        <p:nvSpPr>
          <p:cNvPr id="132" name="Google Shape;132;p1"/>
          <p:cNvSpPr/>
          <p:nvPr/>
        </p:nvSpPr>
        <p:spPr>
          <a:xfrm>
            <a:off x="7927848" y="4608576"/>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PHED 1111/1112</a:t>
            </a:r>
            <a:endParaRPr sz="820">
              <a:solidFill>
                <a:schemeClr val="dk1"/>
              </a:solidFill>
              <a:latin typeface="Calibri"/>
              <a:ea typeface="Calibri"/>
              <a:cs typeface="Calibri"/>
              <a:sym typeface="Calibri"/>
            </a:endParaRPr>
          </a:p>
        </p:txBody>
      </p:sp>
      <p:sp>
        <p:nvSpPr>
          <p:cNvPr id="133" name="Google Shape;133;p1"/>
          <p:cNvSpPr/>
          <p:nvPr/>
        </p:nvSpPr>
        <p:spPr>
          <a:xfrm>
            <a:off x="9226296" y="4608576"/>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EPH 101 in the PYP</a:t>
            </a:r>
            <a:endParaRPr sz="820">
              <a:solidFill>
                <a:schemeClr val="dk1"/>
              </a:solidFill>
              <a:latin typeface="Calibri"/>
              <a:ea typeface="Calibri"/>
              <a:cs typeface="Calibri"/>
              <a:sym typeface="Calibri"/>
            </a:endParaRPr>
          </a:p>
        </p:txBody>
      </p:sp>
      <p:sp>
        <p:nvSpPr>
          <p:cNvPr id="134" name="Google Shape;134;p1"/>
          <p:cNvSpPr/>
          <p:nvPr/>
        </p:nvSpPr>
        <p:spPr>
          <a:xfrm>
            <a:off x="10524744" y="4608576"/>
            <a:ext cx="1188720" cy="1874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8798"/>
              </a:buClr>
              <a:buSzPts val="720"/>
              <a:buFont typeface="Quattrocento Sans"/>
              <a:buNone/>
            </a:pPr>
            <a:r>
              <a:rPr lang="en-US" sz="820">
                <a:solidFill>
                  <a:srgbClr val="7B8798"/>
                </a:solidFill>
                <a:latin typeface="Quattrocento Sans"/>
                <a:ea typeface="Quattrocento Sans"/>
                <a:cs typeface="Quattrocento Sans"/>
                <a:sym typeface="Quattrocento Sans"/>
              </a:rPr>
              <a:t>—</a:t>
            </a:r>
            <a:endParaRPr sz="820">
              <a:solidFill>
                <a:schemeClr val="dk1"/>
              </a:solidFill>
              <a:latin typeface="Calibri"/>
              <a:ea typeface="Calibri"/>
              <a:cs typeface="Calibri"/>
              <a:sym typeface="Calibri"/>
            </a:endParaRPr>
          </a:p>
        </p:txBody>
      </p:sp>
      <p:sp>
        <p:nvSpPr>
          <p:cNvPr id="135" name="Google Shape;135;p1"/>
          <p:cNvSpPr/>
          <p:nvPr/>
        </p:nvSpPr>
        <p:spPr>
          <a:xfrm>
            <a:off x="457200" y="4796028"/>
            <a:ext cx="11311128" cy="306324"/>
          </a:xfrm>
          <a:prstGeom prst="rect">
            <a:avLst/>
          </a:prstGeom>
          <a:solidFill>
            <a:srgbClr val="1F3864"/>
          </a:solidFill>
          <a:ln cap="flat" cmpd="sng" w="9525">
            <a:solidFill>
              <a:srgbClr val="DDE3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900">
              <a:solidFill>
                <a:schemeClr val="dk1"/>
              </a:solidFill>
              <a:latin typeface="Calibri"/>
              <a:ea typeface="Calibri"/>
              <a:cs typeface="Calibri"/>
              <a:sym typeface="Calibri"/>
            </a:endParaRPr>
          </a:p>
        </p:txBody>
      </p:sp>
      <p:sp>
        <p:nvSpPr>
          <p:cNvPr id="136" name="Google Shape;136;p1"/>
          <p:cNvSpPr/>
          <p:nvPr/>
        </p:nvSpPr>
        <p:spPr>
          <a:xfrm>
            <a:off x="512064" y="4796028"/>
            <a:ext cx="3410712" cy="30632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FFFFF"/>
              </a:buClr>
              <a:buSzPts val="1150"/>
              <a:buFont typeface="Quattrocento Sans"/>
              <a:buNone/>
            </a:pPr>
            <a:r>
              <a:rPr b="1" lang="en-US" sz="1250">
                <a:solidFill>
                  <a:srgbClr val="FFFFFF"/>
                </a:solidFill>
                <a:latin typeface="Quattrocento Sans"/>
                <a:ea typeface="Quattrocento Sans"/>
                <a:cs typeface="Quattrocento Sans"/>
                <a:sym typeface="Quattrocento Sans"/>
              </a:rPr>
              <a:t>UNIVERSITY-LEVEL TOTAL</a:t>
            </a:r>
            <a:endParaRPr sz="1250">
              <a:solidFill>
                <a:schemeClr val="dk1"/>
              </a:solidFill>
              <a:latin typeface="Calibri"/>
              <a:ea typeface="Calibri"/>
              <a:cs typeface="Calibri"/>
              <a:sym typeface="Calibri"/>
            </a:endParaRPr>
          </a:p>
        </p:txBody>
      </p:sp>
      <p:sp>
        <p:nvSpPr>
          <p:cNvPr id="137" name="Google Shape;137;p1"/>
          <p:cNvSpPr/>
          <p:nvPr/>
        </p:nvSpPr>
        <p:spPr>
          <a:xfrm>
            <a:off x="4032504" y="4796028"/>
            <a:ext cx="1188720" cy="30632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150"/>
              <a:buFont typeface="Quattrocento Sans"/>
              <a:buNone/>
            </a:pPr>
            <a:r>
              <a:rPr b="1" lang="en-US" sz="1250">
                <a:solidFill>
                  <a:srgbClr val="FFFFFF"/>
                </a:solidFill>
                <a:latin typeface="Quattrocento Sans"/>
                <a:ea typeface="Quattrocento Sans"/>
                <a:cs typeface="Quattrocento Sans"/>
                <a:sym typeface="Quattrocento Sans"/>
              </a:rPr>
              <a:t>23</a:t>
            </a:r>
            <a:endParaRPr sz="1250">
              <a:solidFill>
                <a:schemeClr val="dk1"/>
              </a:solidFill>
              <a:latin typeface="Calibri"/>
              <a:ea typeface="Calibri"/>
              <a:cs typeface="Calibri"/>
              <a:sym typeface="Calibri"/>
            </a:endParaRPr>
          </a:p>
        </p:txBody>
      </p:sp>
      <p:sp>
        <p:nvSpPr>
          <p:cNvPr id="138" name="Google Shape;138;p1"/>
          <p:cNvSpPr/>
          <p:nvPr/>
        </p:nvSpPr>
        <p:spPr>
          <a:xfrm>
            <a:off x="5330952" y="4796028"/>
            <a:ext cx="1188720" cy="30632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150"/>
              <a:buFont typeface="Quattrocento Sans"/>
              <a:buNone/>
            </a:pPr>
            <a:r>
              <a:rPr b="1" lang="en-US" sz="1250">
                <a:solidFill>
                  <a:srgbClr val="FFFFFF"/>
                </a:solidFill>
                <a:latin typeface="Quattrocento Sans"/>
                <a:ea typeface="Quattrocento Sans"/>
                <a:cs typeface="Quattrocento Sans"/>
                <a:sym typeface="Quattrocento Sans"/>
              </a:rPr>
              <a:t>18</a:t>
            </a:r>
            <a:endParaRPr sz="1250">
              <a:solidFill>
                <a:schemeClr val="dk1"/>
              </a:solidFill>
              <a:latin typeface="Calibri"/>
              <a:ea typeface="Calibri"/>
              <a:cs typeface="Calibri"/>
              <a:sym typeface="Calibri"/>
            </a:endParaRPr>
          </a:p>
        </p:txBody>
      </p:sp>
      <p:sp>
        <p:nvSpPr>
          <p:cNvPr id="139" name="Google Shape;139;p1"/>
          <p:cNvSpPr/>
          <p:nvPr/>
        </p:nvSpPr>
        <p:spPr>
          <a:xfrm>
            <a:off x="6629400" y="4796028"/>
            <a:ext cx="1188720" cy="30632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150"/>
              <a:buFont typeface="Quattrocento Sans"/>
              <a:buNone/>
            </a:pPr>
            <a:r>
              <a:rPr b="1" lang="en-US" sz="1250">
                <a:solidFill>
                  <a:srgbClr val="FFFFFF"/>
                </a:solidFill>
                <a:latin typeface="Quattrocento Sans"/>
                <a:ea typeface="Quattrocento Sans"/>
                <a:cs typeface="Quattrocento Sans"/>
                <a:sym typeface="Quattrocento Sans"/>
              </a:rPr>
              <a:t>34</a:t>
            </a:r>
            <a:endParaRPr sz="1250">
              <a:solidFill>
                <a:schemeClr val="dk1"/>
              </a:solidFill>
              <a:latin typeface="Calibri"/>
              <a:ea typeface="Calibri"/>
              <a:cs typeface="Calibri"/>
              <a:sym typeface="Calibri"/>
            </a:endParaRPr>
          </a:p>
        </p:txBody>
      </p:sp>
      <p:sp>
        <p:nvSpPr>
          <p:cNvPr id="140" name="Google Shape;140;p1"/>
          <p:cNvSpPr/>
          <p:nvPr/>
        </p:nvSpPr>
        <p:spPr>
          <a:xfrm>
            <a:off x="7927848" y="4796028"/>
            <a:ext cx="1188720" cy="30632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150"/>
              <a:buFont typeface="Quattrocento Sans"/>
              <a:buNone/>
            </a:pPr>
            <a:r>
              <a:rPr b="1" lang="en-US" sz="1250">
                <a:solidFill>
                  <a:srgbClr val="FFFFFF"/>
                </a:solidFill>
                <a:latin typeface="Quattrocento Sans"/>
                <a:ea typeface="Quattrocento Sans"/>
                <a:cs typeface="Quattrocento Sans"/>
                <a:sym typeface="Quattrocento Sans"/>
              </a:rPr>
              <a:t>34</a:t>
            </a:r>
            <a:endParaRPr sz="1250">
              <a:solidFill>
                <a:schemeClr val="dk1"/>
              </a:solidFill>
              <a:latin typeface="Calibri"/>
              <a:ea typeface="Calibri"/>
              <a:cs typeface="Calibri"/>
              <a:sym typeface="Calibri"/>
            </a:endParaRPr>
          </a:p>
        </p:txBody>
      </p:sp>
      <p:sp>
        <p:nvSpPr>
          <p:cNvPr id="141" name="Google Shape;141;p1"/>
          <p:cNvSpPr/>
          <p:nvPr/>
        </p:nvSpPr>
        <p:spPr>
          <a:xfrm>
            <a:off x="9226296" y="4796028"/>
            <a:ext cx="1188720" cy="30632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150"/>
              <a:buFont typeface="Quattrocento Sans"/>
              <a:buNone/>
            </a:pPr>
            <a:r>
              <a:rPr b="1" lang="en-US" sz="1250">
                <a:solidFill>
                  <a:srgbClr val="FFFFFF"/>
                </a:solidFill>
                <a:latin typeface="Quattrocento Sans"/>
                <a:ea typeface="Quattrocento Sans"/>
                <a:cs typeface="Quattrocento Sans"/>
                <a:sym typeface="Quattrocento Sans"/>
              </a:rPr>
              <a:t>8</a:t>
            </a:r>
            <a:endParaRPr sz="1250">
              <a:solidFill>
                <a:schemeClr val="dk1"/>
              </a:solidFill>
              <a:latin typeface="Calibri"/>
              <a:ea typeface="Calibri"/>
              <a:cs typeface="Calibri"/>
              <a:sym typeface="Calibri"/>
            </a:endParaRPr>
          </a:p>
        </p:txBody>
      </p:sp>
      <p:sp>
        <p:nvSpPr>
          <p:cNvPr id="142" name="Google Shape;142;p1"/>
          <p:cNvSpPr/>
          <p:nvPr/>
        </p:nvSpPr>
        <p:spPr>
          <a:xfrm>
            <a:off x="10524744" y="4796028"/>
            <a:ext cx="1188720" cy="30632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150"/>
              <a:buFont typeface="Quattrocento Sans"/>
              <a:buNone/>
            </a:pPr>
            <a:r>
              <a:rPr b="1" lang="en-US" sz="1250">
                <a:solidFill>
                  <a:srgbClr val="FFFFFF"/>
                </a:solidFill>
                <a:latin typeface="Quattrocento Sans"/>
                <a:ea typeface="Quattrocento Sans"/>
                <a:cs typeface="Quattrocento Sans"/>
                <a:sym typeface="Quattrocento Sans"/>
              </a:rPr>
              <a:t>14</a:t>
            </a:r>
            <a:endParaRPr sz="1250">
              <a:solidFill>
                <a:schemeClr val="dk1"/>
              </a:solidFill>
              <a:latin typeface="Calibri"/>
              <a:ea typeface="Calibri"/>
              <a:cs typeface="Calibri"/>
              <a:sym typeface="Calibri"/>
            </a:endParaRPr>
          </a:p>
        </p:txBody>
      </p:sp>
      <p:sp>
        <p:nvSpPr>
          <p:cNvPr id="143" name="Google Shape;143;p1"/>
          <p:cNvSpPr/>
          <p:nvPr/>
        </p:nvSpPr>
        <p:spPr>
          <a:xfrm>
            <a:off x="457200" y="5102352"/>
            <a:ext cx="11311128" cy="233172"/>
          </a:xfrm>
          <a:prstGeom prst="rect">
            <a:avLst/>
          </a:prstGeom>
          <a:solidFill>
            <a:srgbClr val="F4F6FB"/>
          </a:solidFill>
          <a:ln cap="flat" cmpd="sng" w="9525">
            <a:solidFill>
              <a:srgbClr val="DDE3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900">
              <a:solidFill>
                <a:schemeClr val="dk1"/>
              </a:solidFill>
              <a:latin typeface="Calibri"/>
              <a:ea typeface="Calibri"/>
              <a:cs typeface="Calibri"/>
              <a:sym typeface="Calibri"/>
            </a:endParaRPr>
          </a:p>
        </p:txBody>
      </p:sp>
      <p:sp>
        <p:nvSpPr>
          <p:cNvPr id="144" name="Google Shape;144;p1"/>
          <p:cNvSpPr/>
          <p:nvPr/>
        </p:nvSpPr>
        <p:spPr>
          <a:xfrm>
            <a:off x="512064" y="5102352"/>
            <a:ext cx="3410712" cy="2331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7303F"/>
              </a:buClr>
              <a:buSzPts val="950"/>
              <a:buFont typeface="Quattrocento Sans"/>
              <a:buNone/>
            </a:pPr>
            <a:r>
              <a:rPr lang="en-US" sz="1050">
                <a:solidFill>
                  <a:srgbClr val="27303F"/>
                </a:solidFill>
                <a:latin typeface="Quattrocento Sans"/>
                <a:ea typeface="Quattrocento Sans"/>
                <a:cs typeface="Quattrocento Sans"/>
                <a:sym typeface="Quattrocento Sans"/>
              </a:rPr>
              <a:t>COOP CHs and Duration</a:t>
            </a:r>
            <a:endParaRPr sz="1050">
              <a:solidFill>
                <a:schemeClr val="dk1"/>
              </a:solidFill>
              <a:latin typeface="Calibri"/>
              <a:ea typeface="Calibri"/>
              <a:cs typeface="Calibri"/>
              <a:sym typeface="Calibri"/>
            </a:endParaRPr>
          </a:p>
        </p:txBody>
      </p:sp>
      <p:sp>
        <p:nvSpPr>
          <p:cNvPr id="145" name="Google Shape;145;p1"/>
          <p:cNvSpPr/>
          <p:nvPr/>
        </p:nvSpPr>
        <p:spPr>
          <a:xfrm>
            <a:off x="4032504" y="5102352"/>
            <a:ext cx="1188720" cy="23317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7303F"/>
              </a:buClr>
              <a:buSzPts val="950"/>
              <a:buFont typeface="Quattrocento Sans"/>
              <a:buNone/>
            </a:pPr>
            <a:r>
              <a:rPr lang="en-US" sz="1050">
                <a:solidFill>
                  <a:srgbClr val="27303F"/>
                </a:solidFill>
                <a:latin typeface="Quattrocento Sans"/>
                <a:ea typeface="Quattrocento Sans"/>
                <a:cs typeface="Quattrocento Sans"/>
                <a:sym typeface="Quattrocento Sans"/>
              </a:rPr>
              <a:t>10 (7 months)</a:t>
            </a:r>
            <a:endParaRPr sz="1050">
              <a:solidFill>
                <a:schemeClr val="dk1"/>
              </a:solidFill>
              <a:latin typeface="Calibri"/>
              <a:ea typeface="Calibri"/>
              <a:cs typeface="Calibri"/>
              <a:sym typeface="Calibri"/>
            </a:endParaRPr>
          </a:p>
        </p:txBody>
      </p:sp>
      <p:sp>
        <p:nvSpPr>
          <p:cNvPr id="146" name="Google Shape;146;p1"/>
          <p:cNvSpPr/>
          <p:nvPr/>
        </p:nvSpPr>
        <p:spPr>
          <a:xfrm>
            <a:off x="5330952" y="5102352"/>
            <a:ext cx="1188720" cy="23317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7303F"/>
              </a:buClr>
              <a:buSzPts val="950"/>
              <a:buFont typeface="Quattrocento Sans"/>
              <a:buNone/>
            </a:pPr>
            <a:r>
              <a:rPr lang="en-US" sz="1050">
                <a:solidFill>
                  <a:srgbClr val="27303F"/>
                </a:solidFill>
                <a:latin typeface="Quattrocento Sans"/>
                <a:ea typeface="Quattrocento Sans"/>
                <a:cs typeface="Quattrocento Sans"/>
                <a:sym typeface="Quattrocento Sans"/>
              </a:rPr>
              <a:t>0 (8 weeks)</a:t>
            </a:r>
            <a:endParaRPr sz="1050">
              <a:solidFill>
                <a:schemeClr val="dk1"/>
              </a:solidFill>
              <a:latin typeface="Calibri"/>
              <a:ea typeface="Calibri"/>
              <a:cs typeface="Calibri"/>
              <a:sym typeface="Calibri"/>
            </a:endParaRPr>
          </a:p>
        </p:txBody>
      </p:sp>
      <p:sp>
        <p:nvSpPr>
          <p:cNvPr id="147" name="Google Shape;147;p1"/>
          <p:cNvSpPr/>
          <p:nvPr/>
        </p:nvSpPr>
        <p:spPr>
          <a:xfrm>
            <a:off x="6629400" y="5102352"/>
            <a:ext cx="1188720" cy="23317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7303F"/>
              </a:buClr>
              <a:buSzPts val="950"/>
              <a:buFont typeface="Quattrocento Sans"/>
              <a:buNone/>
            </a:pPr>
            <a:r>
              <a:rPr lang="en-US" sz="1050">
                <a:solidFill>
                  <a:srgbClr val="27303F"/>
                </a:solidFill>
                <a:latin typeface="Quattrocento Sans"/>
                <a:ea typeface="Quattrocento Sans"/>
                <a:cs typeface="Quattrocento Sans"/>
                <a:sym typeface="Quattrocento Sans"/>
              </a:rPr>
              <a:t>Internship option 6 (16 weeks)</a:t>
            </a:r>
            <a:endParaRPr sz="1050">
              <a:solidFill>
                <a:schemeClr val="dk1"/>
              </a:solidFill>
              <a:latin typeface="Calibri"/>
              <a:ea typeface="Calibri"/>
              <a:cs typeface="Calibri"/>
              <a:sym typeface="Calibri"/>
            </a:endParaRPr>
          </a:p>
        </p:txBody>
      </p:sp>
      <p:sp>
        <p:nvSpPr>
          <p:cNvPr id="148" name="Google Shape;148;p1"/>
          <p:cNvSpPr/>
          <p:nvPr/>
        </p:nvSpPr>
        <p:spPr>
          <a:xfrm>
            <a:off x="7927848" y="5102352"/>
            <a:ext cx="1188720" cy="23317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7303F"/>
              </a:buClr>
              <a:buSzPts val="950"/>
              <a:buFont typeface="Quattrocento Sans"/>
              <a:buNone/>
            </a:pPr>
            <a:r>
              <a:rPr lang="en-US" sz="1050">
                <a:solidFill>
                  <a:srgbClr val="27303F"/>
                </a:solidFill>
                <a:latin typeface="Quattrocento Sans"/>
                <a:ea typeface="Quattrocento Sans"/>
                <a:cs typeface="Quattrocento Sans"/>
                <a:sym typeface="Quattrocento Sans"/>
              </a:rPr>
              <a:t>3 (8 weeks)</a:t>
            </a:r>
            <a:endParaRPr sz="1050">
              <a:solidFill>
                <a:schemeClr val="dk1"/>
              </a:solidFill>
              <a:latin typeface="Calibri"/>
              <a:ea typeface="Calibri"/>
              <a:cs typeface="Calibri"/>
              <a:sym typeface="Calibri"/>
            </a:endParaRPr>
          </a:p>
        </p:txBody>
      </p:sp>
      <p:sp>
        <p:nvSpPr>
          <p:cNvPr id="149" name="Google Shape;149;p1"/>
          <p:cNvSpPr/>
          <p:nvPr/>
        </p:nvSpPr>
        <p:spPr>
          <a:xfrm>
            <a:off x="9226296" y="5102352"/>
            <a:ext cx="1188720" cy="23317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7303F"/>
              </a:buClr>
              <a:buSzPts val="950"/>
              <a:buFont typeface="Quattrocento Sans"/>
              <a:buNone/>
            </a:pPr>
            <a:r>
              <a:rPr lang="en-US" sz="1050">
                <a:solidFill>
                  <a:srgbClr val="27303F"/>
                </a:solidFill>
                <a:latin typeface="Quattrocento Sans"/>
                <a:ea typeface="Quattrocento Sans"/>
                <a:cs typeface="Quattrocento Sans"/>
                <a:sym typeface="Quattrocento Sans"/>
              </a:rPr>
              <a:t>1 (10 weeks)</a:t>
            </a:r>
            <a:endParaRPr sz="1050">
              <a:solidFill>
                <a:schemeClr val="dk1"/>
              </a:solidFill>
              <a:latin typeface="Calibri"/>
              <a:ea typeface="Calibri"/>
              <a:cs typeface="Calibri"/>
              <a:sym typeface="Calibri"/>
            </a:endParaRPr>
          </a:p>
        </p:txBody>
      </p:sp>
      <p:sp>
        <p:nvSpPr>
          <p:cNvPr id="150" name="Google Shape;150;p1"/>
          <p:cNvSpPr/>
          <p:nvPr/>
        </p:nvSpPr>
        <p:spPr>
          <a:xfrm>
            <a:off x="10524744" y="5102352"/>
            <a:ext cx="1188600" cy="2331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7303F"/>
              </a:buClr>
              <a:buSzPts val="950"/>
              <a:buFont typeface="Quattrocento Sans"/>
              <a:buNone/>
            </a:pPr>
            <a:r>
              <a:rPr lang="en-US" sz="1050">
                <a:solidFill>
                  <a:srgbClr val="27303F"/>
                </a:solidFill>
                <a:latin typeface="Quattrocento Sans"/>
                <a:ea typeface="Quattrocento Sans"/>
                <a:cs typeface="Quattrocento Sans"/>
                <a:sym typeface="Quattrocento Sans"/>
              </a:rPr>
              <a:t>2 (8 weeks)</a:t>
            </a:r>
            <a:endParaRPr sz="1050">
              <a:solidFill>
                <a:schemeClr val="dk1"/>
              </a:solidFill>
              <a:latin typeface="Calibri"/>
              <a:ea typeface="Calibri"/>
              <a:cs typeface="Calibri"/>
              <a:sym typeface="Calibri"/>
            </a:endParaRPr>
          </a:p>
        </p:txBody>
      </p:sp>
      <p:sp>
        <p:nvSpPr>
          <p:cNvPr id="151" name="Google Shape;151;p1"/>
          <p:cNvSpPr/>
          <p:nvPr/>
        </p:nvSpPr>
        <p:spPr>
          <a:xfrm>
            <a:off x="457200" y="5335524"/>
            <a:ext cx="11311128" cy="233172"/>
          </a:xfrm>
          <a:prstGeom prst="rect">
            <a:avLst/>
          </a:prstGeom>
          <a:solidFill>
            <a:srgbClr val="F4F6FB"/>
          </a:solidFill>
          <a:ln cap="flat" cmpd="sng" w="9525">
            <a:solidFill>
              <a:srgbClr val="DDE3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900">
              <a:solidFill>
                <a:schemeClr val="dk1"/>
              </a:solidFill>
              <a:latin typeface="Calibri"/>
              <a:ea typeface="Calibri"/>
              <a:cs typeface="Calibri"/>
              <a:sym typeface="Calibri"/>
            </a:endParaRPr>
          </a:p>
        </p:txBody>
      </p:sp>
      <p:sp>
        <p:nvSpPr>
          <p:cNvPr id="152" name="Google Shape;152;p1"/>
          <p:cNvSpPr/>
          <p:nvPr/>
        </p:nvSpPr>
        <p:spPr>
          <a:xfrm>
            <a:off x="512064" y="5335524"/>
            <a:ext cx="3410712" cy="2331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7303F"/>
              </a:buClr>
              <a:buSzPts val="950"/>
              <a:buFont typeface="Quattrocento Sans"/>
              <a:buNone/>
            </a:pPr>
            <a:r>
              <a:rPr lang="en-US" sz="1050">
                <a:solidFill>
                  <a:srgbClr val="27303F"/>
                </a:solidFill>
                <a:latin typeface="Quattrocento Sans"/>
                <a:ea typeface="Quattrocento Sans"/>
                <a:cs typeface="Quattrocento Sans"/>
                <a:sym typeface="Quattrocento Sans"/>
              </a:rPr>
              <a:t>Technical ELECs (CHs)</a:t>
            </a:r>
            <a:endParaRPr sz="1050">
              <a:solidFill>
                <a:schemeClr val="dk1"/>
              </a:solidFill>
              <a:latin typeface="Calibri"/>
              <a:ea typeface="Calibri"/>
              <a:cs typeface="Calibri"/>
              <a:sym typeface="Calibri"/>
            </a:endParaRPr>
          </a:p>
        </p:txBody>
      </p:sp>
      <p:sp>
        <p:nvSpPr>
          <p:cNvPr id="153" name="Google Shape;153;p1"/>
          <p:cNvSpPr/>
          <p:nvPr/>
        </p:nvSpPr>
        <p:spPr>
          <a:xfrm>
            <a:off x="4032504" y="5335524"/>
            <a:ext cx="1188720" cy="23317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7303F"/>
              </a:buClr>
              <a:buSzPts val="950"/>
              <a:buFont typeface="Quattrocento Sans"/>
              <a:buNone/>
            </a:pPr>
            <a:r>
              <a:rPr lang="en-US" sz="1050">
                <a:solidFill>
                  <a:srgbClr val="27303F"/>
                </a:solidFill>
                <a:latin typeface="Quattrocento Sans"/>
                <a:ea typeface="Quattrocento Sans"/>
                <a:cs typeface="Quattrocento Sans"/>
                <a:sym typeface="Quattrocento Sans"/>
              </a:rPr>
              <a:t>6</a:t>
            </a:r>
            <a:endParaRPr sz="1050">
              <a:solidFill>
                <a:schemeClr val="dk1"/>
              </a:solidFill>
              <a:latin typeface="Calibri"/>
              <a:ea typeface="Calibri"/>
              <a:cs typeface="Calibri"/>
              <a:sym typeface="Calibri"/>
            </a:endParaRPr>
          </a:p>
        </p:txBody>
      </p:sp>
      <p:sp>
        <p:nvSpPr>
          <p:cNvPr id="154" name="Google Shape;154;p1"/>
          <p:cNvSpPr/>
          <p:nvPr/>
        </p:nvSpPr>
        <p:spPr>
          <a:xfrm>
            <a:off x="5330952" y="5335524"/>
            <a:ext cx="1188720" cy="23317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7303F"/>
              </a:buClr>
              <a:buSzPts val="950"/>
              <a:buFont typeface="Quattrocento Sans"/>
              <a:buNone/>
            </a:pPr>
            <a:r>
              <a:rPr lang="en-US" sz="1050">
                <a:solidFill>
                  <a:srgbClr val="27303F"/>
                </a:solidFill>
                <a:latin typeface="Quattrocento Sans"/>
                <a:ea typeface="Quattrocento Sans"/>
                <a:cs typeface="Quattrocento Sans"/>
                <a:sym typeface="Quattrocento Sans"/>
              </a:rPr>
              <a:t>15</a:t>
            </a:r>
            <a:endParaRPr sz="1050">
              <a:solidFill>
                <a:schemeClr val="dk1"/>
              </a:solidFill>
              <a:latin typeface="Calibri"/>
              <a:ea typeface="Calibri"/>
              <a:cs typeface="Calibri"/>
              <a:sym typeface="Calibri"/>
            </a:endParaRPr>
          </a:p>
        </p:txBody>
      </p:sp>
      <p:sp>
        <p:nvSpPr>
          <p:cNvPr id="155" name="Google Shape;155;p1"/>
          <p:cNvSpPr/>
          <p:nvPr/>
        </p:nvSpPr>
        <p:spPr>
          <a:xfrm>
            <a:off x="6629400" y="5335524"/>
            <a:ext cx="1188720" cy="23317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7303F"/>
              </a:buClr>
              <a:buSzPts val="950"/>
              <a:buFont typeface="Quattrocento Sans"/>
              <a:buNone/>
            </a:pPr>
            <a:r>
              <a:rPr lang="en-US" sz="1050">
                <a:solidFill>
                  <a:srgbClr val="27303F"/>
                </a:solidFill>
                <a:latin typeface="Quattrocento Sans"/>
                <a:ea typeface="Quattrocento Sans"/>
                <a:cs typeface="Quattrocento Sans"/>
                <a:sym typeface="Quattrocento Sans"/>
              </a:rPr>
              <a:t>13</a:t>
            </a:r>
            <a:endParaRPr sz="1050">
              <a:solidFill>
                <a:schemeClr val="dk1"/>
              </a:solidFill>
              <a:latin typeface="Calibri"/>
              <a:ea typeface="Calibri"/>
              <a:cs typeface="Calibri"/>
              <a:sym typeface="Calibri"/>
            </a:endParaRPr>
          </a:p>
        </p:txBody>
      </p:sp>
      <p:sp>
        <p:nvSpPr>
          <p:cNvPr id="156" name="Google Shape;156;p1"/>
          <p:cNvSpPr/>
          <p:nvPr/>
        </p:nvSpPr>
        <p:spPr>
          <a:xfrm>
            <a:off x="7927848" y="5335524"/>
            <a:ext cx="1188720" cy="23317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7303F"/>
              </a:buClr>
              <a:buSzPts val="950"/>
              <a:buFont typeface="Quattrocento Sans"/>
              <a:buNone/>
            </a:pPr>
            <a:r>
              <a:rPr lang="en-US" sz="1050">
                <a:solidFill>
                  <a:srgbClr val="27303F"/>
                </a:solidFill>
                <a:latin typeface="Quattrocento Sans"/>
                <a:ea typeface="Quattrocento Sans"/>
                <a:cs typeface="Quattrocento Sans"/>
                <a:sym typeface="Quattrocento Sans"/>
              </a:rPr>
              <a:t>6</a:t>
            </a:r>
            <a:endParaRPr sz="1050">
              <a:solidFill>
                <a:schemeClr val="dk1"/>
              </a:solidFill>
              <a:latin typeface="Calibri"/>
              <a:ea typeface="Calibri"/>
              <a:cs typeface="Calibri"/>
              <a:sym typeface="Calibri"/>
            </a:endParaRPr>
          </a:p>
        </p:txBody>
      </p:sp>
      <p:sp>
        <p:nvSpPr>
          <p:cNvPr id="157" name="Google Shape;157;p1"/>
          <p:cNvSpPr/>
          <p:nvPr/>
        </p:nvSpPr>
        <p:spPr>
          <a:xfrm>
            <a:off x="9226296" y="5335524"/>
            <a:ext cx="1188720" cy="23317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7303F"/>
              </a:buClr>
              <a:buSzPts val="950"/>
              <a:buFont typeface="Quattrocento Sans"/>
              <a:buNone/>
            </a:pPr>
            <a:r>
              <a:rPr lang="en-US" sz="1050">
                <a:solidFill>
                  <a:srgbClr val="27303F"/>
                </a:solidFill>
                <a:latin typeface="Quattrocento Sans"/>
                <a:ea typeface="Quattrocento Sans"/>
                <a:cs typeface="Quattrocento Sans"/>
                <a:sym typeface="Quattrocento Sans"/>
              </a:rPr>
              <a:t>30</a:t>
            </a:r>
            <a:endParaRPr sz="1050">
              <a:solidFill>
                <a:schemeClr val="dk1"/>
              </a:solidFill>
              <a:latin typeface="Calibri"/>
              <a:ea typeface="Calibri"/>
              <a:cs typeface="Calibri"/>
              <a:sym typeface="Calibri"/>
            </a:endParaRPr>
          </a:p>
        </p:txBody>
      </p:sp>
      <p:sp>
        <p:nvSpPr>
          <p:cNvPr id="158" name="Google Shape;158;p1"/>
          <p:cNvSpPr/>
          <p:nvPr/>
        </p:nvSpPr>
        <p:spPr>
          <a:xfrm>
            <a:off x="10524744" y="5335524"/>
            <a:ext cx="1188720" cy="23317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7303F"/>
              </a:buClr>
              <a:buSzPts val="950"/>
              <a:buFont typeface="Quattrocento Sans"/>
              <a:buNone/>
            </a:pPr>
            <a:r>
              <a:rPr lang="en-US" sz="1050">
                <a:solidFill>
                  <a:srgbClr val="27303F"/>
                </a:solidFill>
                <a:latin typeface="Quattrocento Sans"/>
                <a:ea typeface="Quattrocento Sans"/>
                <a:cs typeface="Quattrocento Sans"/>
                <a:sym typeface="Quattrocento Sans"/>
              </a:rPr>
              <a:t>6</a:t>
            </a:r>
            <a:endParaRPr sz="1050">
              <a:solidFill>
                <a:schemeClr val="dk1"/>
              </a:solidFill>
              <a:latin typeface="Calibri"/>
              <a:ea typeface="Calibri"/>
              <a:cs typeface="Calibri"/>
              <a:sym typeface="Calibri"/>
            </a:endParaRPr>
          </a:p>
        </p:txBody>
      </p:sp>
      <p:sp>
        <p:nvSpPr>
          <p:cNvPr id="159" name="Google Shape;159;p1"/>
          <p:cNvSpPr/>
          <p:nvPr/>
        </p:nvSpPr>
        <p:spPr>
          <a:xfrm>
            <a:off x="457200" y="5568696"/>
            <a:ext cx="11311128" cy="269748"/>
          </a:xfrm>
          <a:prstGeom prst="rect">
            <a:avLst/>
          </a:prstGeom>
          <a:solidFill>
            <a:srgbClr val="D9E2F3"/>
          </a:solidFill>
          <a:ln cap="flat" cmpd="sng" w="9525">
            <a:solidFill>
              <a:srgbClr val="DDE3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900">
              <a:solidFill>
                <a:schemeClr val="dk1"/>
              </a:solidFill>
              <a:latin typeface="Calibri"/>
              <a:ea typeface="Calibri"/>
              <a:cs typeface="Calibri"/>
              <a:sym typeface="Calibri"/>
            </a:endParaRPr>
          </a:p>
        </p:txBody>
      </p:sp>
      <p:sp>
        <p:nvSpPr>
          <p:cNvPr id="160" name="Google Shape;160;p1"/>
          <p:cNvSpPr/>
          <p:nvPr/>
        </p:nvSpPr>
        <p:spPr>
          <a:xfrm>
            <a:off x="512064" y="5568696"/>
            <a:ext cx="3410712" cy="2697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Degree total, preparatory year excluded</a:t>
            </a:r>
            <a:endParaRPr sz="1150">
              <a:solidFill>
                <a:schemeClr val="dk1"/>
              </a:solidFill>
              <a:latin typeface="Calibri"/>
              <a:ea typeface="Calibri"/>
              <a:cs typeface="Calibri"/>
              <a:sym typeface="Calibri"/>
            </a:endParaRPr>
          </a:p>
        </p:txBody>
      </p:sp>
      <p:sp>
        <p:nvSpPr>
          <p:cNvPr id="161" name="Google Shape;161;p1"/>
          <p:cNvSpPr/>
          <p:nvPr/>
        </p:nvSpPr>
        <p:spPr>
          <a:xfrm>
            <a:off x="4032504" y="5568696"/>
            <a:ext cx="1188720" cy="2697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138</a:t>
            </a:r>
            <a:endParaRPr sz="1150">
              <a:solidFill>
                <a:schemeClr val="dk1"/>
              </a:solidFill>
              <a:latin typeface="Calibri"/>
              <a:ea typeface="Calibri"/>
              <a:cs typeface="Calibri"/>
              <a:sym typeface="Calibri"/>
            </a:endParaRPr>
          </a:p>
        </p:txBody>
      </p:sp>
      <p:sp>
        <p:nvSpPr>
          <p:cNvPr id="162" name="Google Shape;162;p1"/>
          <p:cNvSpPr/>
          <p:nvPr/>
        </p:nvSpPr>
        <p:spPr>
          <a:xfrm>
            <a:off x="5330952" y="5568696"/>
            <a:ext cx="1188720" cy="2697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133</a:t>
            </a:r>
            <a:endParaRPr sz="1150">
              <a:solidFill>
                <a:schemeClr val="dk1"/>
              </a:solidFill>
              <a:latin typeface="Calibri"/>
              <a:ea typeface="Calibri"/>
              <a:cs typeface="Calibri"/>
              <a:sym typeface="Calibri"/>
            </a:endParaRPr>
          </a:p>
        </p:txBody>
      </p:sp>
      <p:sp>
        <p:nvSpPr>
          <p:cNvPr id="163" name="Google Shape;163;p1"/>
          <p:cNvSpPr/>
          <p:nvPr/>
        </p:nvSpPr>
        <p:spPr>
          <a:xfrm>
            <a:off x="6629400" y="5568696"/>
            <a:ext cx="1188720" cy="2697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128</a:t>
            </a:r>
            <a:endParaRPr sz="1150">
              <a:solidFill>
                <a:schemeClr val="dk1"/>
              </a:solidFill>
              <a:latin typeface="Calibri"/>
              <a:ea typeface="Calibri"/>
              <a:cs typeface="Calibri"/>
              <a:sym typeface="Calibri"/>
            </a:endParaRPr>
          </a:p>
        </p:txBody>
      </p:sp>
      <p:sp>
        <p:nvSpPr>
          <p:cNvPr id="164" name="Google Shape;164;p1"/>
          <p:cNvSpPr/>
          <p:nvPr/>
        </p:nvSpPr>
        <p:spPr>
          <a:xfrm>
            <a:off x="7927848" y="5568696"/>
            <a:ext cx="1188720" cy="2697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139</a:t>
            </a:r>
            <a:endParaRPr sz="1150">
              <a:solidFill>
                <a:schemeClr val="dk1"/>
              </a:solidFill>
              <a:latin typeface="Calibri"/>
              <a:ea typeface="Calibri"/>
              <a:cs typeface="Calibri"/>
              <a:sym typeface="Calibri"/>
            </a:endParaRPr>
          </a:p>
        </p:txBody>
      </p:sp>
      <p:sp>
        <p:nvSpPr>
          <p:cNvPr id="165" name="Google Shape;165;p1"/>
          <p:cNvSpPr/>
          <p:nvPr/>
        </p:nvSpPr>
        <p:spPr>
          <a:xfrm>
            <a:off x="9226296" y="5568696"/>
            <a:ext cx="1188720" cy="2697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133</a:t>
            </a:r>
            <a:endParaRPr sz="1150">
              <a:solidFill>
                <a:schemeClr val="dk1"/>
              </a:solidFill>
              <a:latin typeface="Calibri"/>
              <a:ea typeface="Calibri"/>
              <a:cs typeface="Calibri"/>
              <a:sym typeface="Calibri"/>
            </a:endParaRPr>
          </a:p>
        </p:txBody>
      </p:sp>
      <p:sp>
        <p:nvSpPr>
          <p:cNvPr id="166" name="Google Shape;166;p1"/>
          <p:cNvSpPr/>
          <p:nvPr/>
        </p:nvSpPr>
        <p:spPr>
          <a:xfrm>
            <a:off x="10524744" y="5568696"/>
            <a:ext cx="1188720" cy="2697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3864"/>
              </a:buClr>
              <a:buSzPts val="1050"/>
              <a:buFont typeface="Quattrocento Sans"/>
              <a:buNone/>
            </a:pPr>
            <a:r>
              <a:rPr b="1" lang="en-US" sz="1150">
                <a:solidFill>
                  <a:srgbClr val="1F3864"/>
                </a:solidFill>
                <a:latin typeface="Quattrocento Sans"/>
                <a:ea typeface="Quattrocento Sans"/>
                <a:cs typeface="Quattrocento Sans"/>
                <a:sym typeface="Quattrocento Sans"/>
              </a:rPr>
              <a:t>130</a:t>
            </a:r>
            <a:endParaRPr sz="115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1" name="Shape 171"/>
        <p:cNvGrpSpPr/>
        <p:nvPr/>
      </p:nvGrpSpPr>
      <p:grpSpPr>
        <a:xfrm>
          <a:off x="0" y="0"/>
          <a:ext cx="0" cy="0"/>
          <a:chOff x="0" y="0"/>
          <a:chExt cx="0" cy="0"/>
        </a:xfrm>
      </p:grpSpPr>
      <p:sp>
        <p:nvSpPr>
          <p:cNvPr id="172" name="Google Shape;172;p2"/>
          <p:cNvSpPr/>
          <p:nvPr/>
        </p:nvSpPr>
        <p:spPr>
          <a:xfrm>
            <a:off x="457200" y="1133856"/>
            <a:ext cx="11338560" cy="384048"/>
          </a:xfrm>
          <a:prstGeom prst="rect">
            <a:avLst/>
          </a:prstGeom>
          <a:solidFill>
            <a:srgbClr val="1F3864"/>
          </a:solidFill>
          <a:ln cap="flat" cmpd="sng" w="9525">
            <a:solidFill>
              <a:srgbClr val="1F386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900" u="none" cap="none" strike="noStrike">
              <a:solidFill>
                <a:srgbClr val="000000"/>
              </a:solidFill>
              <a:latin typeface="Calibri"/>
              <a:ea typeface="Calibri"/>
              <a:cs typeface="Calibri"/>
              <a:sym typeface="Calibri"/>
            </a:endParaRPr>
          </a:p>
        </p:txBody>
      </p:sp>
      <p:sp>
        <p:nvSpPr>
          <p:cNvPr id="173" name="Google Shape;173;p2"/>
          <p:cNvSpPr/>
          <p:nvPr/>
        </p:nvSpPr>
        <p:spPr>
          <a:xfrm>
            <a:off x="4443984" y="1133856"/>
            <a:ext cx="1371600"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Quattrocento Sans"/>
              <a:buNone/>
            </a:pPr>
            <a:r>
              <a:rPr b="1" i="0" lang="en-US" sz="1300" u="none" cap="none" strike="noStrike">
                <a:solidFill>
                  <a:srgbClr val="FFFFFF"/>
                </a:solidFill>
                <a:latin typeface="Quattrocento Sans"/>
                <a:ea typeface="Quattrocento Sans"/>
                <a:cs typeface="Quattrocento Sans"/>
                <a:sym typeface="Quattrocento Sans"/>
              </a:rPr>
              <a:t>PSU</a:t>
            </a:r>
            <a:endParaRPr b="0" i="0" sz="1300" u="none" cap="none" strike="noStrike">
              <a:solidFill>
                <a:srgbClr val="000000"/>
              </a:solidFill>
              <a:latin typeface="Calibri"/>
              <a:ea typeface="Calibri"/>
              <a:cs typeface="Calibri"/>
              <a:sym typeface="Calibri"/>
            </a:endParaRPr>
          </a:p>
        </p:txBody>
      </p:sp>
      <p:sp>
        <p:nvSpPr>
          <p:cNvPr id="174" name="Google Shape;174;p2"/>
          <p:cNvSpPr/>
          <p:nvPr/>
        </p:nvSpPr>
        <p:spPr>
          <a:xfrm>
            <a:off x="5925312" y="1133856"/>
            <a:ext cx="1371600"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Quattrocento Sans"/>
              <a:buNone/>
            </a:pPr>
            <a:r>
              <a:rPr b="1" i="0" lang="en-US" sz="1300" u="sng" cap="none" strike="noStrike">
                <a:solidFill>
                  <a:schemeClr val="hlink"/>
                </a:solidFill>
                <a:latin typeface="Quattrocento Sans"/>
                <a:ea typeface="Quattrocento Sans"/>
                <a:cs typeface="Quattrocento Sans"/>
                <a:sym typeface="Quattrocento Sans"/>
                <a:hlinkClick r:id="rId3"/>
              </a:rPr>
              <a:t>Berkeley</a:t>
            </a:r>
            <a:endParaRPr b="0" i="0" sz="1300" u="none" cap="none" strike="noStrike">
              <a:solidFill>
                <a:srgbClr val="000000"/>
              </a:solidFill>
              <a:latin typeface="Calibri"/>
              <a:ea typeface="Calibri"/>
              <a:cs typeface="Calibri"/>
              <a:sym typeface="Calibri"/>
            </a:endParaRPr>
          </a:p>
        </p:txBody>
      </p:sp>
      <p:sp>
        <p:nvSpPr>
          <p:cNvPr id="175" name="Google Shape;175;p2"/>
          <p:cNvSpPr/>
          <p:nvPr/>
        </p:nvSpPr>
        <p:spPr>
          <a:xfrm>
            <a:off x="7406640" y="1133856"/>
            <a:ext cx="1371600"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Quattrocento Sans"/>
              <a:buNone/>
            </a:pPr>
            <a:r>
              <a:rPr b="1" i="0" lang="en-US" sz="1300" u="sng" cap="none" strike="noStrike">
                <a:solidFill>
                  <a:schemeClr val="hlink"/>
                </a:solidFill>
                <a:latin typeface="Quattrocento Sans"/>
                <a:ea typeface="Quattrocento Sans"/>
                <a:cs typeface="Quattrocento Sans"/>
                <a:sym typeface="Quattrocento Sans"/>
                <a:hlinkClick r:id="rId4"/>
              </a:rPr>
              <a:t>Cornell</a:t>
            </a:r>
            <a:endParaRPr b="0" i="0" sz="1300" u="none" cap="none" strike="noStrike">
              <a:solidFill>
                <a:srgbClr val="000000"/>
              </a:solidFill>
              <a:latin typeface="Calibri"/>
              <a:ea typeface="Calibri"/>
              <a:cs typeface="Calibri"/>
              <a:sym typeface="Calibri"/>
            </a:endParaRPr>
          </a:p>
        </p:txBody>
      </p:sp>
      <p:sp>
        <p:nvSpPr>
          <p:cNvPr id="176" name="Google Shape;176;p2"/>
          <p:cNvSpPr/>
          <p:nvPr/>
        </p:nvSpPr>
        <p:spPr>
          <a:xfrm>
            <a:off x="8887968" y="1133856"/>
            <a:ext cx="1371600"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Quattrocento Sans"/>
              <a:buNone/>
            </a:pPr>
            <a:r>
              <a:rPr b="1" i="0" lang="en-US" sz="1300" u="sng" cap="none" strike="noStrike">
                <a:solidFill>
                  <a:schemeClr val="hlink"/>
                </a:solidFill>
                <a:latin typeface="Quattrocento Sans"/>
                <a:ea typeface="Quattrocento Sans"/>
                <a:cs typeface="Quattrocento Sans"/>
                <a:sym typeface="Quattrocento Sans"/>
                <a:hlinkClick r:id="rId5"/>
              </a:rPr>
              <a:t>Michigan</a:t>
            </a:r>
            <a:endParaRPr b="0" i="0" sz="1300" u="none" cap="none" strike="noStrike">
              <a:solidFill>
                <a:srgbClr val="000000"/>
              </a:solidFill>
              <a:latin typeface="Calibri"/>
              <a:ea typeface="Calibri"/>
              <a:cs typeface="Calibri"/>
              <a:sym typeface="Calibri"/>
            </a:endParaRPr>
          </a:p>
        </p:txBody>
      </p:sp>
      <p:sp>
        <p:nvSpPr>
          <p:cNvPr id="177" name="Google Shape;177;p2"/>
          <p:cNvSpPr/>
          <p:nvPr/>
        </p:nvSpPr>
        <p:spPr>
          <a:xfrm>
            <a:off x="10369296" y="1133856"/>
            <a:ext cx="1371600"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Quattrocento Sans"/>
              <a:buNone/>
            </a:pPr>
            <a:r>
              <a:rPr b="1" i="0" lang="en-US" sz="1300" u="sng" cap="none" strike="noStrike">
                <a:solidFill>
                  <a:schemeClr val="hlink"/>
                </a:solidFill>
                <a:latin typeface="Quattrocento Sans"/>
                <a:ea typeface="Quattrocento Sans"/>
                <a:cs typeface="Quattrocento Sans"/>
                <a:sym typeface="Quattrocento Sans"/>
                <a:hlinkClick r:id="rId6"/>
              </a:rPr>
              <a:t>Illinois</a:t>
            </a:r>
            <a:endParaRPr b="0" i="0" sz="1300" u="none" cap="none" strike="noStrike">
              <a:solidFill>
                <a:srgbClr val="000000"/>
              </a:solidFill>
              <a:latin typeface="Calibri"/>
              <a:ea typeface="Calibri"/>
              <a:cs typeface="Calibri"/>
              <a:sym typeface="Calibri"/>
            </a:endParaRPr>
          </a:p>
        </p:txBody>
      </p:sp>
      <p:sp>
        <p:nvSpPr>
          <p:cNvPr id="178" name="Google Shape;178;p2"/>
          <p:cNvSpPr/>
          <p:nvPr/>
        </p:nvSpPr>
        <p:spPr>
          <a:xfrm>
            <a:off x="457200" y="1517904"/>
            <a:ext cx="11338560" cy="402336"/>
          </a:xfrm>
          <a:prstGeom prst="rect">
            <a:avLst/>
          </a:prstGeom>
          <a:solidFill>
            <a:srgbClr val="EEF2FA"/>
          </a:solidFill>
          <a:ln cap="flat" cmpd="sng" w="9525">
            <a:solidFill>
              <a:srgbClr val="DDE3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900" u="none" cap="none" strike="noStrike">
              <a:solidFill>
                <a:srgbClr val="000000"/>
              </a:solidFill>
              <a:latin typeface="Calibri"/>
              <a:ea typeface="Calibri"/>
              <a:cs typeface="Calibri"/>
              <a:sym typeface="Calibri"/>
            </a:endParaRPr>
          </a:p>
        </p:txBody>
      </p:sp>
      <p:sp>
        <p:nvSpPr>
          <p:cNvPr id="179" name="Google Shape;179;p2"/>
          <p:cNvSpPr/>
          <p:nvPr/>
        </p:nvSpPr>
        <p:spPr>
          <a:xfrm>
            <a:off x="512064" y="1517904"/>
            <a:ext cx="3822192" cy="402336"/>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1F3864"/>
              </a:buClr>
              <a:buSzPts val="1200"/>
              <a:buFont typeface="Quattrocento Sans"/>
              <a:buNone/>
            </a:pPr>
            <a:r>
              <a:rPr b="1" i="0" lang="en-US" sz="1300" u="none" cap="none" strike="noStrike">
                <a:solidFill>
                  <a:srgbClr val="1F3864"/>
                </a:solidFill>
                <a:latin typeface="Quattrocento Sans"/>
                <a:ea typeface="Quattrocento Sans"/>
                <a:cs typeface="Quattrocento Sans"/>
                <a:sym typeface="Quattrocento Sans"/>
              </a:rPr>
              <a:t>University-level block (credits)</a:t>
            </a:r>
            <a:endParaRPr b="0" i="0" sz="1300" u="none" cap="none" strike="noStrike">
              <a:solidFill>
                <a:srgbClr val="000000"/>
              </a:solidFill>
              <a:latin typeface="Calibri"/>
              <a:ea typeface="Calibri"/>
              <a:cs typeface="Calibri"/>
              <a:sym typeface="Calibri"/>
            </a:endParaRPr>
          </a:p>
        </p:txBody>
      </p:sp>
      <p:sp>
        <p:nvSpPr>
          <p:cNvPr id="180" name="Google Shape;180;p2"/>
          <p:cNvSpPr/>
          <p:nvPr/>
        </p:nvSpPr>
        <p:spPr>
          <a:xfrm>
            <a:off x="4443984" y="1517904"/>
            <a:ext cx="1371600" cy="402336"/>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1F3864"/>
              </a:buClr>
              <a:buSzPts val="1200"/>
              <a:buFont typeface="Quattrocento Sans"/>
              <a:buNone/>
            </a:pPr>
            <a:r>
              <a:rPr b="1" i="0" lang="en-US" sz="1300" u="none" cap="none" strike="noStrike">
                <a:solidFill>
                  <a:srgbClr val="1F3864"/>
                </a:solidFill>
                <a:latin typeface="Quattrocento Sans"/>
                <a:ea typeface="Quattrocento Sans"/>
                <a:cs typeface="Quattrocento Sans"/>
                <a:sym typeface="Quattrocento Sans"/>
              </a:rPr>
              <a:t>23</a:t>
            </a:r>
            <a:endParaRPr b="0" i="0" sz="1300" u="none" cap="none" strike="noStrike">
              <a:solidFill>
                <a:srgbClr val="000000"/>
              </a:solidFill>
              <a:latin typeface="Calibri"/>
              <a:ea typeface="Calibri"/>
              <a:cs typeface="Calibri"/>
              <a:sym typeface="Calibri"/>
            </a:endParaRPr>
          </a:p>
        </p:txBody>
      </p:sp>
      <p:sp>
        <p:nvSpPr>
          <p:cNvPr id="181" name="Google Shape;181;p2"/>
          <p:cNvSpPr/>
          <p:nvPr/>
        </p:nvSpPr>
        <p:spPr>
          <a:xfrm>
            <a:off x="5925312" y="1517904"/>
            <a:ext cx="1371600" cy="402336"/>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1F3864"/>
              </a:buClr>
              <a:buSzPts val="1200"/>
              <a:buFont typeface="Quattrocento Sans"/>
              <a:buNone/>
            </a:pPr>
            <a:r>
              <a:rPr b="1" i="0" lang="en-US" sz="1300" u="sng" cap="none" strike="noStrike">
                <a:solidFill>
                  <a:schemeClr val="hlink"/>
                </a:solidFill>
                <a:latin typeface="Quattrocento Sans"/>
                <a:ea typeface="Quattrocento Sans"/>
                <a:cs typeface="Quattrocento Sans"/>
                <a:sym typeface="Quattrocento Sans"/>
                <a:hlinkClick r:id="rId7"/>
              </a:rPr>
              <a:t>18</a:t>
            </a:r>
            <a:endParaRPr b="0" i="0" sz="1300" u="none" cap="none" strike="noStrike">
              <a:solidFill>
                <a:srgbClr val="000000"/>
              </a:solidFill>
              <a:latin typeface="Calibri"/>
              <a:ea typeface="Calibri"/>
              <a:cs typeface="Calibri"/>
              <a:sym typeface="Calibri"/>
            </a:endParaRPr>
          </a:p>
        </p:txBody>
      </p:sp>
      <p:sp>
        <p:nvSpPr>
          <p:cNvPr id="182" name="Google Shape;182;p2"/>
          <p:cNvSpPr/>
          <p:nvPr/>
        </p:nvSpPr>
        <p:spPr>
          <a:xfrm>
            <a:off x="7406640" y="1517904"/>
            <a:ext cx="1371600" cy="402336"/>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1F3864"/>
              </a:buClr>
              <a:buSzPts val="1200"/>
              <a:buFont typeface="Quattrocento Sans"/>
              <a:buNone/>
            </a:pPr>
            <a:r>
              <a:rPr b="1" i="0" lang="en-US" sz="1300" u="none" cap="none" strike="noStrike">
                <a:solidFill>
                  <a:srgbClr val="1F3864"/>
                </a:solidFill>
                <a:latin typeface="Quattrocento Sans"/>
                <a:ea typeface="Quattrocento Sans"/>
                <a:cs typeface="Quattrocento Sans"/>
                <a:sym typeface="Quattrocento Sans"/>
              </a:rPr>
              <a:t>24</a:t>
            </a:r>
            <a:endParaRPr b="0" i="0" sz="1300" u="none" cap="none" strike="noStrike">
              <a:solidFill>
                <a:srgbClr val="000000"/>
              </a:solidFill>
              <a:latin typeface="Calibri"/>
              <a:ea typeface="Calibri"/>
              <a:cs typeface="Calibri"/>
              <a:sym typeface="Calibri"/>
            </a:endParaRPr>
          </a:p>
        </p:txBody>
      </p:sp>
      <p:sp>
        <p:nvSpPr>
          <p:cNvPr id="183" name="Google Shape;183;p2"/>
          <p:cNvSpPr/>
          <p:nvPr/>
        </p:nvSpPr>
        <p:spPr>
          <a:xfrm>
            <a:off x="8887968" y="1517904"/>
            <a:ext cx="1371600" cy="402336"/>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1F3864"/>
              </a:buClr>
              <a:buSzPts val="1200"/>
              <a:buFont typeface="Quattrocento Sans"/>
              <a:buNone/>
            </a:pPr>
            <a:r>
              <a:rPr b="1" i="0" lang="en-US" sz="1300" u="none" cap="none" strike="noStrike">
                <a:solidFill>
                  <a:srgbClr val="1F3864"/>
                </a:solidFill>
                <a:latin typeface="Quattrocento Sans"/>
                <a:ea typeface="Quattrocento Sans"/>
                <a:cs typeface="Quattrocento Sans"/>
                <a:sym typeface="Quattrocento Sans"/>
              </a:rPr>
              <a:t>16</a:t>
            </a:r>
            <a:endParaRPr b="0" i="0" sz="1300" u="none" cap="none" strike="noStrike">
              <a:solidFill>
                <a:srgbClr val="000000"/>
              </a:solidFill>
              <a:latin typeface="Calibri"/>
              <a:ea typeface="Calibri"/>
              <a:cs typeface="Calibri"/>
              <a:sym typeface="Calibri"/>
            </a:endParaRPr>
          </a:p>
        </p:txBody>
      </p:sp>
      <p:sp>
        <p:nvSpPr>
          <p:cNvPr id="184" name="Google Shape;184;p2"/>
          <p:cNvSpPr/>
          <p:nvPr/>
        </p:nvSpPr>
        <p:spPr>
          <a:xfrm>
            <a:off x="10369296" y="1517904"/>
            <a:ext cx="1371600" cy="402336"/>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1F3864"/>
              </a:buClr>
              <a:buSzPts val="1200"/>
              <a:buFont typeface="Quattrocento Sans"/>
              <a:buNone/>
            </a:pPr>
            <a:r>
              <a:rPr b="1" i="0" lang="en-US" sz="1300" u="none" cap="none" strike="noStrike">
                <a:solidFill>
                  <a:srgbClr val="1F3864"/>
                </a:solidFill>
                <a:latin typeface="Quattrocento Sans"/>
                <a:ea typeface="Quattrocento Sans"/>
                <a:cs typeface="Quattrocento Sans"/>
                <a:sym typeface="Quattrocento Sans"/>
              </a:rPr>
              <a:t>16</a:t>
            </a:r>
            <a:endParaRPr b="0" i="0" sz="1300" u="none" cap="none" strike="noStrike">
              <a:solidFill>
                <a:srgbClr val="000000"/>
              </a:solidFill>
              <a:latin typeface="Calibri"/>
              <a:ea typeface="Calibri"/>
              <a:cs typeface="Calibri"/>
              <a:sym typeface="Calibri"/>
            </a:endParaRPr>
          </a:p>
        </p:txBody>
      </p:sp>
      <p:sp>
        <p:nvSpPr>
          <p:cNvPr id="185" name="Google Shape;185;p2"/>
          <p:cNvSpPr/>
          <p:nvPr/>
        </p:nvSpPr>
        <p:spPr>
          <a:xfrm>
            <a:off x="457200" y="1920240"/>
            <a:ext cx="11338560" cy="292608"/>
          </a:xfrm>
          <a:prstGeom prst="rect">
            <a:avLst/>
          </a:prstGeom>
          <a:solidFill>
            <a:srgbClr val="FFFFFF"/>
          </a:solidFill>
          <a:ln cap="flat" cmpd="sng" w="9525">
            <a:solidFill>
              <a:srgbClr val="DDE3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900" u="none" cap="none" strike="noStrike">
              <a:solidFill>
                <a:srgbClr val="000000"/>
              </a:solidFill>
              <a:latin typeface="Calibri"/>
              <a:ea typeface="Calibri"/>
              <a:cs typeface="Calibri"/>
              <a:sym typeface="Calibri"/>
            </a:endParaRPr>
          </a:p>
        </p:txBody>
      </p:sp>
      <p:sp>
        <p:nvSpPr>
          <p:cNvPr id="186" name="Google Shape;186;p2"/>
          <p:cNvSpPr/>
          <p:nvPr/>
        </p:nvSpPr>
        <p:spPr>
          <a:xfrm>
            <a:off x="4443984" y="1920240"/>
            <a:ext cx="1371600" cy="292608"/>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7B8798"/>
              </a:buClr>
              <a:buSzPts val="720"/>
              <a:buFont typeface="Quattrocento Sans"/>
              <a:buNone/>
            </a:pPr>
            <a:r>
              <a:rPr b="0" i="0" lang="en-US" sz="820" u="none" cap="none" strike="noStrike">
                <a:solidFill>
                  <a:srgbClr val="7B8798"/>
                </a:solidFill>
                <a:latin typeface="Quattrocento Sans"/>
                <a:ea typeface="Quattrocento Sans"/>
                <a:cs typeface="Quattrocento Sans"/>
                <a:sym typeface="Quattrocento Sans"/>
              </a:rPr>
              <a:t>Arabic, Islamic studies, English, psychology</a:t>
            </a:r>
            <a:endParaRPr b="0" i="0" sz="820" u="none" cap="none" strike="noStrike">
              <a:solidFill>
                <a:srgbClr val="000000"/>
              </a:solidFill>
              <a:latin typeface="Calibri"/>
              <a:ea typeface="Calibri"/>
              <a:cs typeface="Calibri"/>
              <a:sym typeface="Calibri"/>
            </a:endParaRPr>
          </a:p>
        </p:txBody>
      </p:sp>
      <p:sp>
        <p:nvSpPr>
          <p:cNvPr id="187" name="Google Shape;187;p2"/>
          <p:cNvSpPr/>
          <p:nvPr/>
        </p:nvSpPr>
        <p:spPr>
          <a:xfrm>
            <a:off x="5925312" y="1920240"/>
            <a:ext cx="1371600" cy="292608"/>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7B8798"/>
              </a:buClr>
              <a:buSzPts val="720"/>
              <a:buFont typeface="Quattrocento Sans"/>
              <a:buNone/>
            </a:pPr>
            <a:r>
              <a:rPr b="0" i="0" lang="en-US" sz="820" u="none" cap="none" strike="noStrike">
                <a:solidFill>
                  <a:srgbClr val="7B8798"/>
                </a:solidFill>
                <a:latin typeface="Quattrocento Sans"/>
                <a:ea typeface="Quattrocento Sans"/>
                <a:cs typeface="Quattrocento Sans"/>
                <a:sym typeface="Quattrocento Sans"/>
              </a:rPr>
              <a:t>6 H/SS courses incl. 2 Reading &amp; Composition</a:t>
            </a:r>
            <a:endParaRPr b="0" i="0" sz="820" u="none" cap="none" strike="noStrike">
              <a:solidFill>
                <a:srgbClr val="000000"/>
              </a:solidFill>
              <a:latin typeface="Calibri"/>
              <a:ea typeface="Calibri"/>
              <a:cs typeface="Calibri"/>
              <a:sym typeface="Calibri"/>
            </a:endParaRPr>
          </a:p>
        </p:txBody>
      </p:sp>
      <p:sp>
        <p:nvSpPr>
          <p:cNvPr id="188" name="Google Shape;188;p2"/>
          <p:cNvSpPr/>
          <p:nvPr/>
        </p:nvSpPr>
        <p:spPr>
          <a:xfrm>
            <a:off x="7406640" y="1920240"/>
            <a:ext cx="1371600" cy="292608"/>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7B8798"/>
              </a:buClr>
              <a:buSzPts val="720"/>
              <a:buFont typeface="Quattrocento Sans"/>
              <a:buNone/>
            </a:pPr>
            <a:r>
              <a:rPr b="0" i="0" lang="en-US" sz="820" u="none" cap="none" strike="noStrike">
                <a:solidFill>
                  <a:srgbClr val="7B8798"/>
                </a:solidFill>
                <a:latin typeface="Quattrocento Sans"/>
                <a:ea typeface="Quattrocento Sans"/>
                <a:cs typeface="Quattrocento Sans"/>
                <a:sym typeface="Quattrocento Sans"/>
              </a:rPr>
              <a:t>2 first-year writing seminars + liberal studies</a:t>
            </a:r>
            <a:endParaRPr b="0" i="0" sz="820" u="none" cap="none" strike="noStrike">
              <a:solidFill>
                <a:srgbClr val="000000"/>
              </a:solidFill>
              <a:latin typeface="Calibri"/>
              <a:ea typeface="Calibri"/>
              <a:cs typeface="Calibri"/>
              <a:sym typeface="Calibri"/>
            </a:endParaRPr>
          </a:p>
        </p:txBody>
      </p:sp>
      <p:sp>
        <p:nvSpPr>
          <p:cNvPr id="189" name="Google Shape;189;p2"/>
          <p:cNvSpPr/>
          <p:nvPr/>
        </p:nvSpPr>
        <p:spPr>
          <a:xfrm>
            <a:off x="8887968" y="1920240"/>
            <a:ext cx="1371600" cy="292608"/>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7B8798"/>
              </a:buClr>
              <a:buSzPts val="720"/>
              <a:buFont typeface="Quattrocento Sans"/>
              <a:buNone/>
            </a:pPr>
            <a:r>
              <a:rPr b="0" i="0" lang="en-US" sz="820" u="none" cap="none" strike="noStrike">
                <a:solidFill>
                  <a:srgbClr val="7B8798"/>
                </a:solidFill>
                <a:latin typeface="Quattrocento Sans"/>
                <a:ea typeface="Quattrocento Sans"/>
                <a:cs typeface="Quattrocento Sans"/>
                <a:sym typeface="Quattrocento Sans"/>
              </a:rPr>
              <a:t>Intellectual Breadth (humanities / social sci.)</a:t>
            </a:r>
            <a:endParaRPr b="0" i="0" sz="820" u="none" cap="none" strike="noStrike">
              <a:solidFill>
                <a:srgbClr val="000000"/>
              </a:solidFill>
              <a:latin typeface="Calibri"/>
              <a:ea typeface="Calibri"/>
              <a:cs typeface="Calibri"/>
              <a:sym typeface="Calibri"/>
            </a:endParaRPr>
          </a:p>
        </p:txBody>
      </p:sp>
      <p:sp>
        <p:nvSpPr>
          <p:cNvPr id="190" name="Google Shape;190;p2"/>
          <p:cNvSpPr/>
          <p:nvPr/>
        </p:nvSpPr>
        <p:spPr>
          <a:xfrm>
            <a:off x="10369296" y="1920240"/>
            <a:ext cx="1371600" cy="292608"/>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7B8798"/>
              </a:buClr>
              <a:buSzPts val="720"/>
              <a:buFont typeface="Quattrocento Sans"/>
              <a:buNone/>
            </a:pPr>
            <a:r>
              <a:rPr b="0" i="0" lang="en-US" sz="820" u="none" cap="none" strike="noStrike">
                <a:solidFill>
                  <a:srgbClr val="7B8798"/>
                </a:solidFill>
                <a:latin typeface="Quattrocento Sans"/>
                <a:ea typeface="Quattrocento Sans"/>
                <a:cs typeface="Quattrocento Sans"/>
                <a:sym typeface="Quattrocento Sans"/>
              </a:rPr>
              <a:t>Liberal education electives incl. cultural studies</a:t>
            </a:r>
            <a:endParaRPr b="0" i="0" sz="820" u="none" cap="none" strike="noStrike">
              <a:solidFill>
                <a:srgbClr val="000000"/>
              </a:solidFill>
              <a:latin typeface="Calibri"/>
              <a:ea typeface="Calibri"/>
              <a:cs typeface="Calibri"/>
              <a:sym typeface="Calibri"/>
            </a:endParaRPr>
          </a:p>
        </p:txBody>
      </p:sp>
      <p:sp>
        <p:nvSpPr>
          <p:cNvPr id="191" name="Google Shape;191;p2"/>
          <p:cNvSpPr/>
          <p:nvPr/>
        </p:nvSpPr>
        <p:spPr>
          <a:xfrm>
            <a:off x="457200" y="2212848"/>
            <a:ext cx="11338560" cy="402336"/>
          </a:xfrm>
          <a:prstGeom prst="rect">
            <a:avLst/>
          </a:prstGeom>
          <a:solidFill>
            <a:srgbClr val="EEF2FA"/>
          </a:solidFill>
          <a:ln cap="flat" cmpd="sng" w="9525">
            <a:solidFill>
              <a:srgbClr val="DDE3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900" u="none" cap="none" strike="noStrike">
              <a:solidFill>
                <a:srgbClr val="000000"/>
              </a:solidFill>
              <a:latin typeface="Calibri"/>
              <a:ea typeface="Calibri"/>
              <a:cs typeface="Calibri"/>
              <a:sym typeface="Calibri"/>
            </a:endParaRPr>
          </a:p>
        </p:txBody>
      </p:sp>
      <p:sp>
        <p:nvSpPr>
          <p:cNvPr id="192" name="Google Shape;192;p2"/>
          <p:cNvSpPr/>
          <p:nvPr/>
        </p:nvSpPr>
        <p:spPr>
          <a:xfrm>
            <a:off x="512064" y="2212848"/>
            <a:ext cx="3822192" cy="402336"/>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1F3864"/>
              </a:buClr>
              <a:buSzPts val="1200"/>
              <a:buFont typeface="Quattrocento Sans"/>
              <a:buNone/>
            </a:pPr>
            <a:r>
              <a:rPr b="1" i="0" lang="en-US" sz="1300" u="none" cap="none" strike="noStrike">
                <a:solidFill>
                  <a:srgbClr val="1F3864"/>
                </a:solidFill>
                <a:latin typeface="Quattrocento Sans"/>
                <a:ea typeface="Quattrocento Sans"/>
                <a:cs typeface="Quattrocento Sans"/>
                <a:sym typeface="Quattrocento Sans"/>
              </a:rPr>
              <a:t>of which prescribed, named courses</a:t>
            </a:r>
            <a:endParaRPr b="0" i="0" sz="1300" u="none" cap="none" strike="noStrike">
              <a:solidFill>
                <a:srgbClr val="000000"/>
              </a:solidFill>
              <a:latin typeface="Calibri"/>
              <a:ea typeface="Calibri"/>
              <a:cs typeface="Calibri"/>
              <a:sym typeface="Calibri"/>
            </a:endParaRPr>
          </a:p>
        </p:txBody>
      </p:sp>
      <p:sp>
        <p:nvSpPr>
          <p:cNvPr id="193" name="Google Shape;193;p2"/>
          <p:cNvSpPr/>
          <p:nvPr/>
        </p:nvSpPr>
        <p:spPr>
          <a:xfrm>
            <a:off x="4443984" y="2212848"/>
            <a:ext cx="1371600" cy="402336"/>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1F3864"/>
              </a:buClr>
              <a:buSzPts val="1200"/>
              <a:buFont typeface="Quattrocento Sans"/>
              <a:buNone/>
            </a:pPr>
            <a:r>
              <a:rPr b="1" i="0" lang="en-US" sz="1300" u="none" cap="none" strike="noStrike">
                <a:solidFill>
                  <a:srgbClr val="1F3864"/>
                </a:solidFill>
                <a:latin typeface="Quattrocento Sans"/>
                <a:ea typeface="Quattrocento Sans"/>
                <a:cs typeface="Quattrocento Sans"/>
                <a:sym typeface="Quattrocento Sans"/>
              </a:rPr>
              <a:t>23</a:t>
            </a:r>
            <a:endParaRPr b="0" i="0" sz="1300" u="none" cap="none" strike="noStrike">
              <a:solidFill>
                <a:srgbClr val="000000"/>
              </a:solidFill>
              <a:latin typeface="Calibri"/>
              <a:ea typeface="Calibri"/>
              <a:cs typeface="Calibri"/>
              <a:sym typeface="Calibri"/>
            </a:endParaRPr>
          </a:p>
        </p:txBody>
      </p:sp>
      <p:sp>
        <p:nvSpPr>
          <p:cNvPr id="194" name="Google Shape;194;p2"/>
          <p:cNvSpPr/>
          <p:nvPr/>
        </p:nvSpPr>
        <p:spPr>
          <a:xfrm>
            <a:off x="5925312" y="2212848"/>
            <a:ext cx="1371600" cy="402336"/>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1F3864"/>
              </a:buClr>
              <a:buSzPts val="1200"/>
              <a:buFont typeface="Quattrocento Sans"/>
              <a:buNone/>
            </a:pPr>
            <a:r>
              <a:rPr b="1" i="0" lang="en-US" sz="1300" u="none" cap="none" strike="noStrike">
                <a:solidFill>
                  <a:srgbClr val="1F3864"/>
                </a:solidFill>
                <a:latin typeface="Quattrocento Sans"/>
                <a:ea typeface="Quattrocento Sans"/>
                <a:cs typeface="Quattrocento Sans"/>
                <a:sym typeface="Quattrocento Sans"/>
              </a:rPr>
              <a:t>0</a:t>
            </a:r>
            <a:endParaRPr b="0" i="0" sz="1300" u="none" cap="none" strike="noStrike">
              <a:solidFill>
                <a:srgbClr val="000000"/>
              </a:solidFill>
              <a:latin typeface="Calibri"/>
              <a:ea typeface="Calibri"/>
              <a:cs typeface="Calibri"/>
              <a:sym typeface="Calibri"/>
            </a:endParaRPr>
          </a:p>
        </p:txBody>
      </p:sp>
      <p:sp>
        <p:nvSpPr>
          <p:cNvPr id="195" name="Google Shape;195;p2"/>
          <p:cNvSpPr/>
          <p:nvPr/>
        </p:nvSpPr>
        <p:spPr>
          <a:xfrm>
            <a:off x="7406640" y="2212848"/>
            <a:ext cx="1371600" cy="402336"/>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1F3864"/>
              </a:buClr>
              <a:buSzPts val="1200"/>
              <a:buFont typeface="Quattrocento Sans"/>
              <a:buNone/>
            </a:pPr>
            <a:r>
              <a:rPr b="1" i="0" lang="en-US" sz="1300" u="none" cap="none" strike="noStrike">
                <a:solidFill>
                  <a:srgbClr val="1F3864"/>
                </a:solidFill>
                <a:latin typeface="Quattrocento Sans"/>
                <a:ea typeface="Quattrocento Sans"/>
                <a:cs typeface="Quattrocento Sans"/>
                <a:sym typeface="Quattrocento Sans"/>
              </a:rPr>
              <a:t>0</a:t>
            </a:r>
            <a:endParaRPr b="0" i="0" sz="1300" u="none" cap="none" strike="noStrike">
              <a:solidFill>
                <a:srgbClr val="000000"/>
              </a:solidFill>
              <a:latin typeface="Calibri"/>
              <a:ea typeface="Calibri"/>
              <a:cs typeface="Calibri"/>
              <a:sym typeface="Calibri"/>
            </a:endParaRPr>
          </a:p>
        </p:txBody>
      </p:sp>
      <p:sp>
        <p:nvSpPr>
          <p:cNvPr id="196" name="Google Shape;196;p2"/>
          <p:cNvSpPr/>
          <p:nvPr/>
        </p:nvSpPr>
        <p:spPr>
          <a:xfrm>
            <a:off x="8887968" y="2212848"/>
            <a:ext cx="1371600" cy="402336"/>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1F3864"/>
              </a:buClr>
              <a:buSzPts val="1200"/>
              <a:buFont typeface="Quattrocento Sans"/>
              <a:buNone/>
            </a:pPr>
            <a:r>
              <a:rPr b="1" i="0" lang="en-US" sz="1300" u="none" cap="none" strike="noStrike">
                <a:solidFill>
                  <a:srgbClr val="1F3864"/>
                </a:solidFill>
                <a:latin typeface="Quattrocento Sans"/>
                <a:ea typeface="Quattrocento Sans"/>
                <a:cs typeface="Quattrocento Sans"/>
                <a:sym typeface="Quattrocento Sans"/>
              </a:rPr>
              <a:t>0</a:t>
            </a:r>
            <a:endParaRPr b="0" i="0" sz="1300" u="none" cap="none" strike="noStrike">
              <a:solidFill>
                <a:srgbClr val="000000"/>
              </a:solidFill>
              <a:latin typeface="Calibri"/>
              <a:ea typeface="Calibri"/>
              <a:cs typeface="Calibri"/>
              <a:sym typeface="Calibri"/>
            </a:endParaRPr>
          </a:p>
        </p:txBody>
      </p:sp>
      <p:sp>
        <p:nvSpPr>
          <p:cNvPr id="197" name="Google Shape;197;p2"/>
          <p:cNvSpPr/>
          <p:nvPr/>
        </p:nvSpPr>
        <p:spPr>
          <a:xfrm>
            <a:off x="10369296" y="2212848"/>
            <a:ext cx="1371600" cy="402336"/>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1F3864"/>
              </a:buClr>
              <a:buSzPts val="1200"/>
              <a:buFont typeface="Quattrocento Sans"/>
              <a:buNone/>
            </a:pPr>
            <a:r>
              <a:rPr b="1" i="0" lang="en-US" sz="1300" u="none" cap="none" strike="noStrike">
                <a:solidFill>
                  <a:srgbClr val="1F3864"/>
                </a:solidFill>
                <a:latin typeface="Quattrocento Sans"/>
                <a:ea typeface="Quattrocento Sans"/>
                <a:cs typeface="Quattrocento Sans"/>
                <a:sym typeface="Quattrocento Sans"/>
              </a:rPr>
              <a:t>0</a:t>
            </a:r>
            <a:endParaRPr b="0" i="0" sz="1300" u="none" cap="none" strike="noStrike">
              <a:solidFill>
                <a:srgbClr val="000000"/>
              </a:solidFill>
              <a:latin typeface="Calibri"/>
              <a:ea typeface="Calibri"/>
              <a:cs typeface="Calibri"/>
              <a:sym typeface="Calibri"/>
            </a:endParaRPr>
          </a:p>
        </p:txBody>
      </p:sp>
      <p:sp>
        <p:nvSpPr>
          <p:cNvPr id="198" name="Google Shape;198;p2"/>
          <p:cNvSpPr/>
          <p:nvPr/>
        </p:nvSpPr>
        <p:spPr>
          <a:xfrm>
            <a:off x="457200" y="2615184"/>
            <a:ext cx="11338560" cy="402336"/>
          </a:xfrm>
          <a:prstGeom prst="rect">
            <a:avLst/>
          </a:prstGeom>
          <a:solidFill>
            <a:srgbClr val="EEF2FA"/>
          </a:solidFill>
          <a:ln cap="flat" cmpd="sng" w="9525">
            <a:solidFill>
              <a:srgbClr val="DDE3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900" u="none" cap="none" strike="noStrike">
              <a:solidFill>
                <a:srgbClr val="000000"/>
              </a:solidFill>
              <a:latin typeface="Calibri"/>
              <a:ea typeface="Calibri"/>
              <a:cs typeface="Calibri"/>
              <a:sym typeface="Calibri"/>
            </a:endParaRPr>
          </a:p>
        </p:txBody>
      </p:sp>
      <p:sp>
        <p:nvSpPr>
          <p:cNvPr id="199" name="Google Shape;199;p2"/>
          <p:cNvSpPr/>
          <p:nvPr/>
        </p:nvSpPr>
        <p:spPr>
          <a:xfrm>
            <a:off x="512064" y="2615184"/>
            <a:ext cx="3822192" cy="402336"/>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1F3864"/>
              </a:buClr>
              <a:buSzPts val="1200"/>
              <a:buFont typeface="Quattrocento Sans"/>
              <a:buNone/>
            </a:pPr>
            <a:r>
              <a:rPr b="1" i="0" lang="en-US" sz="1300" u="none" cap="none" strike="noStrike">
                <a:solidFill>
                  <a:srgbClr val="1F3864"/>
                </a:solidFill>
                <a:latin typeface="Quattrocento Sans"/>
                <a:ea typeface="Quattrocento Sans"/>
                <a:cs typeface="Quattrocento Sans"/>
                <a:sym typeface="Quattrocento Sans"/>
              </a:rPr>
              <a:t>of which chosen by the student</a:t>
            </a:r>
            <a:endParaRPr b="0" i="0" sz="1300" u="none" cap="none" strike="noStrike">
              <a:solidFill>
                <a:srgbClr val="000000"/>
              </a:solidFill>
              <a:latin typeface="Calibri"/>
              <a:ea typeface="Calibri"/>
              <a:cs typeface="Calibri"/>
              <a:sym typeface="Calibri"/>
            </a:endParaRPr>
          </a:p>
        </p:txBody>
      </p:sp>
      <p:sp>
        <p:nvSpPr>
          <p:cNvPr id="200" name="Google Shape;200;p2"/>
          <p:cNvSpPr/>
          <p:nvPr/>
        </p:nvSpPr>
        <p:spPr>
          <a:xfrm>
            <a:off x="4443984" y="2615184"/>
            <a:ext cx="1371600" cy="402336"/>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1F3864"/>
              </a:buClr>
              <a:buSzPts val="1200"/>
              <a:buFont typeface="Quattrocento Sans"/>
              <a:buNone/>
            </a:pPr>
            <a:r>
              <a:rPr b="1" i="0" lang="en-US" sz="1300" u="none" cap="none" strike="noStrike">
                <a:solidFill>
                  <a:srgbClr val="1F3864"/>
                </a:solidFill>
                <a:latin typeface="Quattrocento Sans"/>
                <a:ea typeface="Quattrocento Sans"/>
                <a:cs typeface="Quattrocento Sans"/>
                <a:sym typeface="Quattrocento Sans"/>
              </a:rPr>
              <a:t>0</a:t>
            </a:r>
            <a:endParaRPr b="0" i="0" sz="1300" u="none" cap="none" strike="noStrike">
              <a:solidFill>
                <a:srgbClr val="000000"/>
              </a:solidFill>
              <a:latin typeface="Calibri"/>
              <a:ea typeface="Calibri"/>
              <a:cs typeface="Calibri"/>
              <a:sym typeface="Calibri"/>
            </a:endParaRPr>
          </a:p>
        </p:txBody>
      </p:sp>
      <p:sp>
        <p:nvSpPr>
          <p:cNvPr id="201" name="Google Shape;201;p2"/>
          <p:cNvSpPr/>
          <p:nvPr/>
        </p:nvSpPr>
        <p:spPr>
          <a:xfrm>
            <a:off x="5925312" y="2615184"/>
            <a:ext cx="1371600" cy="402336"/>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1F3864"/>
              </a:buClr>
              <a:buSzPts val="1200"/>
              <a:buFont typeface="Quattrocento Sans"/>
              <a:buNone/>
            </a:pPr>
            <a:r>
              <a:rPr b="1" i="0" lang="en-US" sz="1300" u="none" cap="none" strike="noStrike">
                <a:solidFill>
                  <a:srgbClr val="1F3864"/>
                </a:solidFill>
                <a:latin typeface="Quattrocento Sans"/>
                <a:ea typeface="Quattrocento Sans"/>
                <a:cs typeface="Quattrocento Sans"/>
                <a:sym typeface="Quattrocento Sans"/>
              </a:rPr>
              <a:t>18</a:t>
            </a:r>
            <a:endParaRPr b="0" i="0" sz="1300" u="none" cap="none" strike="noStrike">
              <a:solidFill>
                <a:srgbClr val="000000"/>
              </a:solidFill>
              <a:latin typeface="Calibri"/>
              <a:ea typeface="Calibri"/>
              <a:cs typeface="Calibri"/>
              <a:sym typeface="Calibri"/>
            </a:endParaRPr>
          </a:p>
        </p:txBody>
      </p:sp>
      <p:sp>
        <p:nvSpPr>
          <p:cNvPr id="202" name="Google Shape;202;p2"/>
          <p:cNvSpPr/>
          <p:nvPr/>
        </p:nvSpPr>
        <p:spPr>
          <a:xfrm>
            <a:off x="7406640" y="2615184"/>
            <a:ext cx="1371600" cy="402336"/>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1F3864"/>
              </a:buClr>
              <a:buSzPts val="1200"/>
              <a:buFont typeface="Quattrocento Sans"/>
              <a:buNone/>
            </a:pPr>
            <a:r>
              <a:rPr b="1" i="0" lang="en-US" sz="1300" u="none" cap="none" strike="noStrike">
                <a:solidFill>
                  <a:srgbClr val="1F3864"/>
                </a:solidFill>
                <a:latin typeface="Quattrocento Sans"/>
                <a:ea typeface="Quattrocento Sans"/>
                <a:cs typeface="Quattrocento Sans"/>
                <a:sym typeface="Quattrocento Sans"/>
              </a:rPr>
              <a:t>24</a:t>
            </a:r>
            <a:endParaRPr b="0" i="0" sz="1300" u="none" cap="none" strike="noStrike">
              <a:solidFill>
                <a:srgbClr val="000000"/>
              </a:solidFill>
              <a:latin typeface="Calibri"/>
              <a:ea typeface="Calibri"/>
              <a:cs typeface="Calibri"/>
              <a:sym typeface="Calibri"/>
            </a:endParaRPr>
          </a:p>
        </p:txBody>
      </p:sp>
      <p:sp>
        <p:nvSpPr>
          <p:cNvPr id="203" name="Google Shape;203;p2"/>
          <p:cNvSpPr/>
          <p:nvPr/>
        </p:nvSpPr>
        <p:spPr>
          <a:xfrm>
            <a:off x="8887968" y="2615184"/>
            <a:ext cx="1371600" cy="402336"/>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1F3864"/>
              </a:buClr>
              <a:buSzPts val="1200"/>
              <a:buFont typeface="Quattrocento Sans"/>
              <a:buNone/>
            </a:pPr>
            <a:r>
              <a:rPr b="1" i="0" lang="en-US" sz="1300" u="none" cap="none" strike="noStrike">
                <a:solidFill>
                  <a:srgbClr val="1F3864"/>
                </a:solidFill>
                <a:latin typeface="Quattrocento Sans"/>
                <a:ea typeface="Quattrocento Sans"/>
                <a:cs typeface="Quattrocento Sans"/>
                <a:sym typeface="Quattrocento Sans"/>
              </a:rPr>
              <a:t>16</a:t>
            </a:r>
            <a:endParaRPr b="0" i="0" sz="1300" u="none" cap="none" strike="noStrike">
              <a:solidFill>
                <a:srgbClr val="000000"/>
              </a:solidFill>
              <a:latin typeface="Calibri"/>
              <a:ea typeface="Calibri"/>
              <a:cs typeface="Calibri"/>
              <a:sym typeface="Calibri"/>
            </a:endParaRPr>
          </a:p>
        </p:txBody>
      </p:sp>
      <p:sp>
        <p:nvSpPr>
          <p:cNvPr id="204" name="Google Shape;204;p2"/>
          <p:cNvSpPr/>
          <p:nvPr/>
        </p:nvSpPr>
        <p:spPr>
          <a:xfrm>
            <a:off x="10369296" y="2615184"/>
            <a:ext cx="1371600" cy="402336"/>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1F3864"/>
              </a:buClr>
              <a:buSzPts val="1200"/>
              <a:buFont typeface="Quattrocento Sans"/>
              <a:buNone/>
            </a:pPr>
            <a:r>
              <a:rPr b="1" i="0" lang="en-US" sz="1300" u="none" cap="none" strike="noStrike">
                <a:solidFill>
                  <a:srgbClr val="1F3864"/>
                </a:solidFill>
                <a:latin typeface="Quattrocento Sans"/>
                <a:ea typeface="Quattrocento Sans"/>
                <a:cs typeface="Quattrocento Sans"/>
                <a:sym typeface="Quattrocento Sans"/>
              </a:rPr>
              <a:t>16</a:t>
            </a:r>
            <a:endParaRPr b="0" i="0" sz="1300" u="none" cap="none" strike="noStrike">
              <a:solidFill>
                <a:srgbClr val="000000"/>
              </a:solidFill>
              <a:latin typeface="Calibri"/>
              <a:ea typeface="Calibri"/>
              <a:cs typeface="Calibri"/>
              <a:sym typeface="Calibri"/>
            </a:endParaRPr>
          </a:p>
        </p:txBody>
      </p:sp>
      <p:sp>
        <p:nvSpPr>
          <p:cNvPr id="205" name="Google Shape;205;p2"/>
          <p:cNvSpPr/>
          <p:nvPr/>
        </p:nvSpPr>
        <p:spPr>
          <a:xfrm>
            <a:off x="457200" y="3017520"/>
            <a:ext cx="11338560" cy="438912"/>
          </a:xfrm>
          <a:prstGeom prst="rect">
            <a:avLst/>
          </a:prstGeom>
          <a:solidFill>
            <a:srgbClr val="FDEDE3"/>
          </a:solidFill>
          <a:ln cap="flat" cmpd="sng" w="9525">
            <a:solidFill>
              <a:srgbClr val="DDE3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900" u="none" cap="none" strike="noStrike">
              <a:solidFill>
                <a:srgbClr val="000000"/>
              </a:solidFill>
              <a:latin typeface="Calibri"/>
              <a:ea typeface="Calibri"/>
              <a:cs typeface="Calibri"/>
              <a:sym typeface="Calibri"/>
            </a:endParaRPr>
          </a:p>
        </p:txBody>
      </p:sp>
      <p:sp>
        <p:nvSpPr>
          <p:cNvPr id="206" name="Google Shape;206;p2"/>
          <p:cNvSpPr/>
          <p:nvPr/>
        </p:nvSpPr>
        <p:spPr>
          <a:xfrm>
            <a:off x="512064" y="3017520"/>
            <a:ext cx="3822192" cy="438912"/>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BF5B1B"/>
              </a:buClr>
              <a:buSzPts val="1250"/>
              <a:buFont typeface="Quattrocento Sans"/>
              <a:buNone/>
            </a:pPr>
            <a:r>
              <a:rPr b="1" i="0" lang="en-US" sz="1350" u="none" cap="none" strike="noStrike">
                <a:solidFill>
                  <a:srgbClr val="BF5B1B"/>
                </a:solidFill>
                <a:latin typeface="Quattrocento Sans"/>
                <a:ea typeface="Quattrocento Sans"/>
                <a:cs typeface="Quattrocento Sans"/>
                <a:sym typeface="Quattrocento Sans"/>
              </a:rPr>
              <a:t>SHARE THE STUDENT CHOOSES</a:t>
            </a:r>
            <a:endParaRPr b="0" i="0" sz="1350" u="none" cap="none" strike="noStrike">
              <a:solidFill>
                <a:srgbClr val="000000"/>
              </a:solidFill>
              <a:latin typeface="Calibri"/>
              <a:ea typeface="Calibri"/>
              <a:cs typeface="Calibri"/>
              <a:sym typeface="Calibri"/>
            </a:endParaRPr>
          </a:p>
        </p:txBody>
      </p:sp>
      <p:sp>
        <p:nvSpPr>
          <p:cNvPr id="207" name="Google Shape;207;p2"/>
          <p:cNvSpPr/>
          <p:nvPr/>
        </p:nvSpPr>
        <p:spPr>
          <a:xfrm>
            <a:off x="4443984" y="3017520"/>
            <a:ext cx="1371600" cy="438912"/>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BF5B1B"/>
              </a:buClr>
              <a:buSzPts val="1250"/>
              <a:buFont typeface="Quattrocento Sans"/>
              <a:buNone/>
            </a:pPr>
            <a:r>
              <a:rPr b="1" i="0" lang="en-US" sz="1350" u="none" cap="none" strike="noStrike">
                <a:solidFill>
                  <a:srgbClr val="BF5B1B"/>
                </a:solidFill>
                <a:latin typeface="Quattrocento Sans"/>
                <a:ea typeface="Quattrocento Sans"/>
                <a:cs typeface="Quattrocento Sans"/>
                <a:sym typeface="Quattrocento Sans"/>
              </a:rPr>
              <a:t>0%</a:t>
            </a:r>
            <a:endParaRPr b="0" i="0" sz="1350" u="none" cap="none" strike="noStrike">
              <a:solidFill>
                <a:srgbClr val="000000"/>
              </a:solidFill>
              <a:latin typeface="Calibri"/>
              <a:ea typeface="Calibri"/>
              <a:cs typeface="Calibri"/>
              <a:sym typeface="Calibri"/>
            </a:endParaRPr>
          </a:p>
        </p:txBody>
      </p:sp>
      <p:sp>
        <p:nvSpPr>
          <p:cNvPr id="208" name="Google Shape;208;p2"/>
          <p:cNvSpPr/>
          <p:nvPr/>
        </p:nvSpPr>
        <p:spPr>
          <a:xfrm>
            <a:off x="5925312" y="3017520"/>
            <a:ext cx="1371600" cy="438912"/>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1E7A46"/>
              </a:buClr>
              <a:buSzPts val="1250"/>
              <a:buFont typeface="Quattrocento Sans"/>
              <a:buNone/>
            </a:pPr>
            <a:r>
              <a:rPr b="1" i="0" lang="en-US" sz="1350" u="none" cap="none" strike="noStrike">
                <a:solidFill>
                  <a:srgbClr val="1E7A46"/>
                </a:solidFill>
                <a:latin typeface="Quattrocento Sans"/>
                <a:ea typeface="Quattrocento Sans"/>
                <a:cs typeface="Quattrocento Sans"/>
                <a:sym typeface="Quattrocento Sans"/>
              </a:rPr>
              <a:t>100%</a:t>
            </a:r>
            <a:endParaRPr b="0" i="0" sz="1350" u="none" cap="none" strike="noStrike">
              <a:solidFill>
                <a:srgbClr val="000000"/>
              </a:solidFill>
              <a:latin typeface="Calibri"/>
              <a:ea typeface="Calibri"/>
              <a:cs typeface="Calibri"/>
              <a:sym typeface="Calibri"/>
            </a:endParaRPr>
          </a:p>
        </p:txBody>
      </p:sp>
      <p:sp>
        <p:nvSpPr>
          <p:cNvPr id="209" name="Google Shape;209;p2"/>
          <p:cNvSpPr/>
          <p:nvPr/>
        </p:nvSpPr>
        <p:spPr>
          <a:xfrm>
            <a:off x="7406640" y="3017520"/>
            <a:ext cx="1371600" cy="438912"/>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1E7A46"/>
              </a:buClr>
              <a:buSzPts val="1250"/>
              <a:buFont typeface="Quattrocento Sans"/>
              <a:buNone/>
            </a:pPr>
            <a:r>
              <a:rPr b="1" i="0" lang="en-US" sz="1350" u="none" cap="none" strike="noStrike">
                <a:solidFill>
                  <a:srgbClr val="1E7A46"/>
                </a:solidFill>
                <a:latin typeface="Quattrocento Sans"/>
                <a:ea typeface="Quattrocento Sans"/>
                <a:cs typeface="Quattrocento Sans"/>
                <a:sym typeface="Quattrocento Sans"/>
              </a:rPr>
              <a:t>100%</a:t>
            </a:r>
            <a:endParaRPr b="0" i="0" sz="1350" u="none" cap="none" strike="noStrike">
              <a:solidFill>
                <a:srgbClr val="000000"/>
              </a:solidFill>
              <a:latin typeface="Calibri"/>
              <a:ea typeface="Calibri"/>
              <a:cs typeface="Calibri"/>
              <a:sym typeface="Calibri"/>
            </a:endParaRPr>
          </a:p>
        </p:txBody>
      </p:sp>
      <p:sp>
        <p:nvSpPr>
          <p:cNvPr id="210" name="Google Shape;210;p2"/>
          <p:cNvSpPr/>
          <p:nvPr/>
        </p:nvSpPr>
        <p:spPr>
          <a:xfrm>
            <a:off x="8887968" y="3017520"/>
            <a:ext cx="1371600" cy="438912"/>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1E7A46"/>
              </a:buClr>
              <a:buSzPts val="1250"/>
              <a:buFont typeface="Quattrocento Sans"/>
              <a:buNone/>
            </a:pPr>
            <a:r>
              <a:rPr b="1" i="0" lang="en-US" sz="1350" u="none" cap="none" strike="noStrike">
                <a:solidFill>
                  <a:srgbClr val="1E7A46"/>
                </a:solidFill>
                <a:latin typeface="Quattrocento Sans"/>
                <a:ea typeface="Quattrocento Sans"/>
                <a:cs typeface="Quattrocento Sans"/>
                <a:sym typeface="Quattrocento Sans"/>
              </a:rPr>
              <a:t>100%</a:t>
            </a:r>
            <a:endParaRPr b="0" i="0" sz="1350" u="none" cap="none" strike="noStrike">
              <a:solidFill>
                <a:srgbClr val="000000"/>
              </a:solidFill>
              <a:latin typeface="Calibri"/>
              <a:ea typeface="Calibri"/>
              <a:cs typeface="Calibri"/>
              <a:sym typeface="Calibri"/>
            </a:endParaRPr>
          </a:p>
        </p:txBody>
      </p:sp>
      <p:sp>
        <p:nvSpPr>
          <p:cNvPr id="211" name="Google Shape;211;p2"/>
          <p:cNvSpPr/>
          <p:nvPr/>
        </p:nvSpPr>
        <p:spPr>
          <a:xfrm>
            <a:off x="10369296" y="3017520"/>
            <a:ext cx="1371600" cy="438912"/>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1E7A46"/>
              </a:buClr>
              <a:buSzPts val="1250"/>
              <a:buFont typeface="Quattrocento Sans"/>
              <a:buNone/>
            </a:pPr>
            <a:r>
              <a:rPr b="1" i="0" lang="en-US" sz="1350" u="none" cap="none" strike="noStrike">
                <a:solidFill>
                  <a:srgbClr val="1E7A46"/>
                </a:solidFill>
                <a:latin typeface="Quattrocento Sans"/>
                <a:ea typeface="Quattrocento Sans"/>
                <a:cs typeface="Quattrocento Sans"/>
                <a:sym typeface="Quattrocento Sans"/>
              </a:rPr>
              <a:t>100%</a:t>
            </a:r>
            <a:endParaRPr b="0" i="0" sz="1350" u="none" cap="none" strike="noStrike">
              <a:solidFill>
                <a:srgbClr val="000000"/>
              </a:solidFill>
              <a:latin typeface="Calibri"/>
              <a:ea typeface="Calibri"/>
              <a:cs typeface="Calibri"/>
              <a:sym typeface="Calibri"/>
            </a:endParaRPr>
          </a:p>
        </p:txBody>
      </p:sp>
      <p:sp>
        <p:nvSpPr>
          <p:cNvPr id="212" name="Google Shape;212;p2"/>
          <p:cNvSpPr/>
          <p:nvPr/>
        </p:nvSpPr>
        <p:spPr>
          <a:xfrm>
            <a:off x="457200" y="3456432"/>
            <a:ext cx="11338500" cy="402300"/>
          </a:xfrm>
          <a:prstGeom prst="rect">
            <a:avLst/>
          </a:prstGeom>
          <a:solidFill>
            <a:srgbClr val="EEF2FA"/>
          </a:solidFill>
          <a:ln cap="flat" cmpd="sng" w="9525">
            <a:solidFill>
              <a:srgbClr val="DDE3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900" u="none" cap="none" strike="noStrike">
              <a:solidFill>
                <a:srgbClr val="000000"/>
              </a:solidFill>
              <a:latin typeface="Calibri"/>
              <a:ea typeface="Calibri"/>
              <a:cs typeface="Calibri"/>
              <a:sym typeface="Calibri"/>
            </a:endParaRPr>
          </a:p>
        </p:txBody>
      </p:sp>
      <p:sp>
        <p:nvSpPr>
          <p:cNvPr id="213" name="Google Shape;213;p2"/>
          <p:cNvSpPr/>
          <p:nvPr/>
        </p:nvSpPr>
        <p:spPr>
          <a:xfrm>
            <a:off x="457200" y="4151376"/>
            <a:ext cx="11338560" cy="457200"/>
          </a:xfrm>
          <a:prstGeom prst="rect">
            <a:avLst/>
          </a:prstGeom>
          <a:solidFill>
            <a:srgbClr val="1F3864"/>
          </a:solidFill>
          <a:ln cap="flat" cmpd="sng" w="9525">
            <a:solidFill>
              <a:srgbClr val="DDE3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900" u="none" cap="none" strike="noStrike">
              <a:solidFill>
                <a:srgbClr val="000000"/>
              </a:solidFill>
              <a:latin typeface="Calibri"/>
              <a:ea typeface="Calibri"/>
              <a:cs typeface="Calibri"/>
              <a:sym typeface="Calibri"/>
            </a:endParaRPr>
          </a:p>
        </p:txBody>
      </p:sp>
      <p:sp>
        <p:nvSpPr>
          <p:cNvPr id="214" name="Google Shape;214;p2"/>
          <p:cNvSpPr/>
          <p:nvPr/>
        </p:nvSpPr>
        <p:spPr>
          <a:xfrm>
            <a:off x="512064" y="4151376"/>
            <a:ext cx="3822192" cy="4572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FFFFF"/>
              </a:buClr>
              <a:buSzPts val="1300"/>
              <a:buFont typeface="Quattrocento Sans"/>
              <a:buNone/>
            </a:pPr>
            <a:r>
              <a:rPr b="1" i="0" lang="en-US" u="none" cap="none" strike="noStrike">
                <a:solidFill>
                  <a:srgbClr val="FFFFFF"/>
                </a:solidFill>
                <a:latin typeface="Quattrocento Sans"/>
                <a:ea typeface="Quattrocento Sans"/>
                <a:cs typeface="Quattrocento Sans"/>
                <a:sym typeface="Quattrocento Sans"/>
              </a:rPr>
              <a:t>DEGREE TOTAL (CREDIT HOURS)</a:t>
            </a:r>
            <a:endParaRPr b="0" i="0" u="none" cap="none" strike="noStrike">
              <a:solidFill>
                <a:srgbClr val="000000"/>
              </a:solidFill>
              <a:latin typeface="Calibri"/>
              <a:ea typeface="Calibri"/>
              <a:cs typeface="Calibri"/>
              <a:sym typeface="Calibri"/>
            </a:endParaRPr>
          </a:p>
        </p:txBody>
      </p:sp>
      <p:sp>
        <p:nvSpPr>
          <p:cNvPr id="215" name="Google Shape;215;p2"/>
          <p:cNvSpPr/>
          <p:nvPr/>
        </p:nvSpPr>
        <p:spPr>
          <a:xfrm>
            <a:off x="4443984" y="4151376"/>
            <a:ext cx="1371600" cy="4572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FFFFFF"/>
              </a:buClr>
              <a:buSzPts val="1300"/>
              <a:buFont typeface="Quattrocento Sans"/>
              <a:buNone/>
            </a:pPr>
            <a:r>
              <a:rPr b="1" i="0" lang="en-US" u="none" cap="none" strike="noStrike">
                <a:solidFill>
                  <a:srgbClr val="FFFFFF"/>
                </a:solidFill>
                <a:latin typeface="Quattrocento Sans"/>
                <a:ea typeface="Quattrocento Sans"/>
                <a:cs typeface="Quattrocento Sans"/>
                <a:sym typeface="Quattrocento Sans"/>
              </a:rPr>
              <a:t>138</a:t>
            </a:r>
            <a:endParaRPr b="0" i="0" u="none" cap="none" strike="noStrike">
              <a:solidFill>
                <a:srgbClr val="000000"/>
              </a:solidFill>
              <a:latin typeface="Calibri"/>
              <a:ea typeface="Calibri"/>
              <a:cs typeface="Calibri"/>
              <a:sym typeface="Calibri"/>
            </a:endParaRPr>
          </a:p>
        </p:txBody>
      </p:sp>
      <p:sp>
        <p:nvSpPr>
          <p:cNvPr id="216" name="Google Shape;216;p2"/>
          <p:cNvSpPr/>
          <p:nvPr/>
        </p:nvSpPr>
        <p:spPr>
          <a:xfrm>
            <a:off x="5925312" y="4151376"/>
            <a:ext cx="1371600" cy="4572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FFFFFF"/>
              </a:buClr>
              <a:buSzPts val="1300"/>
              <a:buFont typeface="Quattrocento Sans"/>
              <a:buNone/>
            </a:pPr>
            <a:r>
              <a:rPr b="1" i="0" lang="en-US" u="none" cap="none" strike="noStrike">
                <a:solidFill>
                  <a:srgbClr val="FFFFFF"/>
                </a:solidFill>
                <a:latin typeface="Quattrocento Sans"/>
                <a:ea typeface="Quattrocento Sans"/>
                <a:cs typeface="Quattrocento Sans"/>
                <a:sym typeface="Quattrocento Sans"/>
              </a:rPr>
              <a:t>120</a:t>
            </a:r>
            <a:endParaRPr b="0" i="0" u="none" cap="none" strike="noStrike">
              <a:solidFill>
                <a:srgbClr val="000000"/>
              </a:solidFill>
              <a:latin typeface="Calibri"/>
              <a:ea typeface="Calibri"/>
              <a:cs typeface="Calibri"/>
              <a:sym typeface="Calibri"/>
            </a:endParaRPr>
          </a:p>
        </p:txBody>
      </p:sp>
      <p:sp>
        <p:nvSpPr>
          <p:cNvPr id="217" name="Google Shape;217;p2"/>
          <p:cNvSpPr/>
          <p:nvPr/>
        </p:nvSpPr>
        <p:spPr>
          <a:xfrm>
            <a:off x="7406640" y="4151376"/>
            <a:ext cx="1371600" cy="4572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FFFFFF"/>
              </a:buClr>
              <a:buSzPts val="1300"/>
              <a:buFont typeface="Quattrocento Sans"/>
              <a:buNone/>
            </a:pPr>
            <a:r>
              <a:rPr b="1" i="0" lang="en-US" u="none" cap="none" strike="noStrike">
                <a:solidFill>
                  <a:srgbClr val="FFFFFF"/>
                </a:solidFill>
                <a:latin typeface="Quattrocento Sans"/>
                <a:ea typeface="Quattrocento Sans"/>
                <a:cs typeface="Quattrocento Sans"/>
                <a:sym typeface="Quattrocento Sans"/>
              </a:rPr>
              <a:t>126</a:t>
            </a:r>
            <a:endParaRPr b="0" i="0" u="none" cap="none" strike="noStrike">
              <a:solidFill>
                <a:srgbClr val="000000"/>
              </a:solidFill>
              <a:latin typeface="Calibri"/>
              <a:ea typeface="Calibri"/>
              <a:cs typeface="Calibri"/>
              <a:sym typeface="Calibri"/>
            </a:endParaRPr>
          </a:p>
        </p:txBody>
      </p:sp>
      <p:sp>
        <p:nvSpPr>
          <p:cNvPr id="218" name="Google Shape;218;p2"/>
          <p:cNvSpPr/>
          <p:nvPr/>
        </p:nvSpPr>
        <p:spPr>
          <a:xfrm>
            <a:off x="8887968" y="4151376"/>
            <a:ext cx="1371600" cy="4572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FFFFFF"/>
              </a:buClr>
              <a:buSzPts val="1300"/>
              <a:buFont typeface="Quattrocento Sans"/>
              <a:buNone/>
            </a:pPr>
            <a:r>
              <a:rPr b="1" i="0" lang="en-US" u="none" cap="none" strike="noStrike">
                <a:solidFill>
                  <a:srgbClr val="FFFFFF"/>
                </a:solidFill>
                <a:latin typeface="Quattrocento Sans"/>
                <a:ea typeface="Quattrocento Sans"/>
                <a:cs typeface="Quattrocento Sans"/>
                <a:sym typeface="Quattrocento Sans"/>
              </a:rPr>
              <a:t>128</a:t>
            </a:r>
            <a:endParaRPr b="0" i="0" u="none" cap="none" strike="noStrike">
              <a:solidFill>
                <a:srgbClr val="000000"/>
              </a:solidFill>
              <a:latin typeface="Calibri"/>
              <a:ea typeface="Calibri"/>
              <a:cs typeface="Calibri"/>
              <a:sym typeface="Calibri"/>
            </a:endParaRPr>
          </a:p>
        </p:txBody>
      </p:sp>
      <p:sp>
        <p:nvSpPr>
          <p:cNvPr id="219" name="Google Shape;219;p2"/>
          <p:cNvSpPr/>
          <p:nvPr/>
        </p:nvSpPr>
        <p:spPr>
          <a:xfrm>
            <a:off x="10369296" y="4151376"/>
            <a:ext cx="1371600" cy="4572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FFFFFF"/>
              </a:buClr>
              <a:buSzPts val="1300"/>
              <a:buFont typeface="Quattrocento Sans"/>
              <a:buNone/>
            </a:pPr>
            <a:r>
              <a:rPr b="1" i="0" lang="en-US" u="none" cap="none" strike="noStrike">
                <a:solidFill>
                  <a:srgbClr val="FFFFFF"/>
                </a:solidFill>
                <a:latin typeface="Quattrocento Sans"/>
                <a:ea typeface="Quattrocento Sans"/>
                <a:cs typeface="Quattrocento Sans"/>
                <a:sym typeface="Quattrocento Sans"/>
              </a:rPr>
              <a:t>128</a:t>
            </a:r>
            <a:endParaRPr b="0" i="0" u="none" cap="none" strike="noStrike">
              <a:solidFill>
                <a:srgbClr val="000000"/>
              </a:solidFill>
              <a:latin typeface="Calibri"/>
              <a:ea typeface="Calibri"/>
              <a:cs typeface="Calibri"/>
              <a:sym typeface="Calibri"/>
            </a:endParaRPr>
          </a:p>
        </p:txBody>
      </p:sp>
      <p:sp>
        <p:nvSpPr>
          <p:cNvPr id="220" name="Google Shape;220;p2"/>
          <p:cNvSpPr/>
          <p:nvPr/>
        </p:nvSpPr>
        <p:spPr>
          <a:xfrm>
            <a:off x="481576" y="3419859"/>
            <a:ext cx="3822300" cy="40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864"/>
              </a:buClr>
              <a:buSzPts val="1200"/>
              <a:buFont typeface="Quattrocento Sans"/>
              <a:buNone/>
            </a:pPr>
            <a:r>
              <a:rPr b="1" lang="en-US" sz="1300">
                <a:solidFill>
                  <a:srgbClr val="1F3864"/>
                </a:solidFill>
                <a:latin typeface="Quattrocento Sans"/>
                <a:ea typeface="Quattrocento Sans"/>
                <a:cs typeface="Quattrocento Sans"/>
                <a:sym typeface="Quattrocento Sans"/>
              </a:rPr>
              <a:t>Ranking</a:t>
            </a:r>
            <a:endParaRPr b="0" i="0" sz="1300" u="none" cap="none" strike="noStrike">
              <a:solidFill>
                <a:srgbClr val="000000"/>
              </a:solidFill>
              <a:latin typeface="Calibri"/>
              <a:ea typeface="Calibri"/>
              <a:cs typeface="Calibri"/>
              <a:sym typeface="Calibri"/>
            </a:endParaRPr>
          </a:p>
        </p:txBody>
      </p:sp>
      <p:sp>
        <p:nvSpPr>
          <p:cNvPr id="221" name="Google Shape;221;p2"/>
          <p:cNvSpPr/>
          <p:nvPr/>
        </p:nvSpPr>
        <p:spPr>
          <a:xfrm>
            <a:off x="4413497" y="3419859"/>
            <a:ext cx="13716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864"/>
              </a:buClr>
              <a:buSzPts val="1200"/>
              <a:buFont typeface="Quattrocento Sans"/>
              <a:buNone/>
            </a:pPr>
            <a:r>
              <a:rPr b="1" i="0" lang="en-US" sz="1300" u="none" cap="none" strike="noStrike">
                <a:solidFill>
                  <a:srgbClr val="1F3864"/>
                </a:solidFill>
                <a:latin typeface="Quattrocento Sans"/>
                <a:ea typeface="Quattrocento Sans"/>
                <a:cs typeface="Quattrocento Sans"/>
                <a:sym typeface="Quattrocento Sans"/>
              </a:rPr>
              <a:t>0</a:t>
            </a:r>
            <a:endParaRPr b="0" i="0" sz="1300" u="none" cap="none" strike="noStrike">
              <a:solidFill>
                <a:srgbClr val="000000"/>
              </a:solidFill>
              <a:latin typeface="Calibri"/>
              <a:ea typeface="Calibri"/>
              <a:cs typeface="Calibri"/>
              <a:sym typeface="Calibri"/>
            </a:endParaRPr>
          </a:p>
        </p:txBody>
      </p:sp>
      <p:sp>
        <p:nvSpPr>
          <p:cNvPr id="222" name="Google Shape;222;p2"/>
          <p:cNvSpPr/>
          <p:nvPr/>
        </p:nvSpPr>
        <p:spPr>
          <a:xfrm>
            <a:off x="5894824" y="3419859"/>
            <a:ext cx="13716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864"/>
              </a:buClr>
              <a:buSzPts val="1200"/>
              <a:buFont typeface="Quattrocento Sans"/>
              <a:buNone/>
            </a:pPr>
            <a:r>
              <a:rPr b="1" lang="en-US" sz="1300">
                <a:solidFill>
                  <a:srgbClr val="1F3864"/>
                </a:solidFill>
                <a:latin typeface="Quattrocento Sans"/>
                <a:ea typeface="Quattrocento Sans"/>
                <a:cs typeface="Quattrocento Sans"/>
                <a:sym typeface="Quattrocento Sans"/>
              </a:rPr>
              <a:t>5</a:t>
            </a:r>
            <a:endParaRPr b="0" i="0" sz="1300" u="none" cap="none" strike="noStrike">
              <a:solidFill>
                <a:srgbClr val="000000"/>
              </a:solidFill>
              <a:latin typeface="Calibri"/>
              <a:ea typeface="Calibri"/>
              <a:cs typeface="Calibri"/>
              <a:sym typeface="Calibri"/>
            </a:endParaRPr>
          </a:p>
        </p:txBody>
      </p:sp>
      <p:sp>
        <p:nvSpPr>
          <p:cNvPr id="223" name="Google Shape;223;p2"/>
          <p:cNvSpPr/>
          <p:nvPr/>
        </p:nvSpPr>
        <p:spPr>
          <a:xfrm>
            <a:off x="7376152" y="3419859"/>
            <a:ext cx="13716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864"/>
              </a:buClr>
              <a:buSzPts val="1200"/>
              <a:buFont typeface="Quattrocento Sans"/>
              <a:buNone/>
            </a:pPr>
            <a:r>
              <a:rPr b="1" lang="en-US" sz="1300">
                <a:solidFill>
                  <a:srgbClr val="1F3864"/>
                </a:solidFill>
                <a:latin typeface="Quattrocento Sans"/>
                <a:ea typeface="Quattrocento Sans"/>
                <a:cs typeface="Quattrocento Sans"/>
                <a:sym typeface="Quattrocento Sans"/>
              </a:rPr>
              <a:t>12</a:t>
            </a:r>
            <a:endParaRPr b="0" i="0" sz="1300" u="none" cap="none" strike="noStrike">
              <a:solidFill>
                <a:srgbClr val="000000"/>
              </a:solidFill>
              <a:latin typeface="Calibri"/>
              <a:ea typeface="Calibri"/>
              <a:cs typeface="Calibri"/>
              <a:sym typeface="Calibri"/>
            </a:endParaRPr>
          </a:p>
        </p:txBody>
      </p:sp>
      <p:sp>
        <p:nvSpPr>
          <p:cNvPr id="224" name="Google Shape;224;p2"/>
          <p:cNvSpPr/>
          <p:nvPr/>
        </p:nvSpPr>
        <p:spPr>
          <a:xfrm>
            <a:off x="8857481" y="3419859"/>
            <a:ext cx="13716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864"/>
              </a:buClr>
              <a:buSzPts val="1200"/>
              <a:buFont typeface="Quattrocento Sans"/>
              <a:buNone/>
            </a:pPr>
            <a:r>
              <a:rPr b="1" lang="en-US" sz="1300">
                <a:solidFill>
                  <a:srgbClr val="1F3864"/>
                </a:solidFill>
                <a:latin typeface="Quattrocento Sans"/>
                <a:ea typeface="Quattrocento Sans"/>
                <a:cs typeface="Quattrocento Sans"/>
                <a:sym typeface="Quattrocento Sans"/>
              </a:rPr>
              <a:t>35</a:t>
            </a:r>
            <a:endParaRPr b="0" i="0" sz="1300" u="none" cap="none" strike="noStrike">
              <a:solidFill>
                <a:srgbClr val="000000"/>
              </a:solidFill>
              <a:latin typeface="Calibri"/>
              <a:ea typeface="Calibri"/>
              <a:cs typeface="Calibri"/>
              <a:sym typeface="Calibri"/>
            </a:endParaRPr>
          </a:p>
        </p:txBody>
      </p:sp>
      <p:sp>
        <p:nvSpPr>
          <p:cNvPr id="225" name="Google Shape;225;p2"/>
          <p:cNvSpPr/>
          <p:nvPr/>
        </p:nvSpPr>
        <p:spPr>
          <a:xfrm>
            <a:off x="10338809" y="3419859"/>
            <a:ext cx="13716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864"/>
              </a:buClr>
              <a:buSzPts val="1200"/>
              <a:buFont typeface="Quattrocento Sans"/>
              <a:buNone/>
            </a:pPr>
            <a:r>
              <a:rPr lang="en-US" sz="1300">
                <a:latin typeface="Calibri"/>
                <a:ea typeface="Calibri"/>
                <a:cs typeface="Calibri"/>
                <a:sym typeface="Calibri"/>
              </a:rPr>
              <a:t>46</a:t>
            </a:r>
            <a:endParaRPr b="0" i="0" sz="1300" u="none" cap="none" strike="noStrik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0" name="Shape 230"/>
        <p:cNvGrpSpPr/>
        <p:nvPr/>
      </p:nvGrpSpPr>
      <p:grpSpPr>
        <a:xfrm>
          <a:off x="0" y="0"/>
          <a:ext cx="0" cy="0"/>
          <a:chOff x="0" y="0"/>
          <a:chExt cx="0" cy="0"/>
        </a:xfrm>
      </p:grpSpPr>
      <p:sp>
        <p:nvSpPr>
          <p:cNvPr id="231" name="Google Shape;231;g3f3e54dd001_1_92"/>
          <p:cNvSpPr/>
          <p:nvPr/>
        </p:nvSpPr>
        <p:spPr>
          <a:xfrm>
            <a:off x="457200" y="310896"/>
            <a:ext cx="11338500" cy="40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864"/>
              </a:buClr>
              <a:buSzPts val="2700"/>
              <a:buFont typeface="Quattrocento Sans"/>
              <a:buNone/>
            </a:pPr>
            <a:r>
              <a:t/>
            </a:r>
            <a:endParaRPr b="0" i="0" sz="2700" u="none" cap="none" strike="noStrike">
              <a:solidFill>
                <a:srgbClr val="000000"/>
              </a:solidFill>
              <a:latin typeface="Calibri"/>
              <a:ea typeface="Calibri"/>
              <a:cs typeface="Calibri"/>
              <a:sym typeface="Calibri"/>
            </a:endParaRPr>
          </a:p>
        </p:txBody>
      </p:sp>
      <p:sp>
        <p:nvSpPr>
          <p:cNvPr id="232" name="Google Shape;232;g3f3e54dd001_1_92"/>
          <p:cNvSpPr/>
          <p:nvPr/>
        </p:nvSpPr>
        <p:spPr>
          <a:xfrm>
            <a:off x="457200" y="1133856"/>
            <a:ext cx="11338500" cy="384000"/>
          </a:xfrm>
          <a:prstGeom prst="rect">
            <a:avLst/>
          </a:prstGeom>
          <a:solidFill>
            <a:srgbClr val="1F3864"/>
          </a:solidFill>
          <a:ln cap="flat" cmpd="sng" w="9525">
            <a:solidFill>
              <a:srgbClr val="1F386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900" u="none" cap="none" strike="noStrike">
              <a:solidFill>
                <a:srgbClr val="000000"/>
              </a:solidFill>
              <a:latin typeface="Calibri"/>
              <a:ea typeface="Calibri"/>
              <a:cs typeface="Calibri"/>
              <a:sym typeface="Calibri"/>
            </a:endParaRPr>
          </a:p>
        </p:txBody>
      </p:sp>
      <p:sp>
        <p:nvSpPr>
          <p:cNvPr id="233" name="Google Shape;233;g3f3e54dd001_1_92"/>
          <p:cNvSpPr/>
          <p:nvPr/>
        </p:nvSpPr>
        <p:spPr>
          <a:xfrm>
            <a:off x="4443984" y="1133856"/>
            <a:ext cx="13716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Quattrocento Sans"/>
              <a:buNone/>
            </a:pPr>
            <a:r>
              <a:rPr b="1" i="0" lang="en-US" sz="1300" u="none" cap="none" strike="noStrike">
                <a:solidFill>
                  <a:srgbClr val="FFFFFF"/>
                </a:solidFill>
                <a:latin typeface="Quattrocento Sans"/>
                <a:ea typeface="Quattrocento Sans"/>
                <a:cs typeface="Quattrocento Sans"/>
                <a:sym typeface="Quattrocento Sans"/>
              </a:rPr>
              <a:t>PSU</a:t>
            </a:r>
            <a:endParaRPr b="0" i="0" sz="1300" u="none" cap="none" strike="noStrike">
              <a:solidFill>
                <a:srgbClr val="000000"/>
              </a:solidFill>
              <a:latin typeface="Calibri"/>
              <a:ea typeface="Calibri"/>
              <a:cs typeface="Calibri"/>
              <a:sym typeface="Calibri"/>
            </a:endParaRPr>
          </a:p>
        </p:txBody>
      </p:sp>
      <p:sp>
        <p:nvSpPr>
          <p:cNvPr id="234" name="Google Shape;234;g3f3e54dd001_1_92"/>
          <p:cNvSpPr/>
          <p:nvPr/>
        </p:nvSpPr>
        <p:spPr>
          <a:xfrm>
            <a:off x="5925299" y="1133849"/>
            <a:ext cx="1481400" cy="43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Quattrocento Sans"/>
              <a:buNone/>
            </a:pPr>
            <a:r>
              <a:rPr lang="en-US" sz="1300" u="sng">
                <a:solidFill>
                  <a:schemeClr val="hlink"/>
                </a:solidFill>
                <a:latin typeface="Calibri"/>
                <a:ea typeface="Calibri"/>
                <a:cs typeface="Calibri"/>
                <a:sym typeface="Calibri"/>
                <a:hlinkClick r:id="rId3"/>
              </a:rPr>
              <a:t>Johns Hopkins University</a:t>
            </a:r>
            <a:endParaRPr b="1" sz="1300" u="sng">
              <a:solidFill>
                <a:schemeClr val="hlink"/>
              </a:solidFill>
              <a:latin typeface="Quattrocento Sans"/>
              <a:ea typeface="Quattrocento Sans"/>
              <a:cs typeface="Quattrocento Sans"/>
              <a:sym typeface="Quattrocento Sans"/>
            </a:endParaRPr>
          </a:p>
          <a:p>
            <a:pPr indent="0" lvl="0" marL="0" marR="0" rtl="0" algn="ctr">
              <a:lnSpc>
                <a:spcPct val="100000"/>
              </a:lnSpc>
              <a:spcBef>
                <a:spcPts val="0"/>
              </a:spcBef>
              <a:spcAft>
                <a:spcPts val="0"/>
              </a:spcAft>
              <a:buClr>
                <a:srgbClr val="FFFFFF"/>
              </a:buClr>
              <a:buSzPts val="1200"/>
              <a:buFont typeface="Quattrocento Sans"/>
              <a:buNone/>
            </a:pPr>
            <a:r>
              <a:t/>
            </a:r>
            <a:endParaRPr b="1" sz="1300">
              <a:latin typeface="Quattrocento Sans"/>
              <a:ea typeface="Quattrocento Sans"/>
              <a:cs typeface="Quattrocento Sans"/>
              <a:sym typeface="Quattrocento Sans"/>
            </a:endParaRPr>
          </a:p>
        </p:txBody>
      </p:sp>
      <p:sp>
        <p:nvSpPr>
          <p:cNvPr id="235" name="Google Shape;235;g3f3e54dd001_1_92"/>
          <p:cNvSpPr/>
          <p:nvPr/>
        </p:nvSpPr>
        <p:spPr>
          <a:xfrm>
            <a:off x="7406640" y="1133856"/>
            <a:ext cx="1371600" cy="384000"/>
          </a:xfrm>
          <a:prstGeom prst="rect">
            <a:avLst/>
          </a:prstGeom>
          <a:noFill/>
          <a:ln>
            <a:noFill/>
          </a:ln>
        </p:spPr>
        <p:txBody>
          <a:bodyPr anchorCtr="0" anchor="ctr" bIns="0" lIns="0" spcFirstLastPara="1" rIns="0" wrap="square" tIns="0">
            <a:noAutofit/>
          </a:bodyPr>
          <a:lstStyle/>
          <a:p>
            <a:pPr indent="457200" lvl="0" marL="0" marR="0" rtl="0" algn="l">
              <a:lnSpc>
                <a:spcPct val="100000"/>
              </a:lnSpc>
              <a:spcBef>
                <a:spcPts val="0"/>
              </a:spcBef>
              <a:spcAft>
                <a:spcPts val="0"/>
              </a:spcAft>
              <a:buClr>
                <a:srgbClr val="FFFFFF"/>
              </a:buClr>
              <a:buSzPts val="1200"/>
              <a:buFont typeface="Quattrocento Sans"/>
              <a:buNone/>
            </a:pPr>
            <a:r>
              <a:rPr b="1" lang="en-US" sz="1300" u="sng">
                <a:solidFill>
                  <a:schemeClr val="hlink"/>
                </a:solidFill>
                <a:latin typeface="Quattrocento Sans"/>
                <a:ea typeface="Quattrocento Sans"/>
                <a:cs typeface="Quattrocento Sans"/>
                <a:sym typeface="Quattrocento Sans"/>
                <a:hlinkClick r:id="rId4"/>
              </a:rPr>
              <a:t>Minnesota</a:t>
            </a:r>
            <a:endParaRPr b="0" i="0" sz="1300" u="none" cap="none" strike="noStrike">
              <a:solidFill>
                <a:schemeClr val="lt1"/>
              </a:solidFill>
              <a:latin typeface="Calibri"/>
              <a:ea typeface="Calibri"/>
              <a:cs typeface="Calibri"/>
              <a:sym typeface="Calibri"/>
            </a:endParaRPr>
          </a:p>
        </p:txBody>
      </p:sp>
      <p:sp>
        <p:nvSpPr>
          <p:cNvPr id="236" name="Google Shape;236;g3f3e54dd001_1_92"/>
          <p:cNvSpPr/>
          <p:nvPr/>
        </p:nvSpPr>
        <p:spPr>
          <a:xfrm>
            <a:off x="8887968" y="1133856"/>
            <a:ext cx="1371600" cy="384000"/>
          </a:xfrm>
          <a:prstGeom prst="rect">
            <a:avLst/>
          </a:prstGeom>
          <a:noFill/>
          <a:ln>
            <a:noFill/>
          </a:ln>
        </p:spPr>
        <p:txBody>
          <a:bodyPr anchorCtr="0" anchor="ctr" bIns="0" lIns="0" spcFirstLastPara="1" rIns="0" wrap="square" tIns="0">
            <a:noAutofit/>
          </a:bodyPr>
          <a:lstStyle/>
          <a:p>
            <a:pPr indent="0" lvl="0" marL="457200" marR="0" rtl="0" algn="l">
              <a:lnSpc>
                <a:spcPct val="100000"/>
              </a:lnSpc>
              <a:spcBef>
                <a:spcPts val="0"/>
              </a:spcBef>
              <a:spcAft>
                <a:spcPts val="0"/>
              </a:spcAft>
              <a:buClr>
                <a:srgbClr val="FFFFFF"/>
              </a:buClr>
              <a:buSzPts val="1200"/>
              <a:buFont typeface="Quattrocento Sans"/>
              <a:buNone/>
            </a:pPr>
            <a:r>
              <a:rPr b="1" lang="en-US" sz="1300" u="sng">
                <a:solidFill>
                  <a:schemeClr val="hlink"/>
                </a:solidFill>
                <a:latin typeface="Calibri"/>
                <a:ea typeface="Calibri"/>
                <a:cs typeface="Calibri"/>
                <a:sym typeface="Calibri"/>
                <a:hlinkClick r:id="rId5"/>
              </a:rPr>
              <a:t>Georgia Tech</a:t>
            </a:r>
            <a:endParaRPr b="1" i="0" sz="1300" u="none" cap="none" strike="noStrike">
              <a:solidFill>
                <a:schemeClr val="lt1"/>
              </a:solidFill>
              <a:latin typeface="Calibri"/>
              <a:ea typeface="Calibri"/>
              <a:cs typeface="Calibri"/>
              <a:sym typeface="Calibri"/>
            </a:endParaRPr>
          </a:p>
        </p:txBody>
      </p:sp>
      <p:sp>
        <p:nvSpPr>
          <p:cNvPr id="237" name="Google Shape;237;g3f3e54dd001_1_92"/>
          <p:cNvSpPr/>
          <p:nvPr/>
        </p:nvSpPr>
        <p:spPr>
          <a:xfrm>
            <a:off x="10369296" y="1133856"/>
            <a:ext cx="1371600" cy="384000"/>
          </a:xfrm>
          <a:prstGeom prst="rect">
            <a:avLst/>
          </a:prstGeom>
          <a:noFill/>
          <a:ln>
            <a:noFill/>
          </a:ln>
        </p:spPr>
        <p:txBody>
          <a:bodyPr anchorCtr="0" anchor="ctr" bIns="0" lIns="0" spcFirstLastPara="1" rIns="0" wrap="square" tIns="0">
            <a:noAutofit/>
          </a:bodyPr>
          <a:lstStyle/>
          <a:p>
            <a:pPr indent="457200" lvl="0" marL="0" marR="0" rtl="0" algn="l">
              <a:lnSpc>
                <a:spcPct val="100000"/>
              </a:lnSpc>
              <a:spcBef>
                <a:spcPts val="0"/>
              </a:spcBef>
              <a:spcAft>
                <a:spcPts val="0"/>
              </a:spcAft>
              <a:buClr>
                <a:srgbClr val="FFFFFF"/>
              </a:buClr>
              <a:buSzPts val="1200"/>
              <a:buFont typeface="Quattrocento Sans"/>
              <a:buNone/>
            </a:pPr>
            <a:r>
              <a:rPr b="1" lang="en-US" sz="1300" u="sng">
                <a:solidFill>
                  <a:schemeClr val="hlink"/>
                </a:solidFill>
                <a:latin typeface="Calibri"/>
                <a:ea typeface="Calibri"/>
                <a:cs typeface="Calibri"/>
                <a:sym typeface="Calibri"/>
                <a:hlinkClick r:id="rId6"/>
              </a:rPr>
              <a:t>Texas A&amp;M	</a:t>
            </a:r>
            <a:endParaRPr b="1" i="0" sz="1300" u="none" cap="none" strike="noStrike">
              <a:solidFill>
                <a:schemeClr val="lt1"/>
              </a:solidFill>
              <a:latin typeface="Calibri"/>
              <a:ea typeface="Calibri"/>
              <a:cs typeface="Calibri"/>
              <a:sym typeface="Calibri"/>
            </a:endParaRPr>
          </a:p>
        </p:txBody>
      </p:sp>
      <p:sp>
        <p:nvSpPr>
          <p:cNvPr id="238" name="Google Shape;238;g3f3e54dd001_1_92"/>
          <p:cNvSpPr/>
          <p:nvPr/>
        </p:nvSpPr>
        <p:spPr>
          <a:xfrm>
            <a:off x="457200" y="1517904"/>
            <a:ext cx="11338500" cy="402300"/>
          </a:xfrm>
          <a:prstGeom prst="rect">
            <a:avLst/>
          </a:prstGeom>
          <a:solidFill>
            <a:srgbClr val="EEF2FA"/>
          </a:solidFill>
          <a:ln cap="flat" cmpd="sng" w="9525">
            <a:solidFill>
              <a:srgbClr val="DDE3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900" u="none" cap="none" strike="noStrike">
              <a:solidFill>
                <a:srgbClr val="000000"/>
              </a:solidFill>
              <a:latin typeface="Calibri"/>
              <a:ea typeface="Calibri"/>
              <a:cs typeface="Calibri"/>
              <a:sym typeface="Calibri"/>
            </a:endParaRPr>
          </a:p>
        </p:txBody>
      </p:sp>
      <p:sp>
        <p:nvSpPr>
          <p:cNvPr id="239" name="Google Shape;239;g3f3e54dd001_1_92"/>
          <p:cNvSpPr/>
          <p:nvPr/>
        </p:nvSpPr>
        <p:spPr>
          <a:xfrm>
            <a:off x="512064" y="1517904"/>
            <a:ext cx="3822300" cy="40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864"/>
              </a:buClr>
              <a:buSzPts val="1200"/>
              <a:buFont typeface="Quattrocento Sans"/>
              <a:buNone/>
            </a:pPr>
            <a:r>
              <a:rPr b="1" i="0" lang="en-US" sz="1300" u="none" cap="none" strike="noStrike">
                <a:solidFill>
                  <a:srgbClr val="1F3864"/>
                </a:solidFill>
                <a:latin typeface="Quattrocento Sans"/>
                <a:ea typeface="Quattrocento Sans"/>
                <a:cs typeface="Quattrocento Sans"/>
                <a:sym typeface="Quattrocento Sans"/>
              </a:rPr>
              <a:t>University-level block (credits)</a:t>
            </a:r>
            <a:endParaRPr b="0" i="0" sz="1300" u="none" cap="none" strike="noStrike">
              <a:solidFill>
                <a:srgbClr val="000000"/>
              </a:solidFill>
              <a:latin typeface="Calibri"/>
              <a:ea typeface="Calibri"/>
              <a:cs typeface="Calibri"/>
              <a:sym typeface="Calibri"/>
            </a:endParaRPr>
          </a:p>
        </p:txBody>
      </p:sp>
      <p:sp>
        <p:nvSpPr>
          <p:cNvPr id="240" name="Google Shape;240;g3f3e54dd001_1_92"/>
          <p:cNvSpPr/>
          <p:nvPr/>
        </p:nvSpPr>
        <p:spPr>
          <a:xfrm>
            <a:off x="4443984" y="1517904"/>
            <a:ext cx="13716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864"/>
              </a:buClr>
              <a:buSzPts val="1200"/>
              <a:buFont typeface="Quattrocento Sans"/>
              <a:buNone/>
            </a:pPr>
            <a:r>
              <a:rPr b="1" i="0" lang="en-US" sz="1300" u="none" cap="none" strike="noStrike">
                <a:solidFill>
                  <a:srgbClr val="1F3864"/>
                </a:solidFill>
                <a:latin typeface="Quattrocento Sans"/>
                <a:ea typeface="Quattrocento Sans"/>
                <a:cs typeface="Quattrocento Sans"/>
                <a:sym typeface="Quattrocento Sans"/>
              </a:rPr>
              <a:t>23</a:t>
            </a:r>
            <a:endParaRPr b="0" i="0" sz="1300" u="none" cap="none" strike="noStrike">
              <a:solidFill>
                <a:srgbClr val="000000"/>
              </a:solidFill>
              <a:latin typeface="Calibri"/>
              <a:ea typeface="Calibri"/>
              <a:cs typeface="Calibri"/>
              <a:sym typeface="Calibri"/>
            </a:endParaRPr>
          </a:p>
        </p:txBody>
      </p:sp>
      <p:sp>
        <p:nvSpPr>
          <p:cNvPr id="241" name="Google Shape;241;g3f3e54dd001_1_92"/>
          <p:cNvSpPr/>
          <p:nvPr/>
        </p:nvSpPr>
        <p:spPr>
          <a:xfrm>
            <a:off x="5925312" y="1517904"/>
            <a:ext cx="13716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864"/>
              </a:buClr>
              <a:buSzPts val="1200"/>
              <a:buFont typeface="Quattrocento Sans"/>
              <a:buNone/>
            </a:pPr>
            <a:r>
              <a:rPr b="1" lang="en-US" sz="1300">
                <a:latin typeface="Quattrocento Sans"/>
                <a:ea typeface="Quattrocento Sans"/>
                <a:cs typeface="Quattrocento Sans"/>
                <a:sym typeface="Quattrocento Sans"/>
              </a:rPr>
              <a:t>  23-24</a:t>
            </a:r>
            <a:endParaRPr b="0" i="0" sz="1300" u="none" cap="none" strike="noStrike">
              <a:solidFill>
                <a:srgbClr val="000000"/>
              </a:solidFill>
              <a:latin typeface="Calibri"/>
              <a:ea typeface="Calibri"/>
              <a:cs typeface="Calibri"/>
              <a:sym typeface="Calibri"/>
            </a:endParaRPr>
          </a:p>
        </p:txBody>
      </p:sp>
      <p:sp>
        <p:nvSpPr>
          <p:cNvPr id="242" name="Google Shape;242;g3f3e54dd001_1_92"/>
          <p:cNvSpPr/>
          <p:nvPr/>
        </p:nvSpPr>
        <p:spPr>
          <a:xfrm>
            <a:off x="7406640" y="1517904"/>
            <a:ext cx="13716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864"/>
              </a:buClr>
              <a:buSzPts val="1200"/>
              <a:buFont typeface="Quattrocento Sans"/>
              <a:buNone/>
            </a:pPr>
            <a:r>
              <a:rPr b="1" lang="en-US" sz="1300">
                <a:solidFill>
                  <a:srgbClr val="1F3864"/>
                </a:solidFill>
                <a:latin typeface="Quattrocento Sans"/>
                <a:ea typeface="Quattrocento Sans"/>
                <a:cs typeface="Quattrocento Sans"/>
                <a:sym typeface="Quattrocento Sans"/>
              </a:rPr>
              <a:t>18-24</a:t>
            </a:r>
            <a:endParaRPr b="0" i="0" sz="1300" u="none" cap="none" strike="noStrike">
              <a:solidFill>
                <a:srgbClr val="000000"/>
              </a:solidFill>
              <a:latin typeface="Calibri"/>
              <a:ea typeface="Calibri"/>
              <a:cs typeface="Calibri"/>
              <a:sym typeface="Calibri"/>
            </a:endParaRPr>
          </a:p>
        </p:txBody>
      </p:sp>
      <p:sp>
        <p:nvSpPr>
          <p:cNvPr id="243" name="Google Shape;243;g3f3e54dd001_1_92"/>
          <p:cNvSpPr/>
          <p:nvPr/>
        </p:nvSpPr>
        <p:spPr>
          <a:xfrm>
            <a:off x="8887968" y="1517904"/>
            <a:ext cx="13716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864"/>
              </a:buClr>
              <a:buSzPts val="1200"/>
              <a:buFont typeface="Quattrocento Sans"/>
              <a:buNone/>
            </a:pPr>
            <a:r>
              <a:rPr b="1" lang="en-US" sz="1300" u="sng">
                <a:solidFill>
                  <a:schemeClr val="hlink"/>
                </a:solidFill>
                <a:latin typeface="Quattrocento Sans"/>
                <a:ea typeface="Quattrocento Sans"/>
                <a:cs typeface="Quattrocento Sans"/>
                <a:sym typeface="Quattrocento Sans"/>
                <a:hlinkClick r:id="rId7"/>
              </a:rPr>
              <a:t>42</a:t>
            </a:r>
            <a:endParaRPr b="0" i="0" sz="1300" u="none" cap="none" strike="noStrike">
              <a:solidFill>
                <a:srgbClr val="000000"/>
              </a:solidFill>
              <a:latin typeface="Calibri"/>
              <a:ea typeface="Calibri"/>
              <a:cs typeface="Calibri"/>
              <a:sym typeface="Calibri"/>
            </a:endParaRPr>
          </a:p>
        </p:txBody>
      </p:sp>
      <p:sp>
        <p:nvSpPr>
          <p:cNvPr id="244" name="Google Shape;244;g3f3e54dd001_1_92"/>
          <p:cNvSpPr/>
          <p:nvPr/>
        </p:nvSpPr>
        <p:spPr>
          <a:xfrm>
            <a:off x="10369296" y="1517904"/>
            <a:ext cx="13716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864"/>
              </a:buClr>
              <a:buSzPts val="1200"/>
              <a:buFont typeface="Quattrocento Sans"/>
              <a:buNone/>
            </a:pPr>
            <a:r>
              <a:rPr b="1" lang="en-US" sz="1300">
                <a:solidFill>
                  <a:srgbClr val="1F3864"/>
                </a:solidFill>
                <a:latin typeface="Quattrocento Sans"/>
                <a:ea typeface="Quattrocento Sans"/>
                <a:cs typeface="Quattrocento Sans"/>
                <a:sym typeface="Quattrocento Sans"/>
              </a:rPr>
              <a:t>21</a:t>
            </a:r>
            <a:endParaRPr b="0" i="0" sz="1300" u="none" cap="none" strike="noStrike">
              <a:solidFill>
                <a:srgbClr val="000000"/>
              </a:solidFill>
              <a:latin typeface="Calibri"/>
              <a:ea typeface="Calibri"/>
              <a:cs typeface="Calibri"/>
              <a:sym typeface="Calibri"/>
            </a:endParaRPr>
          </a:p>
        </p:txBody>
      </p:sp>
      <p:sp>
        <p:nvSpPr>
          <p:cNvPr id="245" name="Google Shape;245;g3f3e54dd001_1_92"/>
          <p:cNvSpPr/>
          <p:nvPr/>
        </p:nvSpPr>
        <p:spPr>
          <a:xfrm>
            <a:off x="457200" y="1920240"/>
            <a:ext cx="11338500" cy="292500"/>
          </a:xfrm>
          <a:prstGeom prst="rect">
            <a:avLst/>
          </a:prstGeom>
          <a:solidFill>
            <a:srgbClr val="FFFFFF"/>
          </a:solidFill>
          <a:ln cap="flat" cmpd="sng" w="9525">
            <a:solidFill>
              <a:srgbClr val="DDE3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900" u="none" cap="none" strike="noStrike">
              <a:solidFill>
                <a:srgbClr val="000000"/>
              </a:solidFill>
              <a:latin typeface="Calibri"/>
              <a:ea typeface="Calibri"/>
              <a:cs typeface="Calibri"/>
              <a:sym typeface="Calibri"/>
            </a:endParaRPr>
          </a:p>
        </p:txBody>
      </p:sp>
      <p:sp>
        <p:nvSpPr>
          <p:cNvPr id="246" name="Google Shape;246;g3f3e54dd001_1_92"/>
          <p:cNvSpPr/>
          <p:nvPr/>
        </p:nvSpPr>
        <p:spPr>
          <a:xfrm>
            <a:off x="457200" y="2212848"/>
            <a:ext cx="11338500" cy="402300"/>
          </a:xfrm>
          <a:prstGeom prst="rect">
            <a:avLst/>
          </a:prstGeom>
          <a:solidFill>
            <a:srgbClr val="EEF2FA"/>
          </a:solidFill>
          <a:ln cap="flat" cmpd="sng" w="9525">
            <a:solidFill>
              <a:srgbClr val="DDE3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900" u="none" cap="none" strike="noStrike">
              <a:solidFill>
                <a:srgbClr val="000000"/>
              </a:solidFill>
              <a:latin typeface="Calibri"/>
              <a:ea typeface="Calibri"/>
              <a:cs typeface="Calibri"/>
              <a:sym typeface="Calibri"/>
            </a:endParaRPr>
          </a:p>
        </p:txBody>
      </p:sp>
      <p:sp>
        <p:nvSpPr>
          <p:cNvPr id="247" name="Google Shape;247;g3f3e54dd001_1_92"/>
          <p:cNvSpPr/>
          <p:nvPr/>
        </p:nvSpPr>
        <p:spPr>
          <a:xfrm>
            <a:off x="512064" y="2212848"/>
            <a:ext cx="3822300" cy="40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864"/>
              </a:buClr>
              <a:buSzPts val="1200"/>
              <a:buFont typeface="Quattrocento Sans"/>
              <a:buNone/>
            </a:pPr>
            <a:r>
              <a:rPr b="1" i="0" lang="en-US" sz="1300" u="none" cap="none" strike="noStrike">
                <a:solidFill>
                  <a:srgbClr val="1F3864"/>
                </a:solidFill>
                <a:latin typeface="Quattrocento Sans"/>
                <a:ea typeface="Quattrocento Sans"/>
                <a:cs typeface="Quattrocento Sans"/>
                <a:sym typeface="Quattrocento Sans"/>
              </a:rPr>
              <a:t>of which prescribed, named courses</a:t>
            </a:r>
            <a:endParaRPr b="0" i="0" sz="1300" u="none" cap="none" strike="noStrike">
              <a:solidFill>
                <a:srgbClr val="000000"/>
              </a:solidFill>
              <a:latin typeface="Calibri"/>
              <a:ea typeface="Calibri"/>
              <a:cs typeface="Calibri"/>
              <a:sym typeface="Calibri"/>
            </a:endParaRPr>
          </a:p>
        </p:txBody>
      </p:sp>
      <p:sp>
        <p:nvSpPr>
          <p:cNvPr id="248" name="Google Shape;248;g3f3e54dd001_1_92"/>
          <p:cNvSpPr/>
          <p:nvPr/>
        </p:nvSpPr>
        <p:spPr>
          <a:xfrm>
            <a:off x="4443984" y="2212848"/>
            <a:ext cx="13716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864"/>
              </a:buClr>
              <a:buSzPts val="1200"/>
              <a:buFont typeface="Quattrocento Sans"/>
              <a:buNone/>
            </a:pPr>
            <a:r>
              <a:rPr b="1" i="0" lang="en-US" sz="1300" u="none" cap="none" strike="noStrike">
                <a:solidFill>
                  <a:srgbClr val="1F3864"/>
                </a:solidFill>
                <a:latin typeface="Quattrocento Sans"/>
                <a:ea typeface="Quattrocento Sans"/>
                <a:cs typeface="Quattrocento Sans"/>
                <a:sym typeface="Quattrocento Sans"/>
              </a:rPr>
              <a:t>23</a:t>
            </a:r>
            <a:endParaRPr b="0" i="0" sz="1300" u="none" cap="none" strike="noStrike">
              <a:solidFill>
                <a:srgbClr val="000000"/>
              </a:solidFill>
              <a:latin typeface="Calibri"/>
              <a:ea typeface="Calibri"/>
              <a:cs typeface="Calibri"/>
              <a:sym typeface="Calibri"/>
            </a:endParaRPr>
          </a:p>
        </p:txBody>
      </p:sp>
      <p:sp>
        <p:nvSpPr>
          <p:cNvPr id="249" name="Google Shape;249;g3f3e54dd001_1_92"/>
          <p:cNvSpPr/>
          <p:nvPr/>
        </p:nvSpPr>
        <p:spPr>
          <a:xfrm>
            <a:off x="5925312" y="2212848"/>
            <a:ext cx="13716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864"/>
              </a:buClr>
              <a:buSzPts val="1200"/>
              <a:buFont typeface="Quattrocento Sans"/>
              <a:buNone/>
            </a:pPr>
            <a:r>
              <a:rPr b="1" i="0" lang="en-US" sz="1300" u="none" cap="none" strike="noStrike">
                <a:solidFill>
                  <a:srgbClr val="1F3864"/>
                </a:solidFill>
                <a:latin typeface="Quattrocento Sans"/>
                <a:ea typeface="Quattrocento Sans"/>
                <a:cs typeface="Quattrocento Sans"/>
                <a:sym typeface="Quattrocento Sans"/>
              </a:rPr>
              <a:t>0</a:t>
            </a:r>
            <a:endParaRPr b="0" i="0" sz="1300" u="none" cap="none" strike="noStrike">
              <a:solidFill>
                <a:srgbClr val="000000"/>
              </a:solidFill>
              <a:latin typeface="Calibri"/>
              <a:ea typeface="Calibri"/>
              <a:cs typeface="Calibri"/>
              <a:sym typeface="Calibri"/>
            </a:endParaRPr>
          </a:p>
        </p:txBody>
      </p:sp>
      <p:sp>
        <p:nvSpPr>
          <p:cNvPr id="250" name="Google Shape;250;g3f3e54dd001_1_92"/>
          <p:cNvSpPr/>
          <p:nvPr/>
        </p:nvSpPr>
        <p:spPr>
          <a:xfrm>
            <a:off x="7406640" y="2212848"/>
            <a:ext cx="13716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864"/>
              </a:buClr>
              <a:buSzPts val="1200"/>
              <a:buFont typeface="Quattrocento Sans"/>
              <a:buNone/>
            </a:pPr>
            <a:r>
              <a:rPr b="1" i="0" lang="en-US" sz="1300" u="none" cap="none" strike="noStrike">
                <a:solidFill>
                  <a:srgbClr val="1F3864"/>
                </a:solidFill>
                <a:latin typeface="Quattrocento Sans"/>
                <a:ea typeface="Quattrocento Sans"/>
                <a:cs typeface="Quattrocento Sans"/>
                <a:sym typeface="Quattrocento Sans"/>
              </a:rPr>
              <a:t>0</a:t>
            </a:r>
            <a:endParaRPr b="0" i="0" sz="1300" u="none" cap="none" strike="noStrike">
              <a:solidFill>
                <a:srgbClr val="000000"/>
              </a:solidFill>
              <a:latin typeface="Calibri"/>
              <a:ea typeface="Calibri"/>
              <a:cs typeface="Calibri"/>
              <a:sym typeface="Calibri"/>
            </a:endParaRPr>
          </a:p>
        </p:txBody>
      </p:sp>
      <p:sp>
        <p:nvSpPr>
          <p:cNvPr id="251" name="Google Shape;251;g3f3e54dd001_1_92"/>
          <p:cNvSpPr/>
          <p:nvPr/>
        </p:nvSpPr>
        <p:spPr>
          <a:xfrm>
            <a:off x="8887968" y="2212848"/>
            <a:ext cx="13716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864"/>
              </a:buClr>
              <a:buSzPts val="1200"/>
              <a:buFont typeface="Quattrocento Sans"/>
              <a:buNone/>
            </a:pPr>
            <a:r>
              <a:rPr b="1" i="0" lang="en-US" sz="1300" u="none" cap="none" strike="noStrike">
                <a:solidFill>
                  <a:srgbClr val="1F3864"/>
                </a:solidFill>
                <a:latin typeface="Quattrocento Sans"/>
                <a:ea typeface="Quattrocento Sans"/>
                <a:cs typeface="Quattrocento Sans"/>
                <a:sym typeface="Quattrocento Sans"/>
              </a:rPr>
              <a:t>0</a:t>
            </a:r>
            <a:endParaRPr b="0" i="0" sz="1300" u="none" cap="none" strike="noStrike">
              <a:solidFill>
                <a:srgbClr val="000000"/>
              </a:solidFill>
              <a:latin typeface="Calibri"/>
              <a:ea typeface="Calibri"/>
              <a:cs typeface="Calibri"/>
              <a:sym typeface="Calibri"/>
            </a:endParaRPr>
          </a:p>
        </p:txBody>
      </p:sp>
      <p:sp>
        <p:nvSpPr>
          <p:cNvPr id="252" name="Google Shape;252;g3f3e54dd001_1_92"/>
          <p:cNvSpPr/>
          <p:nvPr/>
        </p:nvSpPr>
        <p:spPr>
          <a:xfrm>
            <a:off x="10369296" y="2212848"/>
            <a:ext cx="13716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864"/>
              </a:buClr>
              <a:buSzPts val="1200"/>
              <a:buFont typeface="Quattrocento Sans"/>
              <a:buNone/>
            </a:pPr>
            <a:r>
              <a:rPr b="1" i="0" lang="en-US" sz="1300" u="none" cap="none" strike="noStrike">
                <a:solidFill>
                  <a:srgbClr val="1F3864"/>
                </a:solidFill>
                <a:latin typeface="Quattrocento Sans"/>
                <a:ea typeface="Quattrocento Sans"/>
                <a:cs typeface="Quattrocento Sans"/>
                <a:sym typeface="Quattrocento Sans"/>
              </a:rPr>
              <a:t>0</a:t>
            </a:r>
            <a:endParaRPr b="0" i="0" sz="1300" u="none" cap="none" strike="noStrike">
              <a:solidFill>
                <a:srgbClr val="000000"/>
              </a:solidFill>
              <a:latin typeface="Calibri"/>
              <a:ea typeface="Calibri"/>
              <a:cs typeface="Calibri"/>
              <a:sym typeface="Calibri"/>
            </a:endParaRPr>
          </a:p>
        </p:txBody>
      </p:sp>
      <p:sp>
        <p:nvSpPr>
          <p:cNvPr id="253" name="Google Shape;253;g3f3e54dd001_1_92"/>
          <p:cNvSpPr/>
          <p:nvPr/>
        </p:nvSpPr>
        <p:spPr>
          <a:xfrm>
            <a:off x="457200" y="2615184"/>
            <a:ext cx="11338500" cy="402300"/>
          </a:xfrm>
          <a:prstGeom prst="rect">
            <a:avLst/>
          </a:prstGeom>
          <a:solidFill>
            <a:srgbClr val="EEF2FA"/>
          </a:solidFill>
          <a:ln cap="flat" cmpd="sng" w="9525">
            <a:solidFill>
              <a:srgbClr val="DDE3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900" u="none" cap="none" strike="noStrike">
              <a:solidFill>
                <a:srgbClr val="000000"/>
              </a:solidFill>
              <a:latin typeface="Calibri"/>
              <a:ea typeface="Calibri"/>
              <a:cs typeface="Calibri"/>
              <a:sym typeface="Calibri"/>
            </a:endParaRPr>
          </a:p>
        </p:txBody>
      </p:sp>
      <p:sp>
        <p:nvSpPr>
          <p:cNvPr id="254" name="Google Shape;254;g3f3e54dd001_1_92"/>
          <p:cNvSpPr/>
          <p:nvPr/>
        </p:nvSpPr>
        <p:spPr>
          <a:xfrm>
            <a:off x="512064" y="2615184"/>
            <a:ext cx="3822300" cy="40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864"/>
              </a:buClr>
              <a:buSzPts val="1200"/>
              <a:buFont typeface="Quattrocento Sans"/>
              <a:buNone/>
            </a:pPr>
            <a:r>
              <a:rPr b="1" i="0" lang="en-US" sz="1300" u="none" cap="none" strike="noStrike">
                <a:solidFill>
                  <a:srgbClr val="1F3864"/>
                </a:solidFill>
                <a:latin typeface="Quattrocento Sans"/>
                <a:ea typeface="Quattrocento Sans"/>
                <a:cs typeface="Quattrocento Sans"/>
                <a:sym typeface="Quattrocento Sans"/>
              </a:rPr>
              <a:t>of which chosen by the student</a:t>
            </a:r>
            <a:endParaRPr b="0" i="0" sz="1300" u="none" cap="none" strike="noStrike">
              <a:solidFill>
                <a:srgbClr val="000000"/>
              </a:solidFill>
              <a:latin typeface="Calibri"/>
              <a:ea typeface="Calibri"/>
              <a:cs typeface="Calibri"/>
              <a:sym typeface="Calibri"/>
            </a:endParaRPr>
          </a:p>
        </p:txBody>
      </p:sp>
      <p:sp>
        <p:nvSpPr>
          <p:cNvPr id="255" name="Google Shape;255;g3f3e54dd001_1_92"/>
          <p:cNvSpPr/>
          <p:nvPr/>
        </p:nvSpPr>
        <p:spPr>
          <a:xfrm>
            <a:off x="4443984" y="2615184"/>
            <a:ext cx="13716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864"/>
              </a:buClr>
              <a:buSzPts val="1200"/>
              <a:buFont typeface="Quattrocento Sans"/>
              <a:buNone/>
            </a:pPr>
            <a:r>
              <a:rPr b="1" i="0" lang="en-US" sz="1300" u="none" cap="none" strike="noStrike">
                <a:solidFill>
                  <a:srgbClr val="1F3864"/>
                </a:solidFill>
                <a:latin typeface="Quattrocento Sans"/>
                <a:ea typeface="Quattrocento Sans"/>
                <a:cs typeface="Quattrocento Sans"/>
                <a:sym typeface="Quattrocento Sans"/>
              </a:rPr>
              <a:t>0</a:t>
            </a:r>
            <a:endParaRPr b="0" i="0" sz="1300" u="none" cap="none" strike="noStrike">
              <a:solidFill>
                <a:srgbClr val="000000"/>
              </a:solidFill>
              <a:latin typeface="Calibri"/>
              <a:ea typeface="Calibri"/>
              <a:cs typeface="Calibri"/>
              <a:sym typeface="Calibri"/>
            </a:endParaRPr>
          </a:p>
        </p:txBody>
      </p:sp>
      <p:sp>
        <p:nvSpPr>
          <p:cNvPr id="256" name="Google Shape;256;g3f3e54dd001_1_92"/>
          <p:cNvSpPr/>
          <p:nvPr/>
        </p:nvSpPr>
        <p:spPr>
          <a:xfrm>
            <a:off x="5925312" y="2615184"/>
            <a:ext cx="13716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864"/>
              </a:buClr>
              <a:buSzPts val="1200"/>
              <a:buFont typeface="Quattrocento Sans"/>
              <a:buNone/>
            </a:pPr>
            <a:r>
              <a:rPr b="1" lang="en-US" sz="1300">
                <a:solidFill>
                  <a:srgbClr val="1F3864"/>
                </a:solidFill>
                <a:latin typeface="Quattrocento Sans"/>
                <a:ea typeface="Quattrocento Sans"/>
                <a:cs typeface="Quattrocento Sans"/>
                <a:sym typeface="Quattrocento Sans"/>
              </a:rPr>
              <a:t>  23-24</a:t>
            </a:r>
            <a:endParaRPr b="0" i="0" sz="1300" u="none" cap="none" strike="noStrike">
              <a:solidFill>
                <a:srgbClr val="000000"/>
              </a:solidFill>
              <a:latin typeface="Calibri"/>
              <a:ea typeface="Calibri"/>
              <a:cs typeface="Calibri"/>
              <a:sym typeface="Calibri"/>
            </a:endParaRPr>
          </a:p>
        </p:txBody>
      </p:sp>
      <p:sp>
        <p:nvSpPr>
          <p:cNvPr id="257" name="Google Shape;257;g3f3e54dd001_1_92"/>
          <p:cNvSpPr/>
          <p:nvPr/>
        </p:nvSpPr>
        <p:spPr>
          <a:xfrm>
            <a:off x="7406640" y="2615184"/>
            <a:ext cx="1371600" cy="402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1F3864"/>
              </a:buClr>
              <a:buSzPts val="1200"/>
              <a:buFont typeface="Quattrocento Sans"/>
              <a:buNone/>
            </a:pPr>
            <a:r>
              <a:rPr b="1" lang="en-US" sz="1300">
                <a:solidFill>
                  <a:srgbClr val="1F3864"/>
                </a:solidFill>
                <a:latin typeface="Quattrocento Sans"/>
                <a:ea typeface="Quattrocento Sans"/>
                <a:cs typeface="Quattrocento Sans"/>
                <a:sym typeface="Quattrocento Sans"/>
              </a:rPr>
              <a:t>18-24</a:t>
            </a:r>
            <a:endParaRPr b="0" i="0" sz="1300" u="none" cap="none" strike="noStrike">
              <a:solidFill>
                <a:srgbClr val="000000"/>
              </a:solidFill>
              <a:latin typeface="Calibri"/>
              <a:ea typeface="Calibri"/>
              <a:cs typeface="Calibri"/>
              <a:sym typeface="Calibri"/>
            </a:endParaRPr>
          </a:p>
        </p:txBody>
      </p:sp>
      <p:sp>
        <p:nvSpPr>
          <p:cNvPr id="258" name="Google Shape;258;g3f3e54dd001_1_92"/>
          <p:cNvSpPr/>
          <p:nvPr/>
        </p:nvSpPr>
        <p:spPr>
          <a:xfrm>
            <a:off x="8887968" y="2615184"/>
            <a:ext cx="13716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864"/>
              </a:buClr>
              <a:buSzPts val="1200"/>
              <a:buFont typeface="Quattrocento Sans"/>
              <a:buNone/>
            </a:pPr>
            <a:r>
              <a:rPr b="1" lang="en-US" sz="1300">
                <a:solidFill>
                  <a:srgbClr val="1F3864"/>
                </a:solidFill>
                <a:latin typeface="Quattrocento Sans"/>
                <a:ea typeface="Quattrocento Sans"/>
                <a:cs typeface="Quattrocento Sans"/>
                <a:sym typeface="Quattrocento Sans"/>
              </a:rPr>
              <a:t>42</a:t>
            </a:r>
            <a:endParaRPr b="0" i="0" sz="1300" u="none" cap="none" strike="noStrike">
              <a:solidFill>
                <a:srgbClr val="000000"/>
              </a:solidFill>
              <a:latin typeface="Calibri"/>
              <a:ea typeface="Calibri"/>
              <a:cs typeface="Calibri"/>
              <a:sym typeface="Calibri"/>
            </a:endParaRPr>
          </a:p>
        </p:txBody>
      </p:sp>
      <p:sp>
        <p:nvSpPr>
          <p:cNvPr id="259" name="Google Shape;259;g3f3e54dd001_1_92"/>
          <p:cNvSpPr/>
          <p:nvPr/>
        </p:nvSpPr>
        <p:spPr>
          <a:xfrm>
            <a:off x="10369296" y="2615184"/>
            <a:ext cx="13716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864"/>
              </a:buClr>
              <a:buSzPts val="1200"/>
              <a:buFont typeface="Quattrocento Sans"/>
              <a:buNone/>
            </a:pPr>
            <a:r>
              <a:rPr b="1" lang="en-US" sz="1300">
                <a:solidFill>
                  <a:srgbClr val="1F3864"/>
                </a:solidFill>
                <a:latin typeface="Quattrocento Sans"/>
                <a:ea typeface="Quattrocento Sans"/>
                <a:cs typeface="Quattrocento Sans"/>
                <a:sym typeface="Quattrocento Sans"/>
              </a:rPr>
              <a:t>21</a:t>
            </a:r>
            <a:endParaRPr b="1" sz="1300">
              <a:solidFill>
                <a:srgbClr val="1F3864"/>
              </a:solidFill>
              <a:latin typeface="Quattrocento Sans"/>
              <a:ea typeface="Quattrocento Sans"/>
              <a:cs typeface="Quattrocento Sans"/>
              <a:sym typeface="Quattrocento Sans"/>
            </a:endParaRPr>
          </a:p>
        </p:txBody>
      </p:sp>
      <p:sp>
        <p:nvSpPr>
          <p:cNvPr id="260" name="Google Shape;260;g3f3e54dd001_1_92"/>
          <p:cNvSpPr/>
          <p:nvPr/>
        </p:nvSpPr>
        <p:spPr>
          <a:xfrm>
            <a:off x="457200" y="3017520"/>
            <a:ext cx="11338500" cy="438900"/>
          </a:xfrm>
          <a:prstGeom prst="rect">
            <a:avLst/>
          </a:prstGeom>
          <a:solidFill>
            <a:srgbClr val="FDEDE3"/>
          </a:solidFill>
          <a:ln cap="flat" cmpd="sng" w="9525">
            <a:solidFill>
              <a:srgbClr val="DDE3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900" u="none" cap="none" strike="noStrike">
              <a:solidFill>
                <a:srgbClr val="000000"/>
              </a:solidFill>
              <a:latin typeface="Calibri"/>
              <a:ea typeface="Calibri"/>
              <a:cs typeface="Calibri"/>
              <a:sym typeface="Calibri"/>
            </a:endParaRPr>
          </a:p>
        </p:txBody>
      </p:sp>
      <p:sp>
        <p:nvSpPr>
          <p:cNvPr id="261" name="Google Shape;261;g3f3e54dd001_1_92"/>
          <p:cNvSpPr/>
          <p:nvPr/>
        </p:nvSpPr>
        <p:spPr>
          <a:xfrm>
            <a:off x="512064" y="3017520"/>
            <a:ext cx="3822300" cy="438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F5B1B"/>
              </a:buClr>
              <a:buSzPts val="1250"/>
              <a:buFont typeface="Quattrocento Sans"/>
              <a:buNone/>
            </a:pPr>
            <a:r>
              <a:rPr b="1" i="0" lang="en-US" sz="1350" u="none" cap="none" strike="noStrike">
                <a:solidFill>
                  <a:srgbClr val="BF5B1B"/>
                </a:solidFill>
                <a:latin typeface="Quattrocento Sans"/>
                <a:ea typeface="Quattrocento Sans"/>
                <a:cs typeface="Quattrocento Sans"/>
                <a:sym typeface="Quattrocento Sans"/>
              </a:rPr>
              <a:t>SHARE THE STUDENT CHOOSES</a:t>
            </a:r>
            <a:endParaRPr b="0" i="0" sz="1350" u="none" cap="none" strike="noStrike">
              <a:solidFill>
                <a:srgbClr val="000000"/>
              </a:solidFill>
              <a:latin typeface="Calibri"/>
              <a:ea typeface="Calibri"/>
              <a:cs typeface="Calibri"/>
              <a:sym typeface="Calibri"/>
            </a:endParaRPr>
          </a:p>
        </p:txBody>
      </p:sp>
      <p:sp>
        <p:nvSpPr>
          <p:cNvPr id="262" name="Google Shape;262;g3f3e54dd001_1_92"/>
          <p:cNvSpPr/>
          <p:nvPr/>
        </p:nvSpPr>
        <p:spPr>
          <a:xfrm>
            <a:off x="4443984" y="3017520"/>
            <a:ext cx="1371600" cy="43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F5B1B"/>
              </a:buClr>
              <a:buSzPts val="1250"/>
              <a:buFont typeface="Quattrocento Sans"/>
              <a:buNone/>
            </a:pPr>
            <a:r>
              <a:rPr b="1" i="0" lang="en-US" sz="1350" u="none" cap="none" strike="noStrike">
                <a:solidFill>
                  <a:srgbClr val="BF5B1B"/>
                </a:solidFill>
                <a:latin typeface="Quattrocento Sans"/>
                <a:ea typeface="Quattrocento Sans"/>
                <a:cs typeface="Quattrocento Sans"/>
                <a:sym typeface="Quattrocento Sans"/>
              </a:rPr>
              <a:t>0%</a:t>
            </a:r>
            <a:endParaRPr b="0" i="0" sz="1350" u="none" cap="none" strike="noStrike">
              <a:solidFill>
                <a:srgbClr val="000000"/>
              </a:solidFill>
              <a:latin typeface="Calibri"/>
              <a:ea typeface="Calibri"/>
              <a:cs typeface="Calibri"/>
              <a:sym typeface="Calibri"/>
            </a:endParaRPr>
          </a:p>
        </p:txBody>
      </p:sp>
      <p:sp>
        <p:nvSpPr>
          <p:cNvPr id="263" name="Google Shape;263;g3f3e54dd001_1_92"/>
          <p:cNvSpPr/>
          <p:nvPr/>
        </p:nvSpPr>
        <p:spPr>
          <a:xfrm>
            <a:off x="5925312" y="3017520"/>
            <a:ext cx="1371600" cy="43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7A46"/>
              </a:buClr>
              <a:buSzPts val="1250"/>
              <a:buFont typeface="Quattrocento Sans"/>
              <a:buNone/>
            </a:pPr>
            <a:r>
              <a:rPr b="1" i="0" lang="en-US" sz="1350" u="none" cap="none" strike="noStrike">
                <a:solidFill>
                  <a:srgbClr val="1E7A46"/>
                </a:solidFill>
                <a:latin typeface="Quattrocento Sans"/>
                <a:ea typeface="Quattrocento Sans"/>
                <a:cs typeface="Quattrocento Sans"/>
                <a:sym typeface="Quattrocento Sans"/>
              </a:rPr>
              <a:t>100%</a:t>
            </a:r>
            <a:endParaRPr b="0" i="0" sz="1350" u="none" cap="none" strike="noStrike">
              <a:solidFill>
                <a:srgbClr val="000000"/>
              </a:solidFill>
              <a:latin typeface="Calibri"/>
              <a:ea typeface="Calibri"/>
              <a:cs typeface="Calibri"/>
              <a:sym typeface="Calibri"/>
            </a:endParaRPr>
          </a:p>
        </p:txBody>
      </p:sp>
      <p:sp>
        <p:nvSpPr>
          <p:cNvPr id="264" name="Google Shape;264;g3f3e54dd001_1_92"/>
          <p:cNvSpPr/>
          <p:nvPr/>
        </p:nvSpPr>
        <p:spPr>
          <a:xfrm>
            <a:off x="7406640" y="3017520"/>
            <a:ext cx="1371600" cy="43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7A46"/>
              </a:buClr>
              <a:buSzPts val="1250"/>
              <a:buFont typeface="Quattrocento Sans"/>
              <a:buNone/>
            </a:pPr>
            <a:r>
              <a:rPr b="1" i="0" lang="en-US" sz="1350" u="none" cap="none" strike="noStrike">
                <a:solidFill>
                  <a:srgbClr val="1E7A46"/>
                </a:solidFill>
                <a:latin typeface="Quattrocento Sans"/>
                <a:ea typeface="Quattrocento Sans"/>
                <a:cs typeface="Quattrocento Sans"/>
                <a:sym typeface="Quattrocento Sans"/>
              </a:rPr>
              <a:t>100%</a:t>
            </a:r>
            <a:endParaRPr b="0" i="0" sz="1350" u="none" cap="none" strike="noStrike">
              <a:solidFill>
                <a:srgbClr val="000000"/>
              </a:solidFill>
              <a:latin typeface="Calibri"/>
              <a:ea typeface="Calibri"/>
              <a:cs typeface="Calibri"/>
              <a:sym typeface="Calibri"/>
            </a:endParaRPr>
          </a:p>
        </p:txBody>
      </p:sp>
      <p:sp>
        <p:nvSpPr>
          <p:cNvPr id="265" name="Google Shape;265;g3f3e54dd001_1_92"/>
          <p:cNvSpPr/>
          <p:nvPr/>
        </p:nvSpPr>
        <p:spPr>
          <a:xfrm>
            <a:off x="8887968" y="3017520"/>
            <a:ext cx="1371600" cy="43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7A46"/>
              </a:buClr>
              <a:buSzPts val="1250"/>
              <a:buFont typeface="Quattrocento Sans"/>
              <a:buNone/>
            </a:pPr>
            <a:r>
              <a:rPr b="1" i="0" lang="en-US" sz="1350" u="none" cap="none" strike="noStrike">
                <a:solidFill>
                  <a:srgbClr val="1E7A46"/>
                </a:solidFill>
                <a:latin typeface="Quattrocento Sans"/>
                <a:ea typeface="Quattrocento Sans"/>
                <a:cs typeface="Quattrocento Sans"/>
                <a:sym typeface="Quattrocento Sans"/>
              </a:rPr>
              <a:t>100%</a:t>
            </a:r>
            <a:endParaRPr b="0" i="0" sz="1350" u="none" cap="none" strike="noStrike">
              <a:solidFill>
                <a:srgbClr val="000000"/>
              </a:solidFill>
              <a:latin typeface="Calibri"/>
              <a:ea typeface="Calibri"/>
              <a:cs typeface="Calibri"/>
              <a:sym typeface="Calibri"/>
            </a:endParaRPr>
          </a:p>
        </p:txBody>
      </p:sp>
      <p:sp>
        <p:nvSpPr>
          <p:cNvPr id="266" name="Google Shape;266;g3f3e54dd001_1_92"/>
          <p:cNvSpPr/>
          <p:nvPr/>
        </p:nvSpPr>
        <p:spPr>
          <a:xfrm>
            <a:off x="10369296" y="3017520"/>
            <a:ext cx="1371600" cy="43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7A46"/>
              </a:buClr>
              <a:buSzPts val="1250"/>
              <a:buFont typeface="Quattrocento Sans"/>
              <a:buNone/>
            </a:pPr>
            <a:r>
              <a:rPr b="1" i="0" lang="en-US" sz="1350" u="none" cap="none" strike="noStrike">
                <a:solidFill>
                  <a:srgbClr val="1E7A46"/>
                </a:solidFill>
                <a:latin typeface="Quattrocento Sans"/>
                <a:ea typeface="Quattrocento Sans"/>
                <a:cs typeface="Quattrocento Sans"/>
                <a:sym typeface="Quattrocento Sans"/>
              </a:rPr>
              <a:t>100%</a:t>
            </a:r>
            <a:endParaRPr b="0" i="0" sz="1350" u="none" cap="none" strike="noStrike">
              <a:solidFill>
                <a:srgbClr val="000000"/>
              </a:solidFill>
              <a:latin typeface="Calibri"/>
              <a:ea typeface="Calibri"/>
              <a:cs typeface="Calibri"/>
              <a:sym typeface="Calibri"/>
            </a:endParaRPr>
          </a:p>
        </p:txBody>
      </p:sp>
      <p:sp>
        <p:nvSpPr>
          <p:cNvPr id="267" name="Google Shape;267;g3f3e54dd001_1_92"/>
          <p:cNvSpPr/>
          <p:nvPr/>
        </p:nvSpPr>
        <p:spPr>
          <a:xfrm>
            <a:off x="457200" y="3456432"/>
            <a:ext cx="11338500" cy="402300"/>
          </a:xfrm>
          <a:prstGeom prst="rect">
            <a:avLst/>
          </a:prstGeom>
          <a:solidFill>
            <a:srgbClr val="EEF2FA"/>
          </a:solidFill>
          <a:ln cap="flat" cmpd="sng" w="9525">
            <a:solidFill>
              <a:srgbClr val="DDE3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900" u="none" cap="none" strike="noStrike">
              <a:solidFill>
                <a:srgbClr val="000000"/>
              </a:solidFill>
              <a:latin typeface="Calibri"/>
              <a:ea typeface="Calibri"/>
              <a:cs typeface="Calibri"/>
              <a:sym typeface="Calibri"/>
            </a:endParaRPr>
          </a:p>
        </p:txBody>
      </p:sp>
      <p:sp>
        <p:nvSpPr>
          <p:cNvPr id="268" name="Google Shape;268;g3f3e54dd001_1_92"/>
          <p:cNvSpPr/>
          <p:nvPr/>
        </p:nvSpPr>
        <p:spPr>
          <a:xfrm>
            <a:off x="457200" y="4151376"/>
            <a:ext cx="11338500" cy="457200"/>
          </a:xfrm>
          <a:prstGeom prst="rect">
            <a:avLst/>
          </a:prstGeom>
          <a:solidFill>
            <a:srgbClr val="1F3864"/>
          </a:solidFill>
          <a:ln cap="flat" cmpd="sng" w="9525">
            <a:solidFill>
              <a:srgbClr val="DDE3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900" u="none" cap="none" strike="noStrike">
              <a:solidFill>
                <a:srgbClr val="000000"/>
              </a:solidFill>
              <a:latin typeface="Calibri"/>
              <a:ea typeface="Calibri"/>
              <a:cs typeface="Calibri"/>
              <a:sym typeface="Calibri"/>
            </a:endParaRPr>
          </a:p>
        </p:txBody>
      </p:sp>
      <p:sp>
        <p:nvSpPr>
          <p:cNvPr id="269" name="Google Shape;269;g3f3e54dd001_1_92"/>
          <p:cNvSpPr/>
          <p:nvPr/>
        </p:nvSpPr>
        <p:spPr>
          <a:xfrm>
            <a:off x="512064" y="4151376"/>
            <a:ext cx="38223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Quattrocento Sans"/>
              <a:buNone/>
            </a:pPr>
            <a:r>
              <a:rPr b="1" i="0" lang="en-US" u="none" cap="none" strike="noStrike">
                <a:solidFill>
                  <a:srgbClr val="FFFFFF"/>
                </a:solidFill>
                <a:latin typeface="Quattrocento Sans"/>
                <a:ea typeface="Quattrocento Sans"/>
                <a:cs typeface="Quattrocento Sans"/>
                <a:sym typeface="Quattrocento Sans"/>
              </a:rPr>
              <a:t>DEGREE TOTAL (CREDIT HOURS)</a:t>
            </a:r>
            <a:endParaRPr b="0" i="0" u="none" cap="none" strike="noStrike">
              <a:solidFill>
                <a:srgbClr val="000000"/>
              </a:solidFill>
              <a:latin typeface="Calibri"/>
              <a:ea typeface="Calibri"/>
              <a:cs typeface="Calibri"/>
              <a:sym typeface="Calibri"/>
            </a:endParaRPr>
          </a:p>
        </p:txBody>
      </p:sp>
      <p:sp>
        <p:nvSpPr>
          <p:cNvPr id="270" name="Google Shape;270;g3f3e54dd001_1_92"/>
          <p:cNvSpPr/>
          <p:nvPr/>
        </p:nvSpPr>
        <p:spPr>
          <a:xfrm>
            <a:off x="4443984" y="4151376"/>
            <a:ext cx="13716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Quattrocento Sans"/>
              <a:buNone/>
            </a:pPr>
            <a:r>
              <a:rPr b="1" i="0" lang="en-US" u="none" cap="none" strike="noStrike">
                <a:solidFill>
                  <a:srgbClr val="FFFFFF"/>
                </a:solidFill>
                <a:latin typeface="Quattrocento Sans"/>
                <a:ea typeface="Quattrocento Sans"/>
                <a:cs typeface="Quattrocento Sans"/>
                <a:sym typeface="Quattrocento Sans"/>
              </a:rPr>
              <a:t>138</a:t>
            </a:r>
            <a:endParaRPr b="0" i="0" u="none" cap="none" strike="noStrike">
              <a:solidFill>
                <a:srgbClr val="000000"/>
              </a:solidFill>
              <a:latin typeface="Calibri"/>
              <a:ea typeface="Calibri"/>
              <a:cs typeface="Calibri"/>
              <a:sym typeface="Calibri"/>
            </a:endParaRPr>
          </a:p>
        </p:txBody>
      </p:sp>
      <p:sp>
        <p:nvSpPr>
          <p:cNvPr id="271" name="Google Shape;271;g3f3e54dd001_1_92"/>
          <p:cNvSpPr/>
          <p:nvPr/>
        </p:nvSpPr>
        <p:spPr>
          <a:xfrm>
            <a:off x="5925312" y="4151376"/>
            <a:ext cx="13716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Quattrocento Sans"/>
              <a:buNone/>
            </a:pPr>
            <a:r>
              <a:rPr b="1" lang="en-US">
                <a:solidFill>
                  <a:srgbClr val="FFFFFF"/>
                </a:solidFill>
                <a:latin typeface="Quattrocento Sans"/>
                <a:ea typeface="Quattrocento Sans"/>
                <a:cs typeface="Quattrocento Sans"/>
                <a:sym typeface="Quattrocento Sans"/>
              </a:rPr>
              <a:t>126</a:t>
            </a:r>
            <a:endParaRPr b="0" i="0" u="none" cap="none" strike="noStrike">
              <a:solidFill>
                <a:srgbClr val="000000"/>
              </a:solidFill>
              <a:latin typeface="Calibri"/>
              <a:ea typeface="Calibri"/>
              <a:cs typeface="Calibri"/>
              <a:sym typeface="Calibri"/>
            </a:endParaRPr>
          </a:p>
        </p:txBody>
      </p:sp>
      <p:sp>
        <p:nvSpPr>
          <p:cNvPr id="272" name="Google Shape;272;g3f3e54dd001_1_92"/>
          <p:cNvSpPr/>
          <p:nvPr/>
        </p:nvSpPr>
        <p:spPr>
          <a:xfrm>
            <a:off x="7406640" y="4151376"/>
            <a:ext cx="13716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Quattrocento Sans"/>
              <a:buNone/>
            </a:pPr>
            <a:r>
              <a:rPr b="1" lang="en-US">
                <a:solidFill>
                  <a:srgbClr val="FFFFFF"/>
                </a:solidFill>
                <a:latin typeface="Quattrocento Sans"/>
                <a:ea typeface="Quattrocento Sans"/>
                <a:cs typeface="Quattrocento Sans"/>
                <a:sym typeface="Quattrocento Sans"/>
              </a:rPr>
              <a:t>122</a:t>
            </a:r>
            <a:endParaRPr b="0" i="0" u="none" cap="none" strike="noStrike">
              <a:solidFill>
                <a:srgbClr val="000000"/>
              </a:solidFill>
              <a:latin typeface="Calibri"/>
              <a:ea typeface="Calibri"/>
              <a:cs typeface="Calibri"/>
              <a:sym typeface="Calibri"/>
            </a:endParaRPr>
          </a:p>
        </p:txBody>
      </p:sp>
      <p:sp>
        <p:nvSpPr>
          <p:cNvPr id="273" name="Google Shape;273;g3f3e54dd001_1_92"/>
          <p:cNvSpPr/>
          <p:nvPr/>
        </p:nvSpPr>
        <p:spPr>
          <a:xfrm>
            <a:off x="8887968" y="4151376"/>
            <a:ext cx="13716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Quattrocento Sans"/>
              <a:buNone/>
            </a:pPr>
            <a:r>
              <a:rPr b="1" i="0" lang="en-US" u="none" cap="none" strike="noStrike">
                <a:solidFill>
                  <a:srgbClr val="FFFFFF"/>
                </a:solidFill>
                <a:latin typeface="Quattrocento Sans"/>
                <a:ea typeface="Quattrocento Sans"/>
                <a:cs typeface="Quattrocento Sans"/>
                <a:sym typeface="Quattrocento Sans"/>
              </a:rPr>
              <a:t>12</a:t>
            </a:r>
            <a:r>
              <a:rPr b="1" lang="en-US">
                <a:solidFill>
                  <a:srgbClr val="FFFFFF"/>
                </a:solidFill>
                <a:latin typeface="Quattrocento Sans"/>
                <a:ea typeface="Quattrocento Sans"/>
                <a:cs typeface="Quattrocento Sans"/>
                <a:sym typeface="Quattrocento Sans"/>
              </a:rPr>
              <a:t>9</a:t>
            </a:r>
            <a:endParaRPr b="0" i="0" u="none" cap="none" strike="noStrike">
              <a:solidFill>
                <a:srgbClr val="000000"/>
              </a:solidFill>
              <a:latin typeface="Calibri"/>
              <a:ea typeface="Calibri"/>
              <a:cs typeface="Calibri"/>
              <a:sym typeface="Calibri"/>
            </a:endParaRPr>
          </a:p>
        </p:txBody>
      </p:sp>
      <p:sp>
        <p:nvSpPr>
          <p:cNvPr id="274" name="Google Shape;274;g3f3e54dd001_1_92"/>
          <p:cNvSpPr/>
          <p:nvPr/>
        </p:nvSpPr>
        <p:spPr>
          <a:xfrm>
            <a:off x="10369296" y="4151376"/>
            <a:ext cx="13716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Quattrocento Sans"/>
              <a:buNone/>
            </a:pPr>
            <a:r>
              <a:rPr b="1" i="0" lang="en-US" u="none" cap="none" strike="noStrike">
                <a:solidFill>
                  <a:srgbClr val="FFFFFF"/>
                </a:solidFill>
                <a:latin typeface="Quattrocento Sans"/>
                <a:ea typeface="Quattrocento Sans"/>
                <a:cs typeface="Quattrocento Sans"/>
                <a:sym typeface="Quattrocento Sans"/>
              </a:rPr>
              <a:t>128</a:t>
            </a:r>
            <a:endParaRPr b="0" i="0" u="none" cap="none" strike="noStrike">
              <a:solidFill>
                <a:srgbClr val="000000"/>
              </a:solidFill>
              <a:latin typeface="Calibri"/>
              <a:ea typeface="Calibri"/>
              <a:cs typeface="Calibri"/>
              <a:sym typeface="Calibri"/>
            </a:endParaRPr>
          </a:p>
        </p:txBody>
      </p:sp>
      <p:sp>
        <p:nvSpPr>
          <p:cNvPr id="275" name="Google Shape;275;g3f3e54dd001_1_92"/>
          <p:cNvSpPr/>
          <p:nvPr/>
        </p:nvSpPr>
        <p:spPr>
          <a:xfrm>
            <a:off x="481576" y="3419859"/>
            <a:ext cx="3822300" cy="40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864"/>
              </a:buClr>
              <a:buSzPts val="1200"/>
              <a:buFont typeface="Quattrocento Sans"/>
              <a:buNone/>
            </a:pPr>
            <a:r>
              <a:rPr b="1" lang="en-US" sz="1300">
                <a:solidFill>
                  <a:srgbClr val="1F3864"/>
                </a:solidFill>
                <a:latin typeface="Quattrocento Sans"/>
                <a:ea typeface="Quattrocento Sans"/>
                <a:cs typeface="Quattrocento Sans"/>
                <a:sym typeface="Quattrocento Sans"/>
              </a:rPr>
              <a:t>Ranking</a:t>
            </a:r>
            <a:endParaRPr b="0" i="0" sz="1300" u="none" cap="none" strike="noStrike">
              <a:solidFill>
                <a:srgbClr val="000000"/>
              </a:solidFill>
              <a:latin typeface="Calibri"/>
              <a:ea typeface="Calibri"/>
              <a:cs typeface="Calibri"/>
              <a:sym typeface="Calibri"/>
            </a:endParaRPr>
          </a:p>
        </p:txBody>
      </p:sp>
      <p:sp>
        <p:nvSpPr>
          <p:cNvPr id="276" name="Google Shape;276;g3f3e54dd001_1_92"/>
          <p:cNvSpPr/>
          <p:nvPr/>
        </p:nvSpPr>
        <p:spPr>
          <a:xfrm>
            <a:off x="4413497" y="3419859"/>
            <a:ext cx="13716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864"/>
              </a:buClr>
              <a:buSzPts val="1200"/>
              <a:buFont typeface="Quattrocento Sans"/>
              <a:buNone/>
            </a:pPr>
            <a:r>
              <a:rPr b="1" i="0" lang="en-US" sz="1300" u="none" cap="none" strike="noStrike">
                <a:solidFill>
                  <a:srgbClr val="1F3864"/>
                </a:solidFill>
                <a:latin typeface="Quattrocento Sans"/>
                <a:ea typeface="Quattrocento Sans"/>
                <a:cs typeface="Quattrocento Sans"/>
                <a:sym typeface="Quattrocento Sans"/>
              </a:rPr>
              <a:t>0</a:t>
            </a:r>
            <a:endParaRPr b="0" i="0" sz="1300" u="none" cap="none" strike="noStrike">
              <a:solidFill>
                <a:srgbClr val="000000"/>
              </a:solidFill>
              <a:latin typeface="Calibri"/>
              <a:ea typeface="Calibri"/>
              <a:cs typeface="Calibri"/>
              <a:sym typeface="Calibri"/>
            </a:endParaRPr>
          </a:p>
        </p:txBody>
      </p:sp>
      <p:sp>
        <p:nvSpPr>
          <p:cNvPr id="277" name="Google Shape;277;g3f3e54dd001_1_92"/>
          <p:cNvSpPr/>
          <p:nvPr/>
        </p:nvSpPr>
        <p:spPr>
          <a:xfrm>
            <a:off x="5894824" y="3419859"/>
            <a:ext cx="13716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864"/>
              </a:buClr>
              <a:buSzPts val="1200"/>
              <a:buFont typeface="Quattrocento Sans"/>
              <a:buNone/>
            </a:pPr>
            <a:r>
              <a:rPr b="1" lang="en-US" sz="1300">
                <a:solidFill>
                  <a:srgbClr val="1F3864"/>
                </a:solidFill>
                <a:latin typeface="Quattrocento Sans"/>
                <a:ea typeface="Quattrocento Sans"/>
                <a:cs typeface="Quattrocento Sans"/>
                <a:sym typeface="Quattrocento Sans"/>
              </a:rPr>
              <a:t>23</a:t>
            </a:r>
            <a:endParaRPr b="0" i="0" sz="1300" u="none" cap="none" strike="noStrike">
              <a:solidFill>
                <a:srgbClr val="000000"/>
              </a:solidFill>
              <a:latin typeface="Calibri"/>
              <a:ea typeface="Calibri"/>
              <a:cs typeface="Calibri"/>
              <a:sym typeface="Calibri"/>
            </a:endParaRPr>
          </a:p>
        </p:txBody>
      </p:sp>
      <p:sp>
        <p:nvSpPr>
          <p:cNvPr id="278" name="Google Shape;278;g3f3e54dd001_1_92"/>
          <p:cNvSpPr/>
          <p:nvPr/>
        </p:nvSpPr>
        <p:spPr>
          <a:xfrm>
            <a:off x="7376152" y="3419859"/>
            <a:ext cx="13716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864"/>
              </a:buClr>
              <a:buSzPts val="1200"/>
              <a:buFont typeface="Quattrocento Sans"/>
              <a:buNone/>
            </a:pPr>
            <a:r>
              <a:rPr b="1" lang="en-US" sz="1300">
                <a:solidFill>
                  <a:srgbClr val="1F3864"/>
                </a:solidFill>
                <a:latin typeface="Quattrocento Sans"/>
                <a:ea typeface="Quattrocento Sans"/>
                <a:cs typeface="Quattrocento Sans"/>
                <a:sym typeface="Quattrocento Sans"/>
              </a:rPr>
              <a:t>52</a:t>
            </a:r>
            <a:endParaRPr b="0" i="0" sz="1300" u="none" cap="none" strike="noStrike">
              <a:solidFill>
                <a:srgbClr val="000000"/>
              </a:solidFill>
              <a:latin typeface="Calibri"/>
              <a:ea typeface="Calibri"/>
              <a:cs typeface="Calibri"/>
              <a:sym typeface="Calibri"/>
            </a:endParaRPr>
          </a:p>
        </p:txBody>
      </p:sp>
      <p:sp>
        <p:nvSpPr>
          <p:cNvPr id="279" name="Google Shape;279;g3f3e54dd001_1_92"/>
          <p:cNvSpPr/>
          <p:nvPr/>
        </p:nvSpPr>
        <p:spPr>
          <a:xfrm>
            <a:off x="8857481" y="3419859"/>
            <a:ext cx="13716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864"/>
              </a:buClr>
              <a:buSzPts val="1200"/>
              <a:buFont typeface="Quattrocento Sans"/>
              <a:buNone/>
            </a:pPr>
            <a:r>
              <a:rPr b="1" lang="en-US" sz="1300">
                <a:solidFill>
                  <a:srgbClr val="1F3864"/>
                </a:solidFill>
                <a:latin typeface="Quattrocento Sans"/>
                <a:ea typeface="Quattrocento Sans"/>
                <a:cs typeface="Quattrocento Sans"/>
                <a:sym typeface="Quattrocento Sans"/>
              </a:rPr>
              <a:t>151-200</a:t>
            </a:r>
            <a:endParaRPr b="0" i="0" sz="1300" u="none" cap="none" strike="noStrike">
              <a:solidFill>
                <a:srgbClr val="000000"/>
              </a:solidFill>
              <a:latin typeface="Calibri"/>
              <a:ea typeface="Calibri"/>
              <a:cs typeface="Calibri"/>
              <a:sym typeface="Calibri"/>
            </a:endParaRPr>
          </a:p>
        </p:txBody>
      </p:sp>
      <p:sp>
        <p:nvSpPr>
          <p:cNvPr id="280" name="Google Shape;280;g3f3e54dd001_1_92"/>
          <p:cNvSpPr/>
          <p:nvPr/>
        </p:nvSpPr>
        <p:spPr>
          <a:xfrm>
            <a:off x="10338809" y="3419859"/>
            <a:ext cx="1371600" cy="40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864"/>
              </a:buClr>
              <a:buSzPts val="1200"/>
              <a:buFont typeface="Quattrocento Sans"/>
              <a:buNone/>
            </a:pPr>
            <a:r>
              <a:rPr lang="en-US" sz="1300">
                <a:latin typeface="Calibri"/>
                <a:ea typeface="Calibri"/>
                <a:cs typeface="Calibri"/>
                <a:sym typeface="Calibri"/>
              </a:rPr>
              <a:t>201-300</a:t>
            </a:r>
            <a:endParaRPr b="0" i="0" sz="1300" u="none" cap="none" strike="noStrike">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pic>
        <p:nvPicPr>
          <p:cNvPr id="285" name="Google Shape;285;g3f7661adc39_0_3"/>
          <p:cNvPicPr preferRelativeResize="0"/>
          <p:nvPr/>
        </p:nvPicPr>
        <p:blipFill>
          <a:blip r:embed="rId3">
            <a:alphaModFix/>
          </a:blip>
          <a:stretch>
            <a:fillRect/>
          </a:stretch>
        </p:blipFill>
        <p:spPr>
          <a:xfrm>
            <a:off x="152400" y="152400"/>
            <a:ext cx="3886200" cy="971550"/>
          </a:xfrm>
          <a:prstGeom prst="rect">
            <a:avLst/>
          </a:prstGeom>
          <a:noFill/>
          <a:ln>
            <a:noFill/>
          </a:ln>
        </p:spPr>
      </p:pic>
      <p:pic>
        <p:nvPicPr>
          <p:cNvPr id="286" name="Google Shape;286;g3f7661adc39_0_3"/>
          <p:cNvPicPr preferRelativeResize="0"/>
          <p:nvPr/>
        </p:nvPicPr>
        <p:blipFill>
          <a:blip r:embed="rId4">
            <a:alphaModFix/>
          </a:blip>
          <a:stretch>
            <a:fillRect/>
          </a:stretch>
        </p:blipFill>
        <p:spPr>
          <a:xfrm>
            <a:off x="152400" y="1276350"/>
            <a:ext cx="7600950" cy="1752600"/>
          </a:xfrm>
          <a:prstGeom prst="rect">
            <a:avLst/>
          </a:prstGeom>
          <a:noFill/>
          <a:ln>
            <a:noFill/>
          </a:ln>
        </p:spPr>
      </p:pic>
      <p:pic>
        <p:nvPicPr>
          <p:cNvPr id="287" name="Google Shape;287;g3f7661adc39_0_3"/>
          <p:cNvPicPr preferRelativeResize="0"/>
          <p:nvPr/>
        </p:nvPicPr>
        <p:blipFill>
          <a:blip r:embed="rId5">
            <a:alphaModFix/>
          </a:blip>
          <a:stretch>
            <a:fillRect/>
          </a:stretch>
        </p:blipFill>
        <p:spPr>
          <a:xfrm>
            <a:off x="152400" y="3181350"/>
            <a:ext cx="7839075" cy="3086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pic>
        <p:nvPicPr>
          <p:cNvPr id="292" name="Google Shape;292;g3f7661adc39_0_9"/>
          <p:cNvPicPr preferRelativeResize="0"/>
          <p:nvPr/>
        </p:nvPicPr>
        <p:blipFill>
          <a:blip r:embed="rId3">
            <a:alphaModFix/>
          </a:blip>
          <a:stretch>
            <a:fillRect/>
          </a:stretch>
        </p:blipFill>
        <p:spPr>
          <a:xfrm>
            <a:off x="1536025" y="383025"/>
            <a:ext cx="7610475" cy="5876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pic>
        <p:nvPicPr>
          <p:cNvPr id="297" name="Google Shape;297;g3f7661adc39_0_15"/>
          <p:cNvPicPr preferRelativeResize="0"/>
          <p:nvPr/>
        </p:nvPicPr>
        <p:blipFill>
          <a:blip r:embed="rId3">
            <a:alphaModFix/>
          </a:blip>
          <a:stretch>
            <a:fillRect/>
          </a:stretch>
        </p:blipFill>
        <p:spPr>
          <a:xfrm>
            <a:off x="152400" y="152400"/>
            <a:ext cx="3035975" cy="796675"/>
          </a:xfrm>
          <a:prstGeom prst="rect">
            <a:avLst/>
          </a:prstGeom>
          <a:noFill/>
          <a:ln>
            <a:noFill/>
          </a:ln>
        </p:spPr>
      </p:pic>
      <p:pic>
        <p:nvPicPr>
          <p:cNvPr id="298" name="Google Shape;298;g3f7661adc39_0_15"/>
          <p:cNvPicPr preferRelativeResize="0"/>
          <p:nvPr/>
        </p:nvPicPr>
        <p:blipFill>
          <a:blip r:embed="rId4">
            <a:alphaModFix/>
          </a:blip>
          <a:stretch>
            <a:fillRect/>
          </a:stretch>
        </p:blipFill>
        <p:spPr>
          <a:xfrm>
            <a:off x="152400" y="1101475"/>
            <a:ext cx="6762750" cy="1409700"/>
          </a:xfrm>
          <a:prstGeom prst="rect">
            <a:avLst/>
          </a:prstGeom>
          <a:noFill/>
          <a:ln>
            <a:noFill/>
          </a:ln>
        </p:spPr>
      </p:pic>
      <p:pic>
        <p:nvPicPr>
          <p:cNvPr id="299" name="Google Shape;299;g3f7661adc39_0_15"/>
          <p:cNvPicPr preferRelativeResize="0"/>
          <p:nvPr/>
        </p:nvPicPr>
        <p:blipFill>
          <a:blip r:embed="rId5">
            <a:alphaModFix/>
          </a:blip>
          <a:stretch>
            <a:fillRect/>
          </a:stretch>
        </p:blipFill>
        <p:spPr>
          <a:xfrm>
            <a:off x="7067550" y="152400"/>
            <a:ext cx="4972051" cy="429191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pic>
        <p:nvPicPr>
          <p:cNvPr id="304" name="Google Shape;304;g3f7661adc39_0_21"/>
          <p:cNvPicPr preferRelativeResize="0"/>
          <p:nvPr/>
        </p:nvPicPr>
        <p:blipFill>
          <a:blip r:embed="rId3">
            <a:alphaModFix/>
          </a:blip>
          <a:stretch>
            <a:fillRect/>
          </a:stretch>
        </p:blipFill>
        <p:spPr>
          <a:xfrm>
            <a:off x="152400" y="152400"/>
            <a:ext cx="6483568" cy="65532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2026-08-17T17:05:00Z</dcterms:created>
  <dc:creator>Dr. Ahmad Alnakhli</dc:creator>
</cp:coreProperties>
</file>