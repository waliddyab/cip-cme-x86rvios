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CIP is a Curriculum Committee software asset, built by and for the committee. This session covers the undergraduate Electrical Engineering program only. MSc/graduate modules exist but are under construction and pending approval — not today's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is scale, not complaint. 32 courses, 171 CLOs and 466 CLO-to-PI relationships cannot be reviewed reliably by opening files one at a time. Every number here is read from the committee's own approved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short. CIP is a portal that happens to be delivered as a desktop application — the desktop part is a governance decision, covered on slides 8 and 9. Note once, in passing, that MSc modules are under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live if the room allows. Emphasise that nothing here is re-typed: the credit distribution, the study plan and the outcome statements all render from one authoritative dataset, so they cannot drift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course coordinator preparing a syllabus, an instructor checking what their CLOs are meant to deliver, and a committee member reviewing that course all look at the same page — which removes most version disagreements.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philosophy. Labels are descriptive — strong, looks appropriate, check evidence, review — and they point to documentation that needs confirming, not to a person. The Measurement and Improvement layers are deliberately empty: no attainment value is stored or displayed.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value argument for the department: CIP does not make curriculum decisions. It makes the evidence for those decisions available quickly, in a consistent form, and keeps the result with the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here. Stage 1 was the right choice for proving the concept and we are not disowning it. What changed is the requirement: once the portal held the department's approved curriculum record, we needed authorization before delivery and a managed release lifecycle — which static public hosting does not provide.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local files: an authorized faculty member can of course inspect what is on their own machine, and we are not claiming otherwise. The gain is that the curriculum package is no longer reachable from a public URL, each copy is verified against its release hash, and every machine can be brought to the same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not promises. Everything marked here has actually been done. The release identifier is the one currently packaged in the repository, so the council can verify it. Broader faculty rollout follows once the committee agrees.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ownership: this is the committee's asset and the roadmap is modest and fundable in effort. Ask the council for endorsement of continued development and for agreement on the faculty rollout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B2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B2E"/>
          </a:solidFill>
          <a:ln/>
        </p:spPr>
      </p:sp>
      <p:sp>
        <p:nvSpPr>
          <p:cNvPr id="3" name="Shape 1"/>
          <p:cNvSpPr/>
          <p:nvPr/>
        </p:nvSpPr>
        <p:spPr>
          <a:xfrm>
            <a:off x="7360920" y="1417320"/>
            <a:ext cx="4297680" cy="4297680"/>
          </a:xfrm>
          <a:prstGeom prst="roundRect">
            <a:avLst>
              <a:gd name="adj" fmla="val 2553"/>
            </a:avLst>
          </a:prstGeom>
          <a:solidFill>
            <a:srgbClr val="122842">
              <a:alpha val="45000"/>
            </a:srgbClr>
          </a:solidFill>
          <a:ln w="12700">
            <a:solidFill>
              <a:srgbClr val="234A72"/>
            </a:solidFill>
            <a:prstDash val="solid"/>
          </a:ln>
        </p:spPr>
      </p:sp>
      <p:sp>
        <p:nvSpPr>
          <p:cNvPr id="4" name="Shape 2"/>
          <p:cNvSpPr/>
          <p:nvPr/>
        </p:nvSpPr>
        <p:spPr>
          <a:xfrm>
            <a:off x="8001000" y="2057400"/>
            <a:ext cx="3017520" cy="3017520"/>
          </a:xfrm>
          <a:prstGeom prst="roundRect">
            <a:avLst>
              <a:gd name="adj" fmla="val 3636"/>
            </a:avLst>
          </a:prstGeom>
          <a:solidFill>
            <a:srgbClr val="122842">
              <a:alpha val="65000"/>
            </a:srgbClr>
          </a:solidFill>
          <a:ln w="12700">
            <a:solidFill>
              <a:srgbClr val="234A72"/>
            </a:solidFill>
            <a:prstDash val="solid"/>
          </a:ln>
        </p:spPr>
      </p:sp>
      <p:sp>
        <p:nvSpPr>
          <p:cNvPr id="5" name="Shape 3"/>
          <p:cNvSpPr/>
          <p:nvPr/>
        </p:nvSpPr>
        <p:spPr>
          <a:xfrm>
            <a:off x="8641080" y="2697480"/>
            <a:ext cx="1737360" cy="1737360"/>
          </a:xfrm>
          <a:prstGeom prst="roundRect">
            <a:avLst>
              <a:gd name="adj" fmla="val 6316"/>
            </a:avLst>
          </a:prstGeom>
          <a:solidFill>
            <a:srgbClr val="122842">
              <a:alpha val="90000"/>
            </a:srgbClr>
          </a:solidFill>
          <a:ln w="12700">
            <a:solidFill>
              <a:srgbClr val="234A72"/>
            </a:solidFill>
            <a:prstDash val="solid"/>
          </a:ln>
        </p:spPr>
      </p:sp>
      <p:sp>
        <p:nvSpPr>
          <p:cNvPr id="6" name="Shape 4"/>
          <p:cNvSpPr/>
          <p:nvPr/>
        </p:nvSpPr>
        <p:spPr>
          <a:xfrm>
            <a:off x="9189720" y="3246120"/>
            <a:ext cx="640080" cy="640080"/>
          </a:xfrm>
          <a:prstGeom prst="roundRect">
            <a:avLst>
              <a:gd name="adj" fmla="val 20000"/>
            </a:avLst>
          </a:prstGeom>
          <a:solidFill>
            <a:srgbClr val="F2A23A"/>
          </a:solidFill>
          <a:ln w="12700">
            <a:solidFill>
              <a:srgbClr val="F2A23A"/>
            </a:solidFill>
            <a:prstDash val="solid"/>
          </a:ln>
        </p:spPr>
      </p:sp>
      <p:sp>
        <p:nvSpPr>
          <p:cNvPr id="7" name="Text 5"/>
          <p:cNvSpPr txBox="1"/>
          <p:nvPr/>
        </p:nvSpPr>
        <p:spPr>
          <a:xfrm>
            <a:off x="9189720" y="3246120"/>
            <a:ext cx="640080" cy="640080"/>
          </a:xfrm>
          <a:prstGeom prst="rect">
            <a:avLst/>
          </a:prstGeom>
          <a:noFill/>
          <a:ln/>
        </p:spPr>
        <p:txBody>
          <a:bodyPr wrap="square" lIns="0" tIns="0" rIns="0" bIns="0" rtlCol="0" anchor="ctr"/>
          <a:lstStyle/>
          <a:p>
            <a:pPr algn="ctr" indent="0" marL="0">
              <a:buNone/>
            </a:pPr>
            <a:r>
              <a:rPr lang="en-US" sz="1500" b="1" dirty="0">
                <a:solidFill>
                  <a:srgbClr val="0B1B2E"/>
                </a:solidFill>
                <a:latin typeface="Cambria" pitchFamily="34" charset="0"/>
                <a:ea typeface="Cambria" pitchFamily="34" charset="-122"/>
                <a:cs typeface="Cambria" pitchFamily="34" charset="-120"/>
              </a:rPr>
              <a:t>CIP</a:t>
            </a:r>
            <a:endParaRPr lang="en-US" sz="1500" dirty="0"/>
          </a:p>
        </p:txBody>
      </p:sp>
      <p:sp>
        <p:nvSpPr>
          <p:cNvPr id="8" name="Text 6"/>
          <p:cNvSpPr txBox="1"/>
          <p:nvPr/>
        </p:nvSpPr>
        <p:spPr>
          <a:xfrm>
            <a:off x="566928" y="1417320"/>
            <a:ext cx="7315200" cy="274320"/>
          </a:xfrm>
          <a:prstGeom prst="rect">
            <a:avLst/>
          </a:prstGeom>
          <a:noFill/>
          <a:ln/>
        </p:spPr>
        <p:txBody>
          <a:bodyPr wrap="square" lIns="0" tIns="0" rIns="0" bIns="0" rtlCol="0" anchor="ctr"/>
          <a:lstStyle/>
          <a:p>
            <a:pPr indent="0" marL="0">
              <a:buNone/>
            </a:pPr>
            <a:r>
              <a:rPr lang="en-US" sz="1150" b="1" spc="220" kern="0" dirty="0">
                <a:solidFill>
                  <a:srgbClr val="F2A23A"/>
                </a:solidFill>
                <a:latin typeface="Calibri" pitchFamily="34" charset="0"/>
                <a:ea typeface="Calibri" pitchFamily="34" charset="-122"/>
                <a:cs typeface="Calibri" pitchFamily="34" charset="-120"/>
              </a:rPr>
              <a:t>PRINCE SULTAN UNIVERSITY  ·  COLLEGE OF ENGINEERING</a:t>
            </a:r>
            <a:endParaRPr lang="en-US" sz="1150" dirty="0"/>
          </a:p>
        </p:txBody>
      </p:sp>
      <p:sp>
        <p:nvSpPr>
          <p:cNvPr id="9" name="Text 7"/>
          <p:cNvSpPr txBox="1"/>
          <p:nvPr/>
        </p:nvSpPr>
        <p:spPr>
          <a:xfrm>
            <a:off x="566928" y="1828800"/>
            <a:ext cx="6949440" cy="1371600"/>
          </a:xfrm>
          <a:prstGeom prst="rect">
            <a:avLst/>
          </a:prstGeom>
          <a:noFill/>
          <a:ln/>
        </p:spPr>
        <p:txBody>
          <a:bodyPr wrap="square" lIns="0" tIns="0" rIns="0" bIns="0" rtlCol="0" anchor="ctr"/>
          <a:lstStyle/>
          <a:p>
            <a:pPr indent="0" marL="0">
              <a:lnSpc>
                <a:spcPct val="92000"/>
              </a:lnSpc>
              <a:buNone/>
            </a:pPr>
            <a:r>
              <a:rPr lang="en-US" sz="4800" b="1" dirty="0">
                <a:solidFill>
                  <a:srgbClr val="FFFFFF"/>
                </a:solidFill>
                <a:latin typeface="Cambria" pitchFamily="34" charset="0"/>
                <a:ea typeface="Cambria" pitchFamily="34" charset="-122"/>
                <a:cs typeface="Cambria" pitchFamily="34" charset="-120"/>
              </a:rPr>
              <a:t>Curriculum Intelligence Portal</a:t>
            </a:r>
            <a:endParaRPr lang="en-US" sz="4800" dirty="0"/>
          </a:p>
        </p:txBody>
      </p:sp>
      <p:sp>
        <p:nvSpPr>
          <p:cNvPr id="10" name="Text 8"/>
          <p:cNvSpPr txBox="1"/>
          <p:nvPr/>
        </p:nvSpPr>
        <p:spPr>
          <a:xfrm>
            <a:off x="566928" y="3310128"/>
            <a:ext cx="6492240" cy="685800"/>
          </a:xfrm>
          <a:prstGeom prst="rect">
            <a:avLst/>
          </a:prstGeom>
          <a:noFill/>
          <a:ln/>
        </p:spPr>
        <p:txBody>
          <a:bodyPr wrap="square" lIns="0" tIns="0" rIns="0" bIns="0" rtlCol="0" anchor="ctr"/>
          <a:lstStyle/>
          <a:p>
            <a:pPr indent="0" marL="0">
              <a:lnSpc>
                <a:spcPct val="110000"/>
              </a:lnSpc>
              <a:buNone/>
            </a:pPr>
            <a:r>
              <a:rPr lang="en-US" sz="1700" dirty="0">
                <a:solidFill>
                  <a:srgbClr val="C3D6EA"/>
                </a:solidFill>
                <a:latin typeface="Calibri" pitchFamily="34" charset="0"/>
                <a:ea typeface="Calibri" pitchFamily="34" charset="-122"/>
                <a:cs typeface="Calibri" pitchFamily="34" charset="-120"/>
              </a:rPr>
              <a:t>Undergraduate EE curriculum intelligence and continuous-improvement platform</a:t>
            </a:r>
            <a:endParaRPr lang="en-US" sz="1700" dirty="0"/>
          </a:p>
        </p:txBody>
      </p:sp>
      <p:sp>
        <p:nvSpPr>
          <p:cNvPr id="11" name="Shape 9"/>
          <p:cNvSpPr/>
          <p:nvPr/>
        </p:nvSpPr>
        <p:spPr>
          <a:xfrm>
            <a:off x="566928" y="4224528"/>
            <a:ext cx="2788920" cy="384048"/>
          </a:xfrm>
          <a:prstGeom prst="roundRect">
            <a:avLst>
              <a:gd name="adj" fmla="val 47619"/>
            </a:avLst>
          </a:prstGeom>
          <a:solidFill>
            <a:srgbClr val="1B3A5C"/>
          </a:solidFill>
          <a:ln w="12700">
            <a:solidFill>
              <a:srgbClr val="2D5C8A"/>
            </a:solidFill>
            <a:prstDash val="solid"/>
          </a:ln>
        </p:spPr>
      </p:sp>
      <p:sp>
        <p:nvSpPr>
          <p:cNvPr id="12" name="Text 10"/>
          <p:cNvSpPr txBox="1"/>
          <p:nvPr/>
        </p:nvSpPr>
        <p:spPr>
          <a:xfrm>
            <a:off x="566928" y="4224528"/>
            <a:ext cx="2788920" cy="384048"/>
          </a:xfrm>
          <a:prstGeom prst="rect">
            <a:avLst/>
          </a:prstGeom>
          <a:noFill/>
          <a:ln/>
        </p:spPr>
        <p:txBody>
          <a:bodyPr wrap="square" lIns="0" tIns="0" rIns="0" bIns="0" rtlCol="0" anchor="ctr"/>
          <a:lstStyle/>
          <a:p>
            <a:pPr algn="ctr" indent="0" marL="0">
              <a:buNone/>
            </a:pPr>
            <a:r>
              <a:rPr lang="en-US" sz="1100" b="1" dirty="0">
                <a:solidFill>
                  <a:srgbClr val="79D7FF"/>
                </a:solidFill>
                <a:latin typeface="Calibri" pitchFamily="34" charset="0"/>
                <a:ea typeface="Calibri" pitchFamily="34" charset="-122"/>
                <a:cs typeface="Calibri" pitchFamily="34" charset="-120"/>
              </a:rPr>
              <a:t>CIP Desktop 1.0.0  ·  r000000000003</a:t>
            </a:r>
            <a:endParaRPr lang="en-US" sz="1100" dirty="0"/>
          </a:p>
        </p:txBody>
      </p:sp>
      <p:sp>
        <p:nvSpPr>
          <p:cNvPr id="13" name="Text 11"/>
          <p:cNvSpPr txBox="1"/>
          <p:nvPr/>
        </p:nvSpPr>
        <p:spPr>
          <a:xfrm>
            <a:off x="566928" y="4892040"/>
            <a:ext cx="6766560" cy="914400"/>
          </a:xfrm>
          <a:prstGeom prst="rect">
            <a:avLst/>
          </a:prstGeom>
          <a:noFill/>
          <a:ln/>
        </p:spPr>
        <p:txBody>
          <a:bodyPr wrap="square" lIns="0" tIns="0" rIns="0" bIns="0" rtlCol="0" anchor="ctr"/>
          <a:lstStyle/>
          <a:p>
            <a:pPr indent="0" marL="0">
              <a:lnSpc>
                <a:spcPct val="125000"/>
              </a:lnSpc>
              <a:buNone/>
            </a:pPr>
            <a:r>
              <a:rPr lang="en-US" sz="1300" b="1" dirty="0">
                <a:solidFill>
                  <a:srgbClr val="FFFFFF"/>
                </a:solidFill>
                <a:latin typeface="Calibri" pitchFamily="34" charset="0"/>
                <a:ea typeface="Calibri" pitchFamily="34" charset="-122"/>
                <a:cs typeface="Calibri" pitchFamily="34" charset="-120"/>
              </a:rPr>
              <a:t>Curriculum Committee</a:t>
            </a:r>
            <a:endParaRPr lang="en-US" sz="1300" dirty="0"/>
          </a:p>
          <a:p>
            <a:pPr indent="0" marL="0">
              <a:lnSpc>
                <a:spcPct val="125000"/>
              </a:lnSpc>
              <a:buNone/>
            </a:pPr>
            <a:r>
              <a:rPr lang="en-US" sz="1300" dirty="0">
                <a:solidFill>
                  <a:srgbClr val="9FB6CE"/>
                </a:solidFill>
                <a:latin typeface="Calibri" pitchFamily="34" charset="0"/>
                <a:ea typeface="Calibri" pitchFamily="34" charset="-122"/>
                <a:cs typeface="Calibri" pitchFamily="34" charset="-120"/>
              </a:rPr>
              <a:t>Department of Communications and Networks Engineering</a:t>
            </a:r>
            <a:endParaRPr lang="en-US" sz="1300" dirty="0"/>
          </a:p>
          <a:p>
            <a:pPr indent="0" marL="0">
              <a:lnSpc>
                <a:spcPct val="125000"/>
              </a:lnSpc>
              <a:buNone/>
            </a:pPr>
            <a:r>
              <a:rPr lang="en-US" sz="1300" dirty="0">
                <a:solidFill>
                  <a:srgbClr val="9FB6CE"/>
                </a:solidFill>
                <a:latin typeface="Calibri" pitchFamily="34" charset="0"/>
                <a:ea typeface="Calibri" pitchFamily="34" charset="-122"/>
                <a:cs typeface="Calibri" pitchFamily="34" charset="-120"/>
              </a:rPr>
              <a:t>Presented to the Department Council</a:t>
            </a:r>
            <a:endParaRPr lang="en-US" sz="1300" dirty="0"/>
          </a:p>
        </p:txBody>
      </p:sp>
      <p:sp>
        <p:nvSpPr>
          <p:cNvPr id="15" name="Text 12"/>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7D93AB"/>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16" name="Text 13"/>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7D93AB"/>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9A6208"/>
                </a:solidFill>
                <a:latin typeface="Calibri" pitchFamily="34" charset="0"/>
                <a:ea typeface="Calibri" pitchFamily="34" charset="-122"/>
                <a:cs typeface="Calibri" pitchFamily="34" charset="-120"/>
              </a:rPr>
              <a:t>THE PROBLEM WE SET OUT TO SOLVE</a:t>
            </a:r>
            <a:endParaRPr lang="en-US" sz="1100" dirty="0"/>
          </a:p>
        </p:txBody>
      </p:sp>
      <p:sp>
        <p:nvSpPr>
          <p:cNvPr id="3" name="Text 1"/>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143D66"/>
                </a:solidFill>
                <a:latin typeface="Cambria" pitchFamily="34" charset="0"/>
                <a:ea typeface="Cambria" pitchFamily="34" charset="-122"/>
                <a:cs typeface="Cambria" pitchFamily="34" charset="-120"/>
              </a:rPr>
              <a:t>Why CIP was needed</a:t>
            </a:r>
            <a:endParaRPr lang="en-US" sz="3200" dirty="0"/>
          </a:p>
        </p:txBody>
      </p:sp>
      <p:sp>
        <p:nvSpPr>
          <p:cNvPr id="4" name="Text 2"/>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5B6C81"/>
                </a:solidFill>
                <a:latin typeface="Calibri" pitchFamily="34" charset="0"/>
                <a:ea typeface="Calibri" pitchFamily="34" charset="-122"/>
                <a:cs typeface="Calibri" pitchFamily="34" charset="-120"/>
              </a:rPr>
              <a:t>One undergraduate program carries thousands of curriculum relationships — held in files, not in a system.</a:t>
            </a:r>
            <a:endParaRPr lang="en-US" sz="1400" dirty="0"/>
          </a:p>
        </p:txBody>
      </p:sp>
      <p:sp>
        <p:nvSpPr>
          <p:cNvPr id="5" name="Shape 3"/>
          <p:cNvSpPr/>
          <p:nvPr/>
        </p:nvSpPr>
        <p:spPr>
          <a:xfrm>
            <a:off x="566928" y="1874520"/>
            <a:ext cx="6720840" cy="1261872"/>
          </a:xfrm>
          <a:prstGeom prst="roundRect">
            <a:avLst>
              <a:gd name="adj" fmla="val 5797"/>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6" name="Shape 4"/>
          <p:cNvSpPr/>
          <p:nvPr/>
        </p:nvSpPr>
        <p:spPr>
          <a:xfrm>
            <a:off x="859536" y="2148840"/>
            <a:ext cx="329184" cy="329184"/>
          </a:xfrm>
          <a:prstGeom prst="roundRect">
            <a:avLst>
              <a:gd name="adj" fmla="val 69444"/>
            </a:avLst>
          </a:prstGeom>
          <a:solidFill>
            <a:srgbClr val="143D66"/>
          </a:solidFill>
          <a:ln w="12700">
            <a:solidFill>
              <a:srgbClr val="143D66"/>
            </a:solidFill>
            <a:prstDash val="solid"/>
          </a:ln>
        </p:spPr>
      </p:sp>
      <p:sp>
        <p:nvSpPr>
          <p:cNvPr id="7" name="Text 5"/>
          <p:cNvSpPr txBox="1"/>
          <p:nvPr/>
        </p:nvSpPr>
        <p:spPr>
          <a:xfrm>
            <a:off x="859536" y="2148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71600" y="2075688"/>
            <a:ext cx="5669280" cy="292608"/>
          </a:xfrm>
          <a:prstGeom prst="rect">
            <a:avLst/>
          </a:prstGeom>
          <a:noFill/>
          <a:ln/>
        </p:spPr>
        <p:txBody>
          <a:bodyPr wrap="square" lIns="0" tIns="0" rIns="0" bIns="0" rtlCol="0" anchor="ctr"/>
          <a:lstStyle/>
          <a:p>
            <a:pPr indent="0" marL="0">
              <a:buNone/>
            </a:pPr>
            <a:r>
              <a:rPr lang="en-US" sz="1550" b="1" dirty="0">
                <a:solidFill>
                  <a:srgbClr val="143D66"/>
                </a:solidFill>
                <a:latin typeface="Calibri" pitchFamily="34" charset="0"/>
                <a:ea typeface="Calibri" pitchFamily="34" charset="-122"/>
                <a:cs typeface="Calibri" pitchFamily="34" charset="-120"/>
              </a:rPr>
              <a:t>Curriculum data is distributed</a:t>
            </a:r>
            <a:endParaRPr lang="en-US" sz="1550" dirty="0"/>
          </a:p>
        </p:txBody>
      </p:sp>
      <p:sp>
        <p:nvSpPr>
          <p:cNvPr id="9" name="Text 7"/>
          <p:cNvSpPr txBox="1"/>
          <p:nvPr/>
        </p:nvSpPr>
        <p:spPr>
          <a:xfrm>
            <a:off x="1371600" y="2404872"/>
            <a:ext cx="5715000" cy="621792"/>
          </a:xfrm>
          <a:prstGeom prst="rect">
            <a:avLst/>
          </a:prstGeom>
          <a:noFill/>
          <a:ln/>
        </p:spPr>
        <p:txBody>
          <a:bodyPr wrap="square" lIns="0" tIns="0" rIns="0" bIns="0" rtlCol="0" anchor="ctr"/>
          <a:lstStyle/>
          <a:p>
            <a:pPr indent="0" marL="0">
              <a:lnSpc>
                <a:spcPct val="106000"/>
              </a:lnSpc>
              <a:buNone/>
            </a:pPr>
            <a:r>
              <a:rPr lang="en-US" sz="1200" dirty="0">
                <a:solidFill>
                  <a:srgbClr val="5B6C81"/>
                </a:solidFill>
                <a:latin typeface="Calibri" pitchFamily="34" charset="0"/>
                <a:ea typeface="Calibri" pitchFamily="34" charset="-122"/>
                <a:cs typeface="Calibri" pitchFamily="34" charset="-120"/>
              </a:rPr>
              <a:t>Course specifications, CLOs, SO/PI mappings, assessment material, reports and committee records live in separate files and folders.</a:t>
            </a:r>
            <a:endParaRPr lang="en-US" sz="1200" dirty="0"/>
          </a:p>
        </p:txBody>
      </p:sp>
      <p:sp>
        <p:nvSpPr>
          <p:cNvPr id="10" name="Shape 8"/>
          <p:cNvSpPr/>
          <p:nvPr/>
        </p:nvSpPr>
        <p:spPr>
          <a:xfrm>
            <a:off x="566928" y="3264408"/>
            <a:ext cx="6720840" cy="1261872"/>
          </a:xfrm>
          <a:prstGeom prst="roundRect">
            <a:avLst>
              <a:gd name="adj" fmla="val 5797"/>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11" name="Shape 9"/>
          <p:cNvSpPr/>
          <p:nvPr/>
        </p:nvSpPr>
        <p:spPr>
          <a:xfrm>
            <a:off x="859536" y="3538728"/>
            <a:ext cx="329184" cy="329184"/>
          </a:xfrm>
          <a:prstGeom prst="roundRect">
            <a:avLst>
              <a:gd name="adj" fmla="val 69444"/>
            </a:avLst>
          </a:prstGeom>
          <a:solidFill>
            <a:srgbClr val="143D66"/>
          </a:solidFill>
          <a:ln w="12700">
            <a:solidFill>
              <a:srgbClr val="143D66"/>
            </a:solidFill>
            <a:prstDash val="solid"/>
          </a:ln>
        </p:spPr>
      </p:sp>
      <p:sp>
        <p:nvSpPr>
          <p:cNvPr id="12" name="Text 10"/>
          <p:cNvSpPr txBox="1"/>
          <p:nvPr/>
        </p:nvSpPr>
        <p:spPr>
          <a:xfrm>
            <a:off x="859536" y="35387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71600" y="3465576"/>
            <a:ext cx="5669280" cy="292608"/>
          </a:xfrm>
          <a:prstGeom prst="rect">
            <a:avLst/>
          </a:prstGeom>
          <a:noFill/>
          <a:ln/>
        </p:spPr>
        <p:txBody>
          <a:bodyPr wrap="square" lIns="0" tIns="0" rIns="0" bIns="0" rtlCol="0" anchor="ctr"/>
          <a:lstStyle/>
          <a:p>
            <a:pPr indent="0" marL="0">
              <a:buNone/>
            </a:pPr>
            <a:r>
              <a:rPr lang="en-US" sz="1550" b="1" dirty="0">
                <a:solidFill>
                  <a:srgbClr val="143D66"/>
                </a:solidFill>
                <a:latin typeface="Calibri" pitchFamily="34" charset="0"/>
                <a:ea typeface="Calibri" pitchFamily="34" charset="-122"/>
                <a:cs typeface="Calibri" pitchFamily="34" charset="-120"/>
              </a:rPr>
              <a:t>Faculty need one clear view</a:t>
            </a:r>
            <a:endParaRPr lang="en-US" sz="1550" dirty="0"/>
          </a:p>
        </p:txBody>
      </p:sp>
      <p:sp>
        <p:nvSpPr>
          <p:cNvPr id="14" name="Text 12"/>
          <p:cNvSpPr txBox="1"/>
          <p:nvPr/>
        </p:nvSpPr>
        <p:spPr>
          <a:xfrm>
            <a:off x="1371600" y="3794760"/>
            <a:ext cx="5715000" cy="621792"/>
          </a:xfrm>
          <a:prstGeom prst="rect">
            <a:avLst/>
          </a:prstGeom>
          <a:noFill/>
          <a:ln/>
        </p:spPr>
        <p:txBody>
          <a:bodyPr wrap="square" lIns="0" tIns="0" rIns="0" bIns="0" rtlCol="0" anchor="ctr"/>
          <a:lstStyle/>
          <a:p>
            <a:pPr indent="0" marL="0">
              <a:lnSpc>
                <a:spcPct val="106000"/>
              </a:lnSpc>
              <a:buNone/>
            </a:pPr>
            <a:r>
              <a:rPr lang="en-US" sz="1200" dirty="0">
                <a:solidFill>
                  <a:srgbClr val="5B6C81"/>
                </a:solidFill>
                <a:latin typeface="Calibri" pitchFamily="34" charset="0"/>
                <a:ea typeface="Calibri" pitchFamily="34" charset="-122"/>
                <a:cs typeface="Calibri" pitchFamily="34" charset="-120"/>
              </a:rPr>
              <a:t>Coordinators and instructors need to see their course, its outcomes, its mappings and the evidence behind them without chasing documents.</a:t>
            </a:r>
            <a:endParaRPr lang="en-US" sz="1200" dirty="0"/>
          </a:p>
        </p:txBody>
      </p:sp>
      <p:sp>
        <p:nvSpPr>
          <p:cNvPr id="15" name="Shape 13"/>
          <p:cNvSpPr/>
          <p:nvPr/>
        </p:nvSpPr>
        <p:spPr>
          <a:xfrm>
            <a:off x="566928" y="4654296"/>
            <a:ext cx="6720840" cy="1261872"/>
          </a:xfrm>
          <a:prstGeom prst="roundRect">
            <a:avLst>
              <a:gd name="adj" fmla="val 5797"/>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16" name="Shape 14"/>
          <p:cNvSpPr/>
          <p:nvPr/>
        </p:nvSpPr>
        <p:spPr>
          <a:xfrm>
            <a:off x="859536" y="4928616"/>
            <a:ext cx="329184" cy="329184"/>
          </a:xfrm>
          <a:prstGeom prst="roundRect">
            <a:avLst>
              <a:gd name="adj" fmla="val 69444"/>
            </a:avLst>
          </a:prstGeom>
          <a:solidFill>
            <a:srgbClr val="143D66"/>
          </a:solidFill>
          <a:ln w="12700">
            <a:solidFill>
              <a:srgbClr val="143D66"/>
            </a:solidFill>
            <a:prstDash val="solid"/>
          </a:ln>
        </p:spPr>
      </p:sp>
      <p:sp>
        <p:nvSpPr>
          <p:cNvPr id="17" name="Text 15"/>
          <p:cNvSpPr txBox="1"/>
          <p:nvPr/>
        </p:nvSpPr>
        <p:spPr>
          <a:xfrm>
            <a:off x="859536" y="49286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71600" y="4855464"/>
            <a:ext cx="5669280" cy="292608"/>
          </a:xfrm>
          <a:prstGeom prst="rect">
            <a:avLst/>
          </a:prstGeom>
          <a:noFill/>
          <a:ln/>
        </p:spPr>
        <p:txBody>
          <a:bodyPr wrap="square" lIns="0" tIns="0" rIns="0" bIns="0" rtlCol="0" anchor="ctr"/>
          <a:lstStyle/>
          <a:p>
            <a:pPr indent="0" marL="0">
              <a:buNone/>
            </a:pPr>
            <a:r>
              <a:rPr lang="en-US" sz="1550" b="1" dirty="0">
                <a:solidFill>
                  <a:srgbClr val="143D66"/>
                </a:solidFill>
                <a:latin typeface="Calibri" pitchFamily="34" charset="0"/>
                <a:ea typeface="Calibri" pitchFamily="34" charset="-122"/>
                <a:cs typeface="Calibri" pitchFamily="34" charset="-120"/>
              </a:rPr>
              <a:t>Committee work needs traceability</a:t>
            </a:r>
            <a:endParaRPr lang="en-US" sz="1550" dirty="0"/>
          </a:p>
        </p:txBody>
      </p:sp>
      <p:sp>
        <p:nvSpPr>
          <p:cNvPr id="19" name="Text 17"/>
          <p:cNvSpPr txBox="1"/>
          <p:nvPr/>
        </p:nvSpPr>
        <p:spPr>
          <a:xfrm>
            <a:off x="1371600" y="5184648"/>
            <a:ext cx="5715000" cy="621792"/>
          </a:xfrm>
          <a:prstGeom prst="rect">
            <a:avLst/>
          </a:prstGeom>
          <a:noFill/>
          <a:ln/>
        </p:spPr>
        <p:txBody>
          <a:bodyPr wrap="square" lIns="0" tIns="0" rIns="0" bIns="0" rtlCol="0" anchor="ctr"/>
          <a:lstStyle/>
          <a:p>
            <a:pPr indent="0" marL="0">
              <a:lnSpc>
                <a:spcPct val="106000"/>
              </a:lnSpc>
              <a:buNone/>
            </a:pPr>
            <a:r>
              <a:rPr lang="en-US" sz="1200" dirty="0">
                <a:solidFill>
                  <a:srgbClr val="5B6C81"/>
                </a:solidFill>
                <a:latin typeface="Calibri" pitchFamily="34" charset="0"/>
                <a:ea typeface="Calibri" pitchFamily="34" charset="-122"/>
                <a:cs typeface="Calibri" pitchFamily="34" charset="-120"/>
              </a:rPr>
              <a:t>Review must be consistent, evidence-based and repeatable across terms — and fast enough to finish inside a review cycle.</a:t>
            </a:r>
            <a:endParaRPr lang="en-US" sz="1200" dirty="0"/>
          </a:p>
        </p:txBody>
      </p:sp>
      <p:sp>
        <p:nvSpPr>
          <p:cNvPr id="20" name="Shape 18"/>
          <p:cNvSpPr/>
          <p:nvPr/>
        </p:nvSpPr>
        <p:spPr>
          <a:xfrm>
            <a:off x="7635240" y="1874520"/>
            <a:ext cx="3977640" cy="3968496"/>
          </a:xfrm>
          <a:prstGeom prst="roundRect">
            <a:avLst>
              <a:gd name="adj" fmla="val 1843"/>
            </a:avLst>
          </a:prstGeom>
          <a:solidFill>
            <a:srgbClr val="143D66"/>
          </a:solidFill>
          <a:ln w="12700">
            <a:solidFill>
              <a:srgbClr val="143D66"/>
            </a:solidFill>
            <a:prstDash val="solid"/>
          </a:ln>
          <a:effectLst>
            <a:outerShdw sx="100000" sy="100000" kx="0" ky="0" algn="bl" rotWithShape="0" blurRad="127000" dist="38100" dir="5400000">
              <a:srgbClr val="0B1B2E">
                <a:alpha val="7000"/>
              </a:srgbClr>
            </a:outerShdw>
          </a:effectLst>
        </p:spPr>
      </p:sp>
      <p:sp>
        <p:nvSpPr>
          <p:cNvPr id="21" name="Text 19"/>
          <p:cNvSpPr txBox="1"/>
          <p:nvPr/>
        </p:nvSpPr>
        <p:spPr>
          <a:xfrm>
            <a:off x="7973568" y="2139696"/>
            <a:ext cx="3383280" cy="274320"/>
          </a:xfrm>
          <a:prstGeom prst="rect">
            <a:avLst/>
          </a:prstGeom>
          <a:noFill/>
          <a:ln/>
        </p:spPr>
        <p:txBody>
          <a:bodyPr wrap="square" lIns="0" tIns="0" rIns="0" bIns="0" rtlCol="0" anchor="ctr"/>
          <a:lstStyle/>
          <a:p>
            <a:pPr indent="0" marL="0">
              <a:buNone/>
            </a:pPr>
            <a:r>
              <a:rPr lang="en-US" sz="950" b="1" spc="140" kern="0" dirty="0">
                <a:solidFill>
                  <a:srgbClr val="F2A23A"/>
                </a:solidFill>
                <a:latin typeface="Calibri" pitchFamily="34" charset="0"/>
                <a:ea typeface="Calibri" pitchFamily="34" charset="-122"/>
                <a:cs typeface="Calibri" pitchFamily="34" charset="-120"/>
              </a:rPr>
              <a:t>THE UNDERGRADUATE EE PROGRAM, IN DATA</a:t>
            </a:r>
            <a:endParaRPr lang="en-US" sz="950" dirty="0"/>
          </a:p>
        </p:txBody>
      </p:sp>
      <p:sp>
        <p:nvSpPr>
          <p:cNvPr id="22" name="Text 20"/>
          <p:cNvSpPr txBox="1"/>
          <p:nvPr/>
        </p:nvSpPr>
        <p:spPr>
          <a:xfrm>
            <a:off x="7973568" y="2542032"/>
            <a:ext cx="1691640" cy="56692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32</a:t>
            </a:r>
            <a:endParaRPr lang="en-US" sz="4000" dirty="0"/>
          </a:p>
        </p:txBody>
      </p:sp>
      <p:sp>
        <p:nvSpPr>
          <p:cNvPr id="23" name="Text 21"/>
          <p:cNvSpPr txBox="1"/>
          <p:nvPr/>
        </p:nvSpPr>
        <p:spPr>
          <a:xfrm>
            <a:off x="7973568" y="3108960"/>
            <a:ext cx="1691640" cy="384048"/>
          </a:xfrm>
          <a:prstGeom prst="rect">
            <a:avLst/>
          </a:prstGeom>
          <a:noFill/>
          <a:ln/>
        </p:spPr>
        <p:txBody>
          <a:bodyPr wrap="square" lIns="0" tIns="0" rIns="0" bIns="0" rtlCol="0" anchor="ctr"/>
          <a:lstStyle/>
          <a:p>
            <a:pPr indent="0" marL="0">
              <a:lnSpc>
                <a:spcPct val="95000"/>
              </a:lnSpc>
              <a:buNone/>
            </a:pPr>
            <a:r>
              <a:rPr lang="en-US" sz="1050" dirty="0">
                <a:solidFill>
                  <a:srgbClr val="A9C1D8"/>
                </a:solidFill>
                <a:latin typeface="Calibri" pitchFamily="34" charset="0"/>
                <a:ea typeface="Calibri" pitchFamily="34" charset="-122"/>
                <a:cs typeface="Calibri" pitchFamily="34" charset="-120"/>
              </a:rPr>
              <a:t>courses modelled</a:t>
            </a:r>
            <a:endParaRPr lang="en-US" sz="1050" dirty="0"/>
          </a:p>
        </p:txBody>
      </p:sp>
      <p:sp>
        <p:nvSpPr>
          <p:cNvPr id="24" name="Text 22"/>
          <p:cNvSpPr txBox="1"/>
          <p:nvPr/>
        </p:nvSpPr>
        <p:spPr>
          <a:xfrm>
            <a:off x="9802368" y="2542032"/>
            <a:ext cx="1691640" cy="56692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171</a:t>
            </a:r>
            <a:endParaRPr lang="en-US" sz="4000" dirty="0"/>
          </a:p>
        </p:txBody>
      </p:sp>
      <p:sp>
        <p:nvSpPr>
          <p:cNvPr id="25" name="Text 23"/>
          <p:cNvSpPr txBox="1"/>
          <p:nvPr/>
        </p:nvSpPr>
        <p:spPr>
          <a:xfrm>
            <a:off x="9802368" y="3108960"/>
            <a:ext cx="1691640" cy="384048"/>
          </a:xfrm>
          <a:prstGeom prst="rect">
            <a:avLst/>
          </a:prstGeom>
          <a:noFill/>
          <a:ln/>
        </p:spPr>
        <p:txBody>
          <a:bodyPr wrap="square" lIns="0" tIns="0" rIns="0" bIns="0" rtlCol="0" anchor="ctr"/>
          <a:lstStyle/>
          <a:p>
            <a:pPr indent="0" marL="0">
              <a:lnSpc>
                <a:spcPct val="95000"/>
              </a:lnSpc>
              <a:buNone/>
            </a:pPr>
            <a:r>
              <a:rPr lang="en-US" sz="1050" dirty="0">
                <a:solidFill>
                  <a:srgbClr val="A9C1D8"/>
                </a:solidFill>
                <a:latin typeface="Calibri" pitchFamily="34" charset="0"/>
                <a:ea typeface="Calibri" pitchFamily="34" charset="-122"/>
                <a:cs typeface="Calibri" pitchFamily="34" charset="-120"/>
              </a:rPr>
              <a:t>course learning outcomes</a:t>
            </a:r>
            <a:endParaRPr lang="en-US" sz="1050" dirty="0"/>
          </a:p>
        </p:txBody>
      </p:sp>
      <p:sp>
        <p:nvSpPr>
          <p:cNvPr id="26" name="Text 24"/>
          <p:cNvSpPr txBox="1"/>
          <p:nvPr/>
        </p:nvSpPr>
        <p:spPr>
          <a:xfrm>
            <a:off x="7973568" y="3675888"/>
            <a:ext cx="1691640" cy="56692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7</a:t>
            </a:r>
            <a:endParaRPr lang="en-US" sz="4000" dirty="0"/>
          </a:p>
        </p:txBody>
      </p:sp>
      <p:sp>
        <p:nvSpPr>
          <p:cNvPr id="27" name="Text 25"/>
          <p:cNvSpPr txBox="1"/>
          <p:nvPr/>
        </p:nvSpPr>
        <p:spPr>
          <a:xfrm>
            <a:off x="7973568" y="4242816"/>
            <a:ext cx="1691640" cy="384048"/>
          </a:xfrm>
          <a:prstGeom prst="rect">
            <a:avLst/>
          </a:prstGeom>
          <a:noFill/>
          <a:ln/>
        </p:spPr>
        <p:txBody>
          <a:bodyPr wrap="square" lIns="0" tIns="0" rIns="0" bIns="0" rtlCol="0" anchor="ctr"/>
          <a:lstStyle/>
          <a:p>
            <a:pPr indent="0" marL="0">
              <a:lnSpc>
                <a:spcPct val="95000"/>
              </a:lnSpc>
              <a:buNone/>
            </a:pPr>
            <a:r>
              <a:rPr lang="en-US" sz="1050" dirty="0">
                <a:solidFill>
                  <a:srgbClr val="A9C1D8"/>
                </a:solidFill>
                <a:latin typeface="Calibri" pitchFamily="34" charset="0"/>
                <a:ea typeface="Calibri" pitchFamily="34" charset="-122"/>
                <a:cs typeface="Calibri" pitchFamily="34" charset="-120"/>
              </a:rPr>
              <a:t>ABET student outcomes</a:t>
            </a:r>
            <a:endParaRPr lang="en-US" sz="1050" dirty="0"/>
          </a:p>
        </p:txBody>
      </p:sp>
      <p:sp>
        <p:nvSpPr>
          <p:cNvPr id="28" name="Text 26"/>
          <p:cNvSpPr txBox="1"/>
          <p:nvPr/>
        </p:nvSpPr>
        <p:spPr>
          <a:xfrm>
            <a:off x="9802368" y="3675888"/>
            <a:ext cx="1691640" cy="56692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20</a:t>
            </a:r>
            <a:endParaRPr lang="en-US" sz="4000" dirty="0"/>
          </a:p>
        </p:txBody>
      </p:sp>
      <p:sp>
        <p:nvSpPr>
          <p:cNvPr id="29" name="Text 27"/>
          <p:cNvSpPr txBox="1"/>
          <p:nvPr/>
        </p:nvSpPr>
        <p:spPr>
          <a:xfrm>
            <a:off x="9802368" y="4242816"/>
            <a:ext cx="1691640" cy="384048"/>
          </a:xfrm>
          <a:prstGeom prst="rect">
            <a:avLst/>
          </a:prstGeom>
          <a:noFill/>
          <a:ln/>
        </p:spPr>
        <p:txBody>
          <a:bodyPr wrap="square" lIns="0" tIns="0" rIns="0" bIns="0" rtlCol="0" anchor="ctr"/>
          <a:lstStyle/>
          <a:p>
            <a:pPr indent="0" marL="0">
              <a:lnSpc>
                <a:spcPct val="95000"/>
              </a:lnSpc>
              <a:buNone/>
            </a:pPr>
            <a:r>
              <a:rPr lang="en-US" sz="1050" dirty="0">
                <a:solidFill>
                  <a:srgbClr val="A9C1D8"/>
                </a:solidFill>
                <a:latin typeface="Calibri" pitchFamily="34" charset="0"/>
                <a:ea typeface="Calibri" pitchFamily="34" charset="-122"/>
                <a:cs typeface="Calibri" pitchFamily="34" charset="-120"/>
              </a:rPr>
              <a:t>performance indicators</a:t>
            </a:r>
            <a:endParaRPr lang="en-US" sz="1050" dirty="0"/>
          </a:p>
        </p:txBody>
      </p:sp>
      <p:sp>
        <p:nvSpPr>
          <p:cNvPr id="30" name="Shape 28"/>
          <p:cNvSpPr/>
          <p:nvPr/>
        </p:nvSpPr>
        <p:spPr>
          <a:xfrm>
            <a:off x="7973568" y="4882896"/>
            <a:ext cx="3310128" cy="786384"/>
          </a:xfrm>
          <a:prstGeom prst="roundRect">
            <a:avLst>
              <a:gd name="adj" fmla="val 11628"/>
            </a:avLst>
          </a:prstGeom>
          <a:solidFill>
            <a:srgbClr val="1D4370"/>
          </a:solidFill>
          <a:ln w="12700">
            <a:solidFill>
              <a:srgbClr val="2D5C8A"/>
            </a:solidFill>
            <a:prstDash val="solid"/>
          </a:ln>
        </p:spPr>
      </p:sp>
      <p:sp>
        <p:nvSpPr>
          <p:cNvPr id="31" name="Text 29"/>
          <p:cNvSpPr txBox="1"/>
          <p:nvPr/>
        </p:nvSpPr>
        <p:spPr>
          <a:xfrm>
            <a:off x="8138160" y="4937760"/>
            <a:ext cx="3017520" cy="676656"/>
          </a:xfrm>
          <a:prstGeom prst="rect">
            <a:avLst/>
          </a:prstGeom>
          <a:noFill/>
          <a:ln/>
        </p:spPr>
        <p:txBody>
          <a:bodyPr wrap="square" lIns="0" tIns="0" rIns="0" bIns="0" rtlCol="0" anchor="ctr"/>
          <a:lstStyle/>
          <a:p>
            <a:pPr indent="0" marL="0">
              <a:lnSpc>
                <a:spcPct val="100000"/>
              </a:lnSpc>
              <a:buNone/>
            </a:pPr>
            <a:r>
              <a:rPr lang="en-US" sz="2000" b="1" dirty="0">
                <a:solidFill>
                  <a:srgbClr val="F2A23A"/>
                </a:solidFill>
                <a:latin typeface="Cambria" pitchFamily="34" charset="0"/>
                <a:ea typeface="Cambria" pitchFamily="34" charset="-122"/>
                <a:cs typeface="Cambria" pitchFamily="34" charset="-120"/>
              </a:rPr>
              <a:t>466</a:t>
            </a:r>
            <a:pPr indent="0" marL="0">
              <a:lnSpc>
                <a:spcPct val="100000"/>
              </a:lnSpc>
              <a:buNone/>
            </a:pPr>
            <a:r>
              <a:rPr lang="en-US" sz="1100" dirty="0">
                <a:solidFill>
                  <a:srgbClr val="CFE0EF"/>
                </a:solidFill>
                <a:latin typeface="Calibri" pitchFamily="34" charset="0"/>
                <a:ea typeface="Calibri" pitchFamily="34" charset="-122"/>
                <a:cs typeface="Calibri" pitchFamily="34" charset="-120"/>
              </a:rPr>
              <a:t>  CLO → PI relationships to keep consistent, defensible and documented</a:t>
            </a:r>
            <a:endParaRPr lang="en-US" sz="2000" dirty="0"/>
          </a:p>
        </p:txBody>
      </p:sp>
      <p:sp>
        <p:nvSpPr>
          <p:cNvPr id="33" name="Text 30"/>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93A3B5"/>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34" name="Text 31"/>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93A3B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9A6208"/>
                </a:solidFill>
                <a:latin typeface="Calibri" pitchFamily="34" charset="0"/>
                <a:ea typeface="Calibri" pitchFamily="34" charset="-122"/>
                <a:cs typeface="Calibri" pitchFamily="34" charset="-120"/>
              </a:rPr>
              <a:t>DEFINITION</a:t>
            </a:r>
            <a:endParaRPr lang="en-US" sz="1100" dirty="0"/>
          </a:p>
        </p:txBody>
      </p:sp>
      <p:sp>
        <p:nvSpPr>
          <p:cNvPr id="3" name="Text 1"/>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143D66"/>
                </a:solidFill>
                <a:latin typeface="Cambria" pitchFamily="34" charset="0"/>
                <a:ea typeface="Cambria" pitchFamily="34" charset="-122"/>
                <a:cs typeface="Cambria" pitchFamily="34" charset="-120"/>
              </a:rPr>
              <a:t>What CIP is</a:t>
            </a:r>
            <a:endParaRPr lang="en-US" sz="3200" dirty="0"/>
          </a:p>
        </p:txBody>
      </p:sp>
      <p:sp>
        <p:nvSpPr>
          <p:cNvPr id="4" name="Text 2"/>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5B6C81"/>
                </a:solidFill>
                <a:latin typeface="Calibri" pitchFamily="34" charset="0"/>
                <a:ea typeface="Calibri" pitchFamily="34" charset="-122"/>
                <a:cs typeface="Calibri" pitchFamily="34" charset="-120"/>
              </a:rPr>
              <a:t>A secure desktop curriculum portal — installed by faculty, delivered under committee control, usable offline.</a:t>
            </a:r>
            <a:endParaRPr lang="en-US" sz="1400" dirty="0"/>
          </a:p>
        </p:txBody>
      </p:sp>
      <p:sp>
        <p:nvSpPr>
          <p:cNvPr id="5" name="Shape 3"/>
          <p:cNvSpPr/>
          <p:nvPr/>
        </p:nvSpPr>
        <p:spPr>
          <a:xfrm>
            <a:off x="566928" y="1920240"/>
            <a:ext cx="329184" cy="329184"/>
          </a:xfrm>
          <a:prstGeom prst="roundRect">
            <a:avLst>
              <a:gd name="adj" fmla="val 69444"/>
            </a:avLst>
          </a:prstGeom>
          <a:solidFill>
            <a:srgbClr val="F2A23A"/>
          </a:solidFill>
          <a:ln w="12700">
            <a:solidFill>
              <a:srgbClr val="F2A23A"/>
            </a:solidFill>
            <a:prstDash val="solid"/>
          </a:ln>
        </p:spPr>
      </p:sp>
      <p:sp>
        <p:nvSpPr>
          <p:cNvPr id="6" name="Text 4"/>
          <p:cNvSpPr txBox="1"/>
          <p:nvPr/>
        </p:nvSpPr>
        <p:spPr>
          <a:xfrm>
            <a:off x="566928" y="1920240"/>
            <a:ext cx="329184" cy="329184"/>
          </a:xfrm>
          <a:prstGeom prst="rect">
            <a:avLst/>
          </a:prstGeom>
          <a:noFill/>
          <a:ln/>
        </p:spPr>
        <p:txBody>
          <a:bodyPr wrap="square" lIns="0" tIns="0" rIns="0" bIns="0" rtlCol="0" anchor="ctr"/>
          <a:lstStyle/>
          <a:p>
            <a:pPr algn="ctr" indent="0" marL="0">
              <a:buNone/>
            </a:pPr>
            <a:r>
              <a:rPr lang="en-US" sz="1300" b="1" dirty="0">
                <a:solidFill>
                  <a:srgbClr val="0B1B2E"/>
                </a:solidFill>
                <a:latin typeface="Calibri" pitchFamily="34" charset="0"/>
                <a:ea typeface="Calibri" pitchFamily="34" charset="-122"/>
                <a:cs typeface="Calibri" pitchFamily="34" charset="-120"/>
              </a:rPr>
              <a:t>A</a:t>
            </a:r>
            <a:endParaRPr lang="en-US" sz="1300" dirty="0"/>
          </a:p>
        </p:txBody>
      </p:sp>
      <p:sp>
        <p:nvSpPr>
          <p:cNvPr id="7" name="Text 5"/>
          <p:cNvSpPr txBox="1"/>
          <p:nvPr/>
        </p:nvSpPr>
        <p:spPr>
          <a:xfrm>
            <a:off x="1078992" y="1883664"/>
            <a:ext cx="4754880" cy="274320"/>
          </a:xfrm>
          <a:prstGeom prst="rect">
            <a:avLst/>
          </a:prstGeom>
          <a:noFill/>
          <a:ln/>
        </p:spPr>
        <p:txBody>
          <a:bodyPr wrap="square" lIns="0" tIns="0" rIns="0" bIns="0" rtlCol="0" anchor="ctr"/>
          <a:lstStyle/>
          <a:p>
            <a:pPr indent="0" marL="0">
              <a:buNone/>
            </a:pPr>
            <a:r>
              <a:rPr lang="en-US" sz="1550" b="1" dirty="0">
                <a:solidFill>
                  <a:srgbClr val="143D66"/>
                </a:solidFill>
                <a:latin typeface="Calibri" pitchFamily="34" charset="0"/>
                <a:ea typeface="Calibri" pitchFamily="34" charset="-122"/>
                <a:cs typeface="Calibri" pitchFamily="34" charset="-120"/>
              </a:rPr>
              <a:t>Curriculum intelligence portal</a:t>
            </a:r>
            <a:endParaRPr lang="en-US" sz="1550" dirty="0"/>
          </a:p>
        </p:txBody>
      </p:sp>
      <p:sp>
        <p:nvSpPr>
          <p:cNvPr id="8" name="Text 6"/>
          <p:cNvSpPr txBox="1"/>
          <p:nvPr/>
        </p:nvSpPr>
        <p:spPr>
          <a:xfrm>
            <a:off x="1078992" y="2176272"/>
            <a:ext cx="4892040" cy="621792"/>
          </a:xfrm>
          <a:prstGeom prst="rect">
            <a:avLst/>
          </a:prstGeom>
          <a:noFill/>
          <a:ln/>
        </p:spPr>
        <p:txBody>
          <a:bodyPr wrap="square" lIns="0" tIns="0" rIns="0" bIns="0" rtlCol="0" anchor="ctr"/>
          <a:lstStyle/>
          <a:p>
            <a:pPr indent="0" marL="0">
              <a:lnSpc>
                <a:spcPct val="106000"/>
              </a:lnSpc>
              <a:buNone/>
            </a:pPr>
            <a:r>
              <a:rPr lang="en-US" sz="1200" dirty="0">
                <a:solidFill>
                  <a:srgbClr val="5B6C81"/>
                </a:solidFill>
                <a:latin typeface="Calibri" pitchFamily="34" charset="0"/>
                <a:ea typeface="Calibri" pitchFamily="34" charset="-122"/>
                <a:cs typeface="Calibri" pitchFamily="34" charset="-120"/>
              </a:rPr>
              <a:t>Structured access to undergraduate program information: courses, outcomes, mappings, assessment and improvement views.</a:t>
            </a:r>
            <a:endParaRPr lang="en-US" sz="1200" dirty="0"/>
          </a:p>
        </p:txBody>
      </p:sp>
      <p:sp>
        <p:nvSpPr>
          <p:cNvPr id="9" name="Shape 7"/>
          <p:cNvSpPr/>
          <p:nvPr/>
        </p:nvSpPr>
        <p:spPr>
          <a:xfrm>
            <a:off x="566928" y="2880360"/>
            <a:ext cx="329184" cy="329184"/>
          </a:xfrm>
          <a:prstGeom prst="roundRect">
            <a:avLst>
              <a:gd name="adj" fmla="val 69444"/>
            </a:avLst>
          </a:prstGeom>
          <a:solidFill>
            <a:srgbClr val="143D66"/>
          </a:solidFill>
          <a:ln w="12700">
            <a:solidFill>
              <a:srgbClr val="143D66"/>
            </a:solidFill>
            <a:prstDash val="solid"/>
          </a:ln>
        </p:spPr>
      </p:sp>
      <p:sp>
        <p:nvSpPr>
          <p:cNvPr id="10" name="Text 8"/>
          <p:cNvSpPr txBox="1"/>
          <p:nvPr/>
        </p:nvSpPr>
        <p:spPr>
          <a:xfrm>
            <a:off x="566928" y="28803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1" name="Text 9"/>
          <p:cNvSpPr txBox="1"/>
          <p:nvPr/>
        </p:nvSpPr>
        <p:spPr>
          <a:xfrm>
            <a:off x="1078992" y="2843784"/>
            <a:ext cx="4754880" cy="274320"/>
          </a:xfrm>
          <a:prstGeom prst="rect">
            <a:avLst/>
          </a:prstGeom>
          <a:noFill/>
          <a:ln/>
        </p:spPr>
        <p:txBody>
          <a:bodyPr wrap="square" lIns="0" tIns="0" rIns="0" bIns="0" rtlCol="0" anchor="ctr"/>
          <a:lstStyle/>
          <a:p>
            <a:pPr indent="0" marL="0">
              <a:buNone/>
            </a:pPr>
            <a:r>
              <a:rPr lang="en-US" sz="1550" b="1" dirty="0">
                <a:solidFill>
                  <a:srgbClr val="143D66"/>
                </a:solidFill>
                <a:latin typeface="Calibri" pitchFamily="34" charset="0"/>
                <a:ea typeface="Calibri" pitchFamily="34" charset="-122"/>
                <a:cs typeface="Calibri" pitchFamily="34" charset="-120"/>
              </a:rPr>
              <a:t>Desktop application</a:t>
            </a:r>
            <a:endParaRPr lang="en-US" sz="1550" dirty="0"/>
          </a:p>
        </p:txBody>
      </p:sp>
      <p:sp>
        <p:nvSpPr>
          <p:cNvPr id="12" name="Text 10"/>
          <p:cNvSpPr txBox="1"/>
          <p:nvPr/>
        </p:nvSpPr>
        <p:spPr>
          <a:xfrm>
            <a:off x="1078992" y="3136392"/>
            <a:ext cx="4892040" cy="621792"/>
          </a:xfrm>
          <a:prstGeom prst="rect">
            <a:avLst/>
          </a:prstGeom>
          <a:noFill/>
          <a:ln/>
        </p:spPr>
        <p:txBody>
          <a:bodyPr wrap="square" lIns="0" tIns="0" rIns="0" bIns="0" rtlCol="0" anchor="ctr"/>
          <a:lstStyle/>
          <a:p>
            <a:pPr indent="0" marL="0">
              <a:lnSpc>
                <a:spcPct val="106000"/>
              </a:lnSpc>
              <a:buNone/>
            </a:pPr>
            <a:r>
              <a:rPr lang="en-US" sz="1200" dirty="0">
                <a:solidFill>
                  <a:srgbClr val="5B6C81"/>
                </a:solidFill>
                <a:latin typeface="Calibri" pitchFamily="34" charset="0"/>
                <a:ea typeface="Calibri" pitchFamily="34" charset="-122"/>
                <a:cs typeface="Calibri" pitchFamily="34" charset="-120"/>
              </a:rPr>
              <a:t>Faculty install CIP Desktop on their own computer. The portal opens from a validated local copy, not a public website.</a:t>
            </a:r>
            <a:endParaRPr lang="en-US" sz="1200" dirty="0"/>
          </a:p>
        </p:txBody>
      </p:sp>
      <p:sp>
        <p:nvSpPr>
          <p:cNvPr id="13" name="Shape 11"/>
          <p:cNvSpPr/>
          <p:nvPr/>
        </p:nvSpPr>
        <p:spPr>
          <a:xfrm>
            <a:off x="566928" y="3840480"/>
            <a:ext cx="329184" cy="329184"/>
          </a:xfrm>
          <a:prstGeom prst="roundRect">
            <a:avLst>
              <a:gd name="adj" fmla="val 69444"/>
            </a:avLst>
          </a:prstGeom>
          <a:solidFill>
            <a:srgbClr val="143D66"/>
          </a:solidFill>
          <a:ln w="12700">
            <a:solidFill>
              <a:srgbClr val="143D66"/>
            </a:solidFill>
            <a:prstDash val="solid"/>
          </a:ln>
        </p:spPr>
      </p:sp>
      <p:sp>
        <p:nvSpPr>
          <p:cNvPr id="14" name="Text 12"/>
          <p:cNvSpPr txBox="1"/>
          <p:nvPr/>
        </p:nvSpPr>
        <p:spPr>
          <a:xfrm>
            <a:off x="566928" y="3840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5" name="Text 13"/>
          <p:cNvSpPr txBox="1"/>
          <p:nvPr/>
        </p:nvSpPr>
        <p:spPr>
          <a:xfrm>
            <a:off x="1078992" y="3803904"/>
            <a:ext cx="4754880" cy="274320"/>
          </a:xfrm>
          <a:prstGeom prst="rect">
            <a:avLst/>
          </a:prstGeom>
          <a:noFill/>
          <a:ln/>
        </p:spPr>
        <p:txBody>
          <a:bodyPr wrap="square" lIns="0" tIns="0" rIns="0" bIns="0" rtlCol="0" anchor="ctr"/>
          <a:lstStyle/>
          <a:p>
            <a:pPr indent="0" marL="0">
              <a:buNone/>
            </a:pPr>
            <a:r>
              <a:rPr lang="en-US" sz="1550" b="1" dirty="0">
                <a:solidFill>
                  <a:srgbClr val="143D66"/>
                </a:solidFill>
                <a:latin typeface="Calibri" pitchFamily="34" charset="0"/>
                <a:ea typeface="Calibri" pitchFamily="34" charset="-122"/>
                <a:cs typeface="Calibri" pitchFamily="34" charset="-120"/>
              </a:rPr>
              <a:t>Authenticated download</a:t>
            </a:r>
            <a:endParaRPr lang="en-US" sz="1550" dirty="0"/>
          </a:p>
        </p:txBody>
      </p:sp>
      <p:sp>
        <p:nvSpPr>
          <p:cNvPr id="16" name="Text 14"/>
          <p:cNvSpPr txBox="1"/>
          <p:nvPr/>
        </p:nvSpPr>
        <p:spPr>
          <a:xfrm>
            <a:off x="1078992" y="4096512"/>
            <a:ext cx="4892040" cy="621792"/>
          </a:xfrm>
          <a:prstGeom prst="rect">
            <a:avLst/>
          </a:prstGeom>
          <a:noFill/>
          <a:ln/>
        </p:spPr>
        <p:txBody>
          <a:bodyPr wrap="square" lIns="0" tIns="0" rIns="0" bIns="0" rtlCol="0" anchor="ctr"/>
          <a:lstStyle/>
          <a:p>
            <a:pPr indent="0" marL="0">
              <a:lnSpc>
                <a:spcPct val="106000"/>
              </a:lnSpc>
              <a:buNone/>
            </a:pPr>
            <a:r>
              <a:rPr lang="en-US" sz="1200" dirty="0">
                <a:solidFill>
                  <a:srgbClr val="5B6C81"/>
                </a:solidFill>
                <a:latin typeface="Calibri" pitchFamily="34" charset="0"/>
                <a:ea typeface="Calibri" pitchFamily="34" charset="-122"/>
                <a:cs typeface="Calibri" pitchFamily="34" charset="-120"/>
              </a:rPr>
              <a:t>Content is obtained once through an authorized session, then held locally as a verified release.</a:t>
            </a:r>
            <a:endParaRPr lang="en-US" sz="1200" dirty="0"/>
          </a:p>
        </p:txBody>
      </p:sp>
      <p:sp>
        <p:nvSpPr>
          <p:cNvPr id="17" name="Shape 15"/>
          <p:cNvSpPr/>
          <p:nvPr/>
        </p:nvSpPr>
        <p:spPr>
          <a:xfrm>
            <a:off x="566928" y="4800600"/>
            <a:ext cx="329184" cy="329184"/>
          </a:xfrm>
          <a:prstGeom prst="roundRect">
            <a:avLst>
              <a:gd name="adj" fmla="val 69444"/>
            </a:avLst>
          </a:prstGeom>
          <a:solidFill>
            <a:srgbClr val="143D66"/>
          </a:solidFill>
          <a:ln w="12700">
            <a:solidFill>
              <a:srgbClr val="143D66"/>
            </a:solidFill>
            <a:prstDash val="solid"/>
          </a:ln>
        </p:spPr>
      </p:sp>
      <p:sp>
        <p:nvSpPr>
          <p:cNvPr id="18" name="Text 16"/>
          <p:cNvSpPr txBox="1"/>
          <p:nvPr/>
        </p:nvSpPr>
        <p:spPr>
          <a:xfrm>
            <a:off x="566928" y="4800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19" name="Text 17"/>
          <p:cNvSpPr txBox="1"/>
          <p:nvPr/>
        </p:nvSpPr>
        <p:spPr>
          <a:xfrm>
            <a:off x="1078992" y="4764024"/>
            <a:ext cx="4754880" cy="274320"/>
          </a:xfrm>
          <a:prstGeom prst="rect">
            <a:avLst/>
          </a:prstGeom>
          <a:noFill/>
          <a:ln/>
        </p:spPr>
        <p:txBody>
          <a:bodyPr wrap="square" lIns="0" tIns="0" rIns="0" bIns="0" rtlCol="0" anchor="ctr"/>
          <a:lstStyle/>
          <a:p>
            <a:pPr indent="0" marL="0">
              <a:buNone/>
            </a:pPr>
            <a:r>
              <a:rPr lang="en-US" sz="1550" b="1" dirty="0">
                <a:solidFill>
                  <a:srgbClr val="143D66"/>
                </a:solidFill>
                <a:latin typeface="Calibri" pitchFamily="34" charset="0"/>
                <a:ea typeface="Calibri" pitchFamily="34" charset="-122"/>
                <a:cs typeface="Calibri" pitchFamily="34" charset="-120"/>
              </a:rPr>
              <a:t>Offline and controlled updates</a:t>
            </a:r>
            <a:endParaRPr lang="en-US" sz="1550" dirty="0"/>
          </a:p>
        </p:txBody>
      </p:sp>
      <p:sp>
        <p:nvSpPr>
          <p:cNvPr id="20" name="Text 18"/>
          <p:cNvSpPr txBox="1"/>
          <p:nvPr/>
        </p:nvSpPr>
        <p:spPr>
          <a:xfrm>
            <a:off x="1078992" y="5056632"/>
            <a:ext cx="4892040" cy="621792"/>
          </a:xfrm>
          <a:prstGeom prst="rect">
            <a:avLst/>
          </a:prstGeom>
          <a:noFill/>
          <a:ln/>
        </p:spPr>
        <p:txBody>
          <a:bodyPr wrap="square" lIns="0" tIns="0" rIns="0" bIns="0" rtlCol="0" anchor="ctr"/>
          <a:lstStyle/>
          <a:p>
            <a:pPr indent="0" marL="0">
              <a:lnSpc>
                <a:spcPct val="106000"/>
              </a:lnSpc>
              <a:buNone/>
            </a:pPr>
            <a:r>
              <a:rPr lang="en-US" sz="1200" dirty="0">
                <a:solidFill>
                  <a:srgbClr val="5B6C81"/>
                </a:solidFill>
                <a:latin typeface="Calibri" pitchFamily="34" charset="0"/>
                <a:ea typeface="Calibri" pitchFamily="34" charset="-122"/>
                <a:cs typeface="Calibri" pitchFamily="34" charset="-120"/>
              </a:rPr>
              <a:t>Works without a network connection; new curriculum releases arrive through a managed update channel.</a:t>
            </a:r>
            <a:endParaRPr lang="en-US" sz="1200" dirty="0"/>
          </a:p>
        </p:txBody>
      </p:sp>
      <p:sp>
        <p:nvSpPr>
          <p:cNvPr id="21" name="Shape 19"/>
          <p:cNvSpPr/>
          <p:nvPr/>
        </p:nvSpPr>
        <p:spPr>
          <a:xfrm>
            <a:off x="6263640" y="1874520"/>
            <a:ext cx="5358384" cy="3511296"/>
          </a:xfrm>
          <a:prstGeom prst="roundRect">
            <a:avLst>
              <a:gd name="adj" fmla="val 2083"/>
            </a:avLst>
          </a:prstGeom>
          <a:solidFill>
            <a:srgbClr val="E6EDF5"/>
          </a:solidFill>
          <a:ln w="12700">
            <a:solidFill>
              <a:srgbClr val="D3DDE8"/>
            </a:solidFill>
            <a:prstDash val="solid"/>
          </a:ln>
          <a:effectLst>
            <a:outerShdw sx="100000" sy="100000" kx="0" ky="0" algn="bl" rotWithShape="0" blurRad="127000" dist="38100" dir="5400000">
              <a:srgbClr val="0B1B2E">
                <a:alpha val="7000"/>
              </a:srgbClr>
            </a:outerShdw>
          </a:effectLst>
        </p:spPr>
      </p:sp>
      <p:pic>
        <p:nvPicPr>
          <p:cNvPr id="22" name="Image 0" descr="D:/WSClaude/CIP-CME-x86RVios/docs/presentations/department-council-cip/screenshots/cip-home.png">    </p:cNvPr>
          <p:cNvPicPr>
            <a:picLocks noChangeAspect="1"/>
          </p:cNvPicPr>
          <p:nvPr/>
        </p:nvPicPr>
        <p:blipFill>
          <a:blip r:embed="rId1"/>
          <a:stretch>
            <a:fillRect/>
          </a:stretch>
        </p:blipFill>
        <p:spPr>
          <a:xfrm>
            <a:off x="6400800" y="2011680"/>
            <a:ext cx="5084064" cy="3182112"/>
          </a:xfrm>
          <a:prstGeom prst="rect">
            <a:avLst/>
          </a:prstGeom>
        </p:spPr>
      </p:pic>
      <p:sp>
        <p:nvSpPr>
          <p:cNvPr id="23" name="Text 20"/>
          <p:cNvSpPr txBox="1"/>
          <p:nvPr/>
        </p:nvSpPr>
        <p:spPr>
          <a:xfrm>
            <a:off x="6263640" y="5468112"/>
            <a:ext cx="5358384" cy="310896"/>
          </a:xfrm>
          <a:prstGeom prst="rect">
            <a:avLst/>
          </a:prstGeom>
          <a:noFill/>
          <a:ln/>
        </p:spPr>
        <p:txBody>
          <a:bodyPr wrap="square" lIns="0" tIns="0" rIns="0" bIns="0" rtlCol="0" anchor="ctr"/>
          <a:lstStyle/>
          <a:p>
            <a:pPr indent="0" marL="0">
              <a:buNone/>
            </a:pPr>
            <a:r>
              <a:rPr lang="en-US" sz="950" i="1" dirty="0">
                <a:solidFill>
                  <a:srgbClr val="8A9AAC"/>
                </a:solidFill>
                <a:latin typeface="Calibri" pitchFamily="34" charset="0"/>
                <a:ea typeface="Calibri" pitchFamily="34" charset="-122"/>
                <a:cs typeface="Calibri" pitchFamily="34" charset="-120"/>
              </a:rPr>
              <a:t>Curriculum Intelligence Portal — entry view, undergraduate and graduate program areas</a:t>
            </a:r>
            <a:endParaRPr lang="en-US" sz="950" dirty="0"/>
          </a:p>
        </p:txBody>
      </p:sp>
      <p:sp>
        <p:nvSpPr>
          <p:cNvPr id="24" name="Text 21"/>
          <p:cNvSpPr txBox="1"/>
          <p:nvPr/>
        </p:nvSpPr>
        <p:spPr>
          <a:xfrm>
            <a:off x="566928" y="5907024"/>
            <a:ext cx="5486400" cy="292608"/>
          </a:xfrm>
          <a:prstGeom prst="rect">
            <a:avLst/>
          </a:prstGeom>
          <a:noFill/>
          <a:ln/>
        </p:spPr>
        <p:txBody>
          <a:bodyPr wrap="square" lIns="0" tIns="0" rIns="0" bIns="0" rtlCol="0" anchor="ctr"/>
          <a:lstStyle/>
          <a:p>
            <a:pPr indent="0" marL="0">
              <a:buNone/>
            </a:pPr>
            <a:r>
              <a:rPr lang="en-US" sz="1050" i="1" dirty="0">
                <a:solidFill>
                  <a:srgbClr val="9A6208"/>
                </a:solidFill>
                <a:latin typeface="Calibri" pitchFamily="34" charset="0"/>
                <a:ea typeface="Calibri" pitchFamily="34" charset="-122"/>
                <a:cs typeface="Calibri" pitchFamily="34" charset="-120"/>
              </a:rPr>
              <a:t>MSc / graduate modules are under construction and pending approval — not part of this presentation.</a:t>
            </a:r>
            <a:endParaRPr lang="en-US" sz="1050" dirty="0"/>
          </a:p>
        </p:txBody>
      </p:sp>
      <p:sp>
        <p:nvSpPr>
          <p:cNvPr id="26" name="Text 22"/>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93A3B5"/>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27" name="Text 23"/>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93A3B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9A6208"/>
                </a:solidFill>
                <a:latin typeface="Calibri" pitchFamily="34" charset="0"/>
                <a:ea typeface="Calibri" pitchFamily="34" charset="-122"/>
                <a:cs typeface="Calibri" pitchFamily="34" charset="-120"/>
              </a:rPr>
              <a:t>PROGRAM LEVEL</a:t>
            </a:r>
            <a:endParaRPr lang="en-US" sz="1100" dirty="0"/>
          </a:p>
        </p:txBody>
      </p:sp>
      <p:sp>
        <p:nvSpPr>
          <p:cNvPr id="3" name="Text 1"/>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143D66"/>
                </a:solidFill>
                <a:latin typeface="Cambria" pitchFamily="34" charset="0"/>
                <a:ea typeface="Cambria" pitchFamily="34" charset="-122"/>
                <a:cs typeface="Cambria" pitchFamily="34" charset="-120"/>
              </a:rPr>
              <a:t>Undergraduate program dashboard</a:t>
            </a:r>
            <a:endParaRPr lang="en-US" sz="3200" dirty="0"/>
          </a:p>
        </p:txBody>
      </p:sp>
      <p:sp>
        <p:nvSpPr>
          <p:cNvPr id="4" name="Text 2"/>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5B6C81"/>
                </a:solidFill>
                <a:latin typeface="Calibri" pitchFamily="34" charset="0"/>
                <a:ea typeface="Calibri" pitchFamily="34" charset="-122"/>
                <a:cs typeface="Calibri" pitchFamily="34" charset="-120"/>
              </a:rPr>
              <a:t>The whole degree in one place: structure, outcomes, mappings, assessment and improvement views.</a:t>
            </a:r>
            <a:endParaRPr lang="en-US" sz="1400" dirty="0"/>
          </a:p>
        </p:txBody>
      </p:sp>
      <p:sp>
        <p:nvSpPr>
          <p:cNvPr id="5" name="Shape 3"/>
          <p:cNvSpPr/>
          <p:nvPr/>
        </p:nvSpPr>
        <p:spPr>
          <a:xfrm>
            <a:off x="566928" y="1874520"/>
            <a:ext cx="3246120" cy="4160520"/>
          </a:xfrm>
          <a:prstGeom prst="roundRect">
            <a:avLst>
              <a:gd name="adj" fmla="val 2254"/>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6" name="Text 4"/>
          <p:cNvSpPr txBox="1"/>
          <p:nvPr/>
        </p:nvSpPr>
        <p:spPr>
          <a:xfrm>
            <a:off x="841248" y="2103120"/>
            <a:ext cx="2743200" cy="256032"/>
          </a:xfrm>
          <a:prstGeom prst="rect">
            <a:avLst/>
          </a:prstGeom>
          <a:noFill/>
          <a:ln/>
        </p:spPr>
        <p:txBody>
          <a:bodyPr wrap="square" lIns="0" tIns="0" rIns="0" bIns="0" rtlCol="0" anchor="ctr"/>
          <a:lstStyle/>
          <a:p>
            <a:pPr indent="0" marL="0">
              <a:buNone/>
            </a:pPr>
            <a:r>
              <a:rPr lang="en-US" sz="950" b="1" spc="140" kern="0" dirty="0">
                <a:solidFill>
                  <a:srgbClr val="9A6208"/>
                </a:solidFill>
                <a:latin typeface="Calibri" pitchFamily="34" charset="0"/>
                <a:ea typeface="Calibri" pitchFamily="34" charset="-122"/>
                <a:cs typeface="Calibri" pitchFamily="34" charset="-120"/>
              </a:rPr>
              <a:t>WHAT IT COVERS</a:t>
            </a:r>
            <a:endParaRPr lang="en-US" sz="950" dirty="0"/>
          </a:p>
        </p:txBody>
      </p:sp>
      <p:sp>
        <p:nvSpPr>
          <p:cNvPr id="7" name="Text 5"/>
          <p:cNvSpPr txBox="1"/>
          <p:nvPr/>
        </p:nvSpPr>
        <p:spPr>
          <a:xfrm>
            <a:off x="841248" y="2432304"/>
            <a:ext cx="2724912" cy="2926080"/>
          </a:xfrm>
          <a:prstGeom prst="rect">
            <a:avLst/>
          </a:prstGeom>
          <a:noFill/>
          <a:ln/>
        </p:spPr>
        <p:txBody>
          <a:bodyPr wrap="square" lIns="0" tIns="0" rIns="0" bIns="0" rtlCol="0" anchor="ctr"/>
          <a:lstStyle/>
          <a:p>
            <a:pPr marL="177800" indent="-177800">
              <a:lnSpc>
                <a:spcPct val="108000"/>
              </a:lnSpc>
              <a:spcAft>
                <a:spcPts val="900"/>
              </a:spcAft>
              <a:buSzPct val="100000"/>
              <a:buChar char="•"/>
            </a:pPr>
            <a:r>
              <a:rPr lang="en-US" sz="1200" dirty="0">
                <a:solidFill>
                  <a:srgbClr val="17263A"/>
                </a:solidFill>
                <a:latin typeface="Calibri" pitchFamily="34" charset="0"/>
                <a:ea typeface="Calibri" pitchFamily="34" charset="-122"/>
                <a:cs typeface="Calibri" pitchFamily="34" charset="-120"/>
              </a:rPr>
              <a:t>Program overview, mission and educational objectives</a:t>
            </a:r>
            <a:endParaRPr lang="en-US" sz="1200" dirty="0"/>
          </a:p>
          <a:p>
            <a:pPr marL="177800" indent="-177800">
              <a:lnSpc>
                <a:spcPct val="108000"/>
              </a:lnSpc>
              <a:spcAft>
                <a:spcPts val="900"/>
              </a:spcAft>
              <a:buSzPct val="100000"/>
              <a:buChar char="•"/>
            </a:pPr>
            <a:r>
              <a:rPr lang="en-US" sz="1200" dirty="0">
                <a:solidFill>
                  <a:srgbClr val="17263A"/>
                </a:solidFill>
                <a:latin typeface="Calibri" pitchFamily="34" charset="0"/>
                <a:ea typeface="Calibri" pitchFamily="34" charset="-122"/>
                <a:cs typeface="Calibri" pitchFamily="34" charset="-120"/>
              </a:rPr>
              <a:t>Course structure and prerequisite flow</a:t>
            </a:r>
            <a:endParaRPr lang="en-US" sz="1200" dirty="0"/>
          </a:p>
          <a:p>
            <a:pPr marL="177800" indent="-177800">
              <a:lnSpc>
                <a:spcPct val="108000"/>
              </a:lnSpc>
              <a:spcAft>
                <a:spcPts val="900"/>
              </a:spcAft>
              <a:buSzPct val="100000"/>
              <a:buChar char="•"/>
            </a:pPr>
            <a:r>
              <a:rPr lang="en-US" sz="1200" dirty="0">
                <a:solidFill>
                  <a:srgbClr val="17263A"/>
                </a:solidFill>
                <a:latin typeface="Calibri" pitchFamily="34" charset="0"/>
                <a:ea typeface="Calibri" pitchFamily="34" charset="-122"/>
                <a:cs typeface="Calibri" pitchFamily="34" charset="-120"/>
              </a:rPr>
              <a:t>CLO / SO / PI relationships</a:t>
            </a:r>
            <a:endParaRPr lang="en-US" sz="1200" dirty="0"/>
          </a:p>
          <a:p>
            <a:pPr marL="177800" indent="-177800">
              <a:lnSpc>
                <a:spcPct val="108000"/>
              </a:lnSpc>
              <a:spcAft>
                <a:spcPts val="900"/>
              </a:spcAft>
              <a:buSzPct val="100000"/>
              <a:buChar char="•"/>
            </a:pPr>
            <a:r>
              <a:rPr lang="en-US" sz="1200" dirty="0">
                <a:solidFill>
                  <a:srgbClr val="17263A"/>
                </a:solidFill>
                <a:latin typeface="Calibri" pitchFamily="34" charset="0"/>
                <a:ea typeface="Calibri" pitchFamily="34" charset="-122"/>
                <a:cs typeface="Calibri" pitchFamily="34" charset="-120"/>
              </a:rPr>
              <a:t>Curriculum maps and coverage</a:t>
            </a:r>
            <a:endParaRPr lang="en-US" sz="1200" dirty="0"/>
          </a:p>
          <a:p>
            <a:pPr marL="177800" indent="-177800">
              <a:lnSpc>
                <a:spcPct val="108000"/>
              </a:lnSpc>
              <a:spcAft>
                <a:spcPts val="900"/>
              </a:spcAft>
              <a:buSzPct val="100000"/>
              <a:buChar char="•"/>
            </a:pPr>
            <a:r>
              <a:rPr lang="en-US" sz="1200" dirty="0">
                <a:solidFill>
                  <a:srgbClr val="17263A"/>
                </a:solidFill>
                <a:latin typeface="Calibri" pitchFamily="34" charset="0"/>
                <a:ea typeface="Calibri" pitchFamily="34" charset="-122"/>
                <a:cs typeface="Calibri" pitchFamily="34" charset="-120"/>
              </a:rPr>
              <a:t>Assessment and continuous-improvement views</a:t>
            </a:r>
            <a:endParaRPr lang="en-US" sz="1200" dirty="0"/>
          </a:p>
          <a:p>
            <a:pPr marL="177800" indent="-177800">
              <a:lnSpc>
                <a:spcPct val="108000"/>
              </a:lnSpc>
              <a:spcAft>
                <a:spcPts val="900"/>
              </a:spcAft>
              <a:buSzPct val="100000"/>
              <a:buChar char="•"/>
            </a:pPr>
            <a:r>
              <a:rPr lang="en-US" sz="1200" dirty="0">
                <a:solidFill>
                  <a:srgbClr val="17263A"/>
                </a:solidFill>
                <a:latin typeface="Calibri" pitchFamily="34" charset="0"/>
                <a:ea typeface="Calibri" pitchFamily="34" charset="-122"/>
                <a:cs typeface="Calibri" pitchFamily="34" charset="-120"/>
              </a:rPr>
              <a:t>Navigation across undergraduate modules</a:t>
            </a:r>
            <a:endParaRPr lang="en-US" sz="1200" dirty="0"/>
          </a:p>
        </p:txBody>
      </p:sp>
      <p:sp>
        <p:nvSpPr>
          <p:cNvPr id="8" name="Text 6"/>
          <p:cNvSpPr txBox="1"/>
          <p:nvPr/>
        </p:nvSpPr>
        <p:spPr>
          <a:xfrm>
            <a:off x="841248" y="5468112"/>
            <a:ext cx="2724912" cy="457200"/>
          </a:xfrm>
          <a:prstGeom prst="rect">
            <a:avLst/>
          </a:prstGeom>
          <a:noFill/>
          <a:ln/>
        </p:spPr>
        <p:txBody>
          <a:bodyPr wrap="square" lIns="0" tIns="0" rIns="0" bIns="0" rtlCol="0" anchor="ctr"/>
          <a:lstStyle/>
          <a:p>
            <a:pPr indent="0" marL="0">
              <a:lnSpc>
                <a:spcPct val="100000"/>
              </a:lnSpc>
              <a:buNone/>
            </a:pPr>
            <a:r>
              <a:rPr lang="en-US" sz="1000" i="1" dirty="0">
                <a:solidFill>
                  <a:srgbClr val="8A9AAC"/>
                </a:solidFill>
                <a:latin typeface="Calibri" pitchFamily="34" charset="0"/>
                <a:ea typeface="Calibri" pitchFamily="34" charset="-122"/>
                <a:cs typeface="Calibri" pitchFamily="34" charset="-120"/>
              </a:rPr>
              <a:t>All figures render from one authoritative curriculum dataset.</a:t>
            </a:r>
            <a:endParaRPr lang="en-US" sz="1000" dirty="0"/>
          </a:p>
        </p:txBody>
      </p:sp>
      <p:pic>
        <p:nvPicPr>
          <p:cNvPr id="9" name="Image 0" descr="D:/WSClaude/CIP-CME-x86RVios/docs/presentations/department-council-cip/screenshots/program-structure-crop.png">    </p:cNvPr>
          <p:cNvPicPr>
            <a:picLocks noChangeAspect="1"/>
          </p:cNvPicPr>
          <p:nvPr/>
        </p:nvPicPr>
        <p:blipFill>
          <a:blip r:embed="rId1"/>
          <a:stretch>
            <a:fillRect/>
          </a:stretch>
        </p:blipFill>
        <p:spPr>
          <a:xfrm>
            <a:off x="4069080" y="1874520"/>
            <a:ext cx="7543800" cy="2292401"/>
          </a:xfrm>
          <a:prstGeom prst="rect">
            <a:avLst/>
          </a:prstGeom>
        </p:spPr>
      </p:pic>
      <p:sp>
        <p:nvSpPr>
          <p:cNvPr id="10" name="Text 7"/>
          <p:cNvSpPr txBox="1"/>
          <p:nvPr/>
        </p:nvSpPr>
        <p:spPr>
          <a:xfrm>
            <a:off x="4069080" y="4215384"/>
            <a:ext cx="7543800" cy="274320"/>
          </a:xfrm>
          <a:prstGeom prst="rect">
            <a:avLst/>
          </a:prstGeom>
          <a:noFill/>
          <a:ln/>
        </p:spPr>
        <p:txBody>
          <a:bodyPr wrap="square" lIns="0" tIns="0" rIns="0" bIns="0" rtlCol="0" anchor="ctr"/>
          <a:lstStyle/>
          <a:p>
            <a:pPr indent="0" marL="0">
              <a:buNone/>
            </a:pPr>
            <a:r>
              <a:rPr lang="en-US" sz="950" i="1" dirty="0">
                <a:solidFill>
                  <a:srgbClr val="8A9AAC"/>
                </a:solidFill>
                <a:latin typeface="Calibri" pitchFamily="34" charset="0"/>
                <a:ea typeface="Calibri" pitchFamily="34" charset="-122"/>
                <a:cs typeface="Calibri" pitchFamily="34" charset="-120"/>
              </a:rPr>
              <a:t>Program structure — credit distribution across the four-year study plan</a:t>
            </a:r>
            <a:endParaRPr lang="en-US" sz="950" dirty="0"/>
          </a:p>
        </p:txBody>
      </p:sp>
      <p:sp>
        <p:nvSpPr>
          <p:cNvPr id="11" name="Shape 8"/>
          <p:cNvSpPr/>
          <p:nvPr/>
        </p:nvSpPr>
        <p:spPr>
          <a:xfrm>
            <a:off x="4069080" y="4617720"/>
            <a:ext cx="1783080" cy="1417320"/>
          </a:xfrm>
          <a:prstGeom prst="roundRect">
            <a:avLst>
              <a:gd name="adj" fmla="val 5161"/>
            </a:avLst>
          </a:prstGeom>
          <a:solidFill>
            <a:srgbClr val="E6EDF5"/>
          </a:solidFill>
          <a:ln w="12700">
            <a:solidFill>
              <a:srgbClr val="D3DDE8"/>
            </a:solidFill>
            <a:prstDash val="solid"/>
          </a:ln>
        </p:spPr>
      </p:sp>
      <p:sp>
        <p:nvSpPr>
          <p:cNvPr id="12" name="Shape 9"/>
          <p:cNvSpPr/>
          <p:nvPr/>
        </p:nvSpPr>
        <p:spPr>
          <a:xfrm>
            <a:off x="4251960" y="4791456"/>
            <a:ext cx="237744" cy="237744"/>
          </a:xfrm>
          <a:prstGeom prst="roundRect">
            <a:avLst>
              <a:gd name="adj" fmla="val 46154"/>
            </a:avLst>
          </a:prstGeom>
          <a:solidFill>
            <a:srgbClr val="F2A23A"/>
          </a:solidFill>
          <a:ln w="12700">
            <a:solidFill>
              <a:srgbClr val="FFFFFF"/>
            </a:solidFill>
            <a:prstDash val="solid"/>
          </a:ln>
        </p:spPr>
      </p:sp>
      <p:sp>
        <p:nvSpPr>
          <p:cNvPr id="13" name="Text 10"/>
          <p:cNvSpPr txBox="1"/>
          <p:nvPr/>
        </p:nvSpPr>
        <p:spPr>
          <a:xfrm>
            <a:off x="4251960" y="5084064"/>
            <a:ext cx="1481328" cy="438912"/>
          </a:xfrm>
          <a:prstGeom prst="rect">
            <a:avLst/>
          </a:prstGeom>
          <a:noFill/>
          <a:ln/>
        </p:spPr>
        <p:txBody>
          <a:bodyPr wrap="square" lIns="0" tIns="0" rIns="0" bIns="0" rtlCol="0" anchor="ctr"/>
          <a:lstStyle/>
          <a:p>
            <a:pPr indent="0" marL="0">
              <a:lnSpc>
                <a:spcPct val="95000"/>
              </a:lnSpc>
              <a:buNone/>
            </a:pPr>
            <a:r>
              <a:rPr lang="en-US" sz="1150" b="1" dirty="0">
                <a:solidFill>
                  <a:srgbClr val="143D66"/>
                </a:solidFill>
                <a:latin typeface="Calibri" pitchFamily="34" charset="0"/>
                <a:ea typeface="Calibri" pitchFamily="34" charset="-122"/>
                <a:cs typeface="Calibri" pitchFamily="34" charset="-120"/>
              </a:rPr>
              <a:t>Program Overview</a:t>
            </a:r>
            <a:endParaRPr lang="en-US" sz="1150" dirty="0"/>
          </a:p>
        </p:txBody>
      </p:sp>
      <p:sp>
        <p:nvSpPr>
          <p:cNvPr id="14" name="Text 11"/>
          <p:cNvSpPr txBox="1"/>
          <p:nvPr/>
        </p:nvSpPr>
        <p:spPr>
          <a:xfrm>
            <a:off x="4251960" y="5504688"/>
            <a:ext cx="1499616" cy="493776"/>
          </a:xfrm>
          <a:prstGeom prst="rect">
            <a:avLst/>
          </a:prstGeom>
          <a:noFill/>
          <a:ln/>
        </p:spPr>
        <p:txBody>
          <a:bodyPr wrap="square" lIns="0" tIns="0" rIns="0" bIns="0" rtlCol="0" anchor="ctr"/>
          <a:lstStyle/>
          <a:p>
            <a:pPr indent="0" marL="0">
              <a:lnSpc>
                <a:spcPct val="95000"/>
              </a:lnSpc>
              <a:buNone/>
            </a:pPr>
            <a:r>
              <a:rPr lang="en-US" sz="900" dirty="0">
                <a:solidFill>
                  <a:srgbClr val="5B6C81"/>
                </a:solidFill>
                <a:latin typeface="Calibri" pitchFamily="34" charset="0"/>
                <a:ea typeface="Calibri" pitchFamily="34" charset="-122"/>
                <a:cs typeface="Calibri" pitchFamily="34" charset="-120"/>
              </a:rPr>
              <a:t>Mission, PEOs, Student Outcomes, structure and references</a:t>
            </a:r>
            <a:endParaRPr lang="en-US" sz="900" dirty="0"/>
          </a:p>
        </p:txBody>
      </p:sp>
      <p:sp>
        <p:nvSpPr>
          <p:cNvPr id="15" name="Shape 12"/>
          <p:cNvSpPr/>
          <p:nvPr/>
        </p:nvSpPr>
        <p:spPr>
          <a:xfrm>
            <a:off x="5989320" y="4617720"/>
            <a:ext cx="1783080" cy="1417320"/>
          </a:xfrm>
          <a:prstGeom prst="roundRect">
            <a:avLst>
              <a:gd name="adj" fmla="val 5161"/>
            </a:avLst>
          </a:prstGeom>
          <a:solidFill>
            <a:srgbClr val="F2F5FA"/>
          </a:solidFill>
          <a:ln w="12700">
            <a:solidFill>
              <a:srgbClr val="D3DDE8"/>
            </a:solidFill>
            <a:prstDash val="solid"/>
          </a:ln>
        </p:spPr>
      </p:sp>
      <p:sp>
        <p:nvSpPr>
          <p:cNvPr id="16" name="Shape 13"/>
          <p:cNvSpPr/>
          <p:nvPr/>
        </p:nvSpPr>
        <p:spPr>
          <a:xfrm>
            <a:off x="6172200" y="4791456"/>
            <a:ext cx="237744" cy="237744"/>
          </a:xfrm>
          <a:prstGeom prst="roundRect">
            <a:avLst>
              <a:gd name="adj" fmla="val 46154"/>
            </a:avLst>
          </a:prstGeom>
          <a:solidFill>
            <a:srgbClr val="143D66"/>
          </a:solidFill>
          <a:ln w="12700">
            <a:solidFill>
              <a:srgbClr val="FFFFFF"/>
            </a:solidFill>
            <a:prstDash val="solid"/>
          </a:ln>
        </p:spPr>
      </p:sp>
      <p:sp>
        <p:nvSpPr>
          <p:cNvPr id="17" name="Text 14"/>
          <p:cNvSpPr txBox="1"/>
          <p:nvPr/>
        </p:nvSpPr>
        <p:spPr>
          <a:xfrm>
            <a:off x="6172200" y="5084064"/>
            <a:ext cx="1481328" cy="438912"/>
          </a:xfrm>
          <a:prstGeom prst="rect">
            <a:avLst/>
          </a:prstGeom>
          <a:noFill/>
          <a:ln/>
        </p:spPr>
        <p:txBody>
          <a:bodyPr wrap="square" lIns="0" tIns="0" rIns="0" bIns="0" rtlCol="0" anchor="ctr"/>
          <a:lstStyle/>
          <a:p>
            <a:pPr indent="0" marL="0">
              <a:lnSpc>
                <a:spcPct val="95000"/>
              </a:lnSpc>
              <a:buNone/>
            </a:pPr>
            <a:r>
              <a:rPr lang="en-US" sz="1150" b="1" dirty="0">
                <a:solidFill>
                  <a:srgbClr val="143D66"/>
                </a:solidFill>
                <a:latin typeface="Calibri" pitchFamily="34" charset="0"/>
                <a:ea typeface="Calibri" pitchFamily="34" charset="-122"/>
                <a:cs typeface="Calibri" pitchFamily="34" charset="-120"/>
              </a:rPr>
              <a:t>Course Dashboard</a:t>
            </a:r>
            <a:endParaRPr lang="en-US" sz="1150" dirty="0"/>
          </a:p>
        </p:txBody>
      </p:sp>
      <p:sp>
        <p:nvSpPr>
          <p:cNvPr id="18" name="Text 15"/>
          <p:cNvSpPr txBox="1"/>
          <p:nvPr/>
        </p:nvSpPr>
        <p:spPr>
          <a:xfrm>
            <a:off x="6172200" y="5504688"/>
            <a:ext cx="1499616" cy="493776"/>
          </a:xfrm>
          <a:prstGeom prst="rect">
            <a:avLst/>
          </a:prstGeom>
          <a:noFill/>
          <a:ln/>
        </p:spPr>
        <p:txBody>
          <a:bodyPr wrap="square" lIns="0" tIns="0" rIns="0" bIns="0" rtlCol="0" anchor="ctr"/>
          <a:lstStyle/>
          <a:p>
            <a:pPr indent="0" marL="0">
              <a:lnSpc>
                <a:spcPct val="95000"/>
              </a:lnSpc>
              <a:buNone/>
            </a:pPr>
            <a:r>
              <a:rPr lang="en-US" sz="900" dirty="0">
                <a:solidFill>
                  <a:srgbClr val="5B6C81"/>
                </a:solidFill>
                <a:latin typeface="Calibri" pitchFamily="34" charset="0"/>
                <a:ea typeface="Calibri" pitchFamily="34" charset="-122"/>
                <a:cs typeface="Calibri" pitchFamily="34" charset="-120"/>
              </a:rPr>
              <a:t>One page per course, with its outcomes and mappings</a:t>
            </a:r>
            <a:endParaRPr lang="en-US" sz="900" dirty="0"/>
          </a:p>
        </p:txBody>
      </p:sp>
      <p:sp>
        <p:nvSpPr>
          <p:cNvPr id="19" name="Shape 16"/>
          <p:cNvSpPr/>
          <p:nvPr/>
        </p:nvSpPr>
        <p:spPr>
          <a:xfrm>
            <a:off x="7909560" y="4617720"/>
            <a:ext cx="1783080" cy="1417320"/>
          </a:xfrm>
          <a:prstGeom prst="roundRect">
            <a:avLst>
              <a:gd name="adj" fmla="val 5161"/>
            </a:avLst>
          </a:prstGeom>
          <a:solidFill>
            <a:srgbClr val="F2F5FA"/>
          </a:solidFill>
          <a:ln w="12700">
            <a:solidFill>
              <a:srgbClr val="D3DDE8"/>
            </a:solidFill>
            <a:prstDash val="solid"/>
          </a:ln>
        </p:spPr>
      </p:sp>
      <p:sp>
        <p:nvSpPr>
          <p:cNvPr id="20" name="Shape 17"/>
          <p:cNvSpPr/>
          <p:nvPr/>
        </p:nvSpPr>
        <p:spPr>
          <a:xfrm>
            <a:off x="8092440" y="4791456"/>
            <a:ext cx="237744" cy="237744"/>
          </a:xfrm>
          <a:prstGeom prst="roundRect">
            <a:avLst>
              <a:gd name="adj" fmla="val 46154"/>
            </a:avLst>
          </a:prstGeom>
          <a:solidFill>
            <a:srgbClr val="143D66"/>
          </a:solidFill>
          <a:ln w="12700">
            <a:solidFill>
              <a:srgbClr val="FFFFFF"/>
            </a:solidFill>
            <a:prstDash val="solid"/>
          </a:ln>
        </p:spPr>
      </p:sp>
      <p:sp>
        <p:nvSpPr>
          <p:cNvPr id="21" name="Text 18"/>
          <p:cNvSpPr txBox="1"/>
          <p:nvPr/>
        </p:nvSpPr>
        <p:spPr>
          <a:xfrm>
            <a:off x="8092440" y="5084064"/>
            <a:ext cx="1481328" cy="438912"/>
          </a:xfrm>
          <a:prstGeom prst="rect">
            <a:avLst/>
          </a:prstGeom>
          <a:noFill/>
          <a:ln/>
        </p:spPr>
        <p:txBody>
          <a:bodyPr wrap="square" lIns="0" tIns="0" rIns="0" bIns="0" rtlCol="0" anchor="ctr"/>
          <a:lstStyle/>
          <a:p>
            <a:pPr indent="0" marL="0">
              <a:lnSpc>
                <a:spcPct val="95000"/>
              </a:lnSpc>
              <a:buNone/>
            </a:pPr>
            <a:r>
              <a:rPr lang="en-US" sz="1150" b="1" dirty="0">
                <a:solidFill>
                  <a:srgbClr val="143D66"/>
                </a:solidFill>
                <a:latin typeface="Calibri" pitchFamily="34" charset="0"/>
                <a:ea typeface="Calibri" pitchFamily="34" charset="-122"/>
                <a:cs typeface="Calibri" pitchFamily="34" charset="-120"/>
              </a:rPr>
              <a:t>SO Leader Dashboard</a:t>
            </a:r>
            <a:endParaRPr lang="en-US" sz="1150" dirty="0"/>
          </a:p>
        </p:txBody>
      </p:sp>
      <p:sp>
        <p:nvSpPr>
          <p:cNvPr id="22" name="Text 19"/>
          <p:cNvSpPr txBox="1"/>
          <p:nvPr/>
        </p:nvSpPr>
        <p:spPr>
          <a:xfrm>
            <a:off x="8092440" y="5504688"/>
            <a:ext cx="1499616" cy="493776"/>
          </a:xfrm>
          <a:prstGeom prst="rect">
            <a:avLst/>
          </a:prstGeom>
          <a:noFill/>
          <a:ln/>
        </p:spPr>
        <p:txBody>
          <a:bodyPr wrap="square" lIns="0" tIns="0" rIns="0" bIns="0" rtlCol="0" anchor="ctr"/>
          <a:lstStyle/>
          <a:p>
            <a:pPr indent="0" marL="0">
              <a:lnSpc>
                <a:spcPct val="95000"/>
              </a:lnSpc>
              <a:buNone/>
            </a:pPr>
            <a:r>
              <a:rPr lang="en-US" sz="900" dirty="0">
                <a:solidFill>
                  <a:srgbClr val="5B6C81"/>
                </a:solidFill>
                <a:latin typeface="Calibri" pitchFamily="34" charset="0"/>
                <a:ea typeface="Calibri" pitchFamily="34" charset="-122"/>
                <a:cs typeface="Calibri" pitchFamily="34" charset="-120"/>
              </a:rPr>
              <a:t>Outcome coverage, PI progression and course evidence</a:t>
            </a:r>
            <a:endParaRPr lang="en-US" sz="900" dirty="0"/>
          </a:p>
        </p:txBody>
      </p:sp>
      <p:sp>
        <p:nvSpPr>
          <p:cNvPr id="23" name="Shape 20"/>
          <p:cNvSpPr/>
          <p:nvPr/>
        </p:nvSpPr>
        <p:spPr>
          <a:xfrm>
            <a:off x="9829800" y="4617720"/>
            <a:ext cx="1783080" cy="1417320"/>
          </a:xfrm>
          <a:prstGeom prst="roundRect">
            <a:avLst>
              <a:gd name="adj" fmla="val 5161"/>
            </a:avLst>
          </a:prstGeom>
          <a:solidFill>
            <a:srgbClr val="F2F5FA"/>
          </a:solidFill>
          <a:ln w="12700">
            <a:solidFill>
              <a:srgbClr val="D3DDE8"/>
            </a:solidFill>
            <a:prstDash val="solid"/>
          </a:ln>
        </p:spPr>
      </p:sp>
      <p:sp>
        <p:nvSpPr>
          <p:cNvPr id="24" name="Shape 21"/>
          <p:cNvSpPr/>
          <p:nvPr/>
        </p:nvSpPr>
        <p:spPr>
          <a:xfrm>
            <a:off x="10012680" y="4791456"/>
            <a:ext cx="237744" cy="237744"/>
          </a:xfrm>
          <a:prstGeom prst="roundRect">
            <a:avLst>
              <a:gd name="adj" fmla="val 46154"/>
            </a:avLst>
          </a:prstGeom>
          <a:solidFill>
            <a:srgbClr val="143D66"/>
          </a:solidFill>
          <a:ln w="12700">
            <a:solidFill>
              <a:srgbClr val="FFFFFF"/>
            </a:solidFill>
            <a:prstDash val="solid"/>
          </a:ln>
        </p:spPr>
      </p:sp>
      <p:sp>
        <p:nvSpPr>
          <p:cNvPr id="25" name="Text 22"/>
          <p:cNvSpPr txBox="1"/>
          <p:nvPr/>
        </p:nvSpPr>
        <p:spPr>
          <a:xfrm>
            <a:off x="10012680" y="5084064"/>
            <a:ext cx="1481328" cy="438912"/>
          </a:xfrm>
          <a:prstGeom prst="rect">
            <a:avLst/>
          </a:prstGeom>
          <a:noFill/>
          <a:ln/>
        </p:spPr>
        <p:txBody>
          <a:bodyPr wrap="square" lIns="0" tIns="0" rIns="0" bIns="0" rtlCol="0" anchor="ctr"/>
          <a:lstStyle/>
          <a:p>
            <a:pPr indent="0" marL="0">
              <a:lnSpc>
                <a:spcPct val="95000"/>
              </a:lnSpc>
              <a:buNone/>
            </a:pPr>
            <a:r>
              <a:rPr lang="en-US" sz="1150" b="1" dirty="0">
                <a:solidFill>
                  <a:srgbClr val="143D66"/>
                </a:solidFill>
                <a:latin typeface="Calibri" pitchFamily="34" charset="0"/>
                <a:ea typeface="Calibri" pitchFamily="34" charset="-122"/>
                <a:cs typeface="Calibri" pitchFamily="34" charset="-120"/>
              </a:rPr>
              <a:t>Teaching &amp; Assessment</a:t>
            </a:r>
            <a:endParaRPr lang="en-US" sz="1150" dirty="0"/>
          </a:p>
        </p:txBody>
      </p:sp>
      <p:sp>
        <p:nvSpPr>
          <p:cNvPr id="26" name="Text 23"/>
          <p:cNvSpPr txBox="1"/>
          <p:nvPr/>
        </p:nvSpPr>
        <p:spPr>
          <a:xfrm>
            <a:off x="10012680" y="5504688"/>
            <a:ext cx="1499616" cy="493776"/>
          </a:xfrm>
          <a:prstGeom prst="rect">
            <a:avLst/>
          </a:prstGeom>
          <a:noFill/>
          <a:ln/>
        </p:spPr>
        <p:txBody>
          <a:bodyPr wrap="square" lIns="0" tIns="0" rIns="0" bIns="0" rtlCol="0" anchor="ctr"/>
          <a:lstStyle/>
          <a:p>
            <a:pPr indent="0" marL="0">
              <a:lnSpc>
                <a:spcPct val="95000"/>
              </a:lnSpc>
              <a:buNone/>
            </a:pPr>
            <a:r>
              <a:rPr lang="en-US" sz="900" dirty="0">
                <a:solidFill>
                  <a:srgbClr val="5B6C81"/>
                </a:solidFill>
                <a:latin typeface="Calibri" pitchFamily="34" charset="0"/>
                <a:ea typeface="Calibri" pitchFamily="34" charset="-122"/>
                <a:cs typeface="Calibri" pitchFamily="34" charset="-120"/>
              </a:rPr>
              <a:t>Approved strategies, methods and course exceptions</a:t>
            </a:r>
            <a:endParaRPr lang="en-US" sz="900" dirty="0"/>
          </a:p>
        </p:txBody>
      </p:sp>
      <p:sp>
        <p:nvSpPr>
          <p:cNvPr id="28" name="Text 24"/>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93A3B5"/>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29" name="Text 25"/>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93A3B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9A6208"/>
                </a:solidFill>
                <a:latin typeface="Calibri" pitchFamily="34" charset="0"/>
                <a:ea typeface="Calibri" pitchFamily="34" charset="-122"/>
                <a:cs typeface="Calibri" pitchFamily="34" charset="-120"/>
              </a:rPr>
              <a:t>COURSE LEVEL</a:t>
            </a:r>
            <a:endParaRPr lang="en-US" sz="1100" dirty="0"/>
          </a:p>
        </p:txBody>
      </p:sp>
      <p:sp>
        <p:nvSpPr>
          <p:cNvPr id="3" name="Text 1"/>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143D66"/>
                </a:solidFill>
                <a:latin typeface="Cambria" pitchFamily="34" charset="0"/>
                <a:ea typeface="Cambria" pitchFamily="34" charset="-122"/>
                <a:cs typeface="Cambria" pitchFamily="34" charset="-120"/>
              </a:rPr>
              <a:t>Course-level intelligence</a:t>
            </a:r>
            <a:endParaRPr lang="en-US" sz="3200" dirty="0"/>
          </a:p>
        </p:txBody>
      </p:sp>
      <p:sp>
        <p:nvSpPr>
          <p:cNvPr id="4" name="Text 2"/>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5B6C81"/>
                </a:solidFill>
                <a:latin typeface="Calibri" pitchFamily="34" charset="0"/>
                <a:ea typeface="Calibri" pitchFamily="34" charset="-122"/>
                <a:cs typeface="Calibri" pitchFamily="34" charset="-120"/>
              </a:rPr>
              <a:t>Every course as a single page: outcomes, mappings, teaching strategies and assessment methods.</a:t>
            </a:r>
            <a:endParaRPr lang="en-US" sz="1400" dirty="0"/>
          </a:p>
        </p:txBody>
      </p:sp>
      <p:pic>
        <p:nvPicPr>
          <p:cNvPr id="5" name="Image 0" descr="D:/WSClaude/CIP-CME-x86RVios/docs/presentations/department-council-cip/screenshots/course-dashboard-crop.png">    </p:cNvPr>
          <p:cNvPicPr>
            <a:picLocks noChangeAspect="1"/>
          </p:cNvPicPr>
          <p:nvPr/>
        </p:nvPicPr>
        <p:blipFill>
          <a:blip r:embed="rId1"/>
          <a:stretch>
            <a:fillRect/>
          </a:stretch>
        </p:blipFill>
        <p:spPr>
          <a:xfrm>
            <a:off x="566928" y="1810512"/>
            <a:ext cx="5458968" cy="3917290"/>
          </a:xfrm>
          <a:prstGeom prst="rect">
            <a:avLst/>
          </a:prstGeom>
        </p:spPr>
      </p:pic>
      <p:sp>
        <p:nvSpPr>
          <p:cNvPr id="6" name="Text 3"/>
          <p:cNvSpPr txBox="1"/>
          <p:nvPr/>
        </p:nvSpPr>
        <p:spPr>
          <a:xfrm>
            <a:off x="566928" y="5797296"/>
            <a:ext cx="5458968" cy="402336"/>
          </a:xfrm>
          <a:prstGeom prst="rect">
            <a:avLst/>
          </a:prstGeom>
          <a:noFill/>
          <a:ln/>
        </p:spPr>
        <p:txBody>
          <a:bodyPr wrap="square" lIns="0" tIns="0" rIns="0" bIns="0" rtlCol="0" anchor="ctr"/>
          <a:lstStyle/>
          <a:p>
            <a:pPr indent="0" marL="0">
              <a:lnSpc>
                <a:spcPct val="100000"/>
              </a:lnSpc>
              <a:buNone/>
            </a:pPr>
            <a:r>
              <a:rPr lang="en-US" sz="950" i="1" dirty="0">
                <a:solidFill>
                  <a:srgbClr val="8A9AAC"/>
                </a:solidFill>
                <a:latin typeface="Calibri" pitchFamily="34" charset="0"/>
                <a:ea typeface="Calibri" pitchFamily="34" charset="-122"/>
                <a:cs typeface="Calibri" pitchFamily="34" charset="-120"/>
              </a:rPr>
              <a:t>Course dashboard — CLO–SO–PI mapping and approved teaching / assessment methods</a:t>
            </a:r>
            <a:endParaRPr lang="en-US" sz="950" dirty="0"/>
          </a:p>
        </p:txBody>
      </p:sp>
      <p:sp>
        <p:nvSpPr>
          <p:cNvPr id="7" name="Shape 4"/>
          <p:cNvSpPr/>
          <p:nvPr/>
        </p:nvSpPr>
        <p:spPr>
          <a:xfrm>
            <a:off x="6400800" y="1810512"/>
            <a:ext cx="5221224" cy="896112"/>
          </a:xfrm>
          <a:prstGeom prst="roundRect">
            <a:avLst>
              <a:gd name="adj" fmla="val 8163"/>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8" name="Text 5"/>
          <p:cNvSpPr txBox="1"/>
          <p:nvPr/>
        </p:nvSpPr>
        <p:spPr>
          <a:xfrm>
            <a:off x="6638544" y="1929384"/>
            <a:ext cx="4754880" cy="256032"/>
          </a:xfrm>
          <a:prstGeom prst="rect">
            <a:avLst/>
          </a:prstGeom>
          <a:noFill/>
          <a:ln/>
        </p:spPr>
        <p:txBody>
          <a:bodyPr wrap="square" lIns="0" tIns="0" rIns="0" bIns="0" rtlCol="0" anchor="ctr"/>
          <a:lstStyle/>
          <a:p>
            <a:pPr indent="0" marL="0">
              <a:buNone/>
            </a:pPr>
            <a:r>
              <a:rPr lang="en-US" sz="1350" b="1" dirty="0">
                <a:solidFill>
                  <a:srgbClr val="143D66"/>
                </a:solidFill>
                <a:latin typeface="Calibri" pitchFamily="34" charset="0"/>
                <a:ea typeface="Calibri" pitchFamily="34" charset="-122"/>
                <a:cs typeface="Calibri" pitchFamily="34" charset="-120"/>
              </a:rPr>
              <a:t>Course dashboards</a:t>
            </a:r>
            <a:endParaRPr lang="en-US" sz="1350" dirty="0"/>
          </a:p>
        </p:txBody>
      </p:sp>
      <p:sp>
        <p:nvSpPr>
          <p:cNvPr id="9" name="Text 6"/>
          <p:cNvSpPr txBox="1"/>
          <p:nvPr/>
        </p:nvSpPr>
        <p:spPr>
          <a:xfrm>
            <a:off x="6638544" y="2185416"/>
            <a:ext cx="4773168" cy="420624"/>
          </a:xfrm>
          <a:prstGeom prst="rect">
            <a:avLst/>
          </a:prstGeom>
          <a:noFill/>
          <a:ln/>
        </p:spPr>
        <p:txBody>
          <a:bodyPr wrap="square" lIns="0" tIns="0" rIns="0" bIns="0" rtlCol="0" anchor="ctr"/>
          <a:lstStyle/>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Description, objectives, credit load, prerequisites, topics and contact hours.</a:t>
            </a:r>
            <a:endParaRPr lang="en-US" sz="1050" dirty="0"/>
          </a:p>
        </p:txBody>
      </p:sp>
      <p:sp>
        <p:nvSpPr>
          <p:cNvPr id="10" name="Shape 7"/>
          <p:cNvSpPr/>
          <p:nvPr/>
        </p:nvSpPr>
        <p:spPr>
          <a:xfrm>
            <a:off x="6400800" y="2779776"/>
            <a:ext cx="5221224" cy="896112"/>
          </a:xfrm>
          <a:prstGeom prst="roundRect">
            <a:avLst>
              <a:gd name="adj" fmla="val 8163"/>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11" name="Text 8"/>
          <p:cNvSpPr txBox="1"/>
          <p:nvPr/>
        </p:nvSpPr>
        <p:spPr>
          <a:xfrm>
            <a:off x="6638544" y="2898648"/>
            <a:ext cx="4754880" cy="256032"/>
          </a:xfrm>
          <a:prstGeom prst="rect">
            <a:avLst/>
          </a:prstGeom>
          <a:noFill/>
          <a:ln/>
        </p:spPr>
        <p:txBody>
          <a:bodyPr wrap="square" lIns="0" tIns="0" rIns="0" bIns="0" rtlCol="0" anchor="ctr"/>
          <a:lstStyle/>
          <a:p>
            <a:pPr indent="0" marL="0">
              <a:buNone/>
            </a:pPr>
            <a:r>
              <a:rPr lang="en-US" sz="1350" b="1" dirty="0">
                <a:solidFill>
                  <a:srgbClr val="143D66"/>
                </a:solidFill>
                <a:latin typeface="Calibri" pitchFamily="34" charset="0"/>
                <a:ea typeface="Calibri" pitchFamily="34" charset="-122"/>
                <a:cs typeface="Calibri" pitchFamily="34" charset="-120"/>
              </a:rPr>
              <a:t>CLO visibility</a:t>
            </a:r>
            <a:endParaRPr lang="en-US" sz="1350" dirty="0"/>
          </a:p>
        </p:txBody>
      </p:sp>
      <p:sp>
        <p:nvSpPr>
          <p:cNvPr id="12" name="Text 9"/>
          <p:cNvSpPr txBox="1"/>
          <p:nvPr/>
        </p:nvSpPr>
        <p:spPr>
          <a:xfrm>
            <a:off x="6638544" y="3154680"/>
            <a:ext cx="4773168" cy="420624"/>
          </a:xfrm>
          <a:prstGeom prst="rect">
            <a:avLst/>
          </a:prstGeom>
          <a:noFill/>
          <a:ln/>
        </p:spPr>
        <p:txBody>
          <a:bodyPr wrap="square" lIns="0" tIns="0" rIns="0" bIns="0" rtlCol="0" anchor="ctr"/>
          <a:lstStyle/>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Every course learning outcome with its NQF domain and approved wording.</a:t>
            </a:r>
            <a:endParaRPr lang="en-US" sz="1050" dirty="0"/>
          </a:p>
        </p:txBody>
      </p:sp>
      <p:sp>
        <p:nvSpPr>
          <p:cNvPr id="13" name="Shape 10"/>
          <p:cNvSpPr/>
          <p:nvPr/>
        </p:nvSpPr>
        <p:spPr>
          <a:xfrm>
            <a:off x="6400800" y="3749040"/>
            <a:ext cx="5221224" cy="896112"/>
          </a:xfrm>
          <a:prstGeom prst="roundRect">
            <a:avLst>
              <a:gd name="adj" fmla="val 8163"/>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14" name="Text 11"/>
          <p:cNvSpPr txBox="1"/>
          <p:nvPr/>
        </p:nvSpPr>
        <p:spPr>
          <a:xfrm>
            <a:off x="6638544" y="3867912"/>
            <a:ext cx="4754880" cy="256032"/>
          </a:xfrm>
          <a:prstGeom prst="rect">
            <a:avLst/>
          </a:prstGeom>
          <a:noFill/>
          <a:ln/>
        </p:spPr>
        <p:txBody>
          <a:bodyPr wrap="square" lIns="0" tIns="0" rIns="0" bIns="0" rtlCol="0" anchor="ctr"/>
          <a:lstStyle/>
          <a:p>
            <a:pPr indent="0" marL="0">
              <a:buNone/>
            </a:pPr>
            <a:r>
              <a:rPr lang="en-US" sz="1350" b="1" dirty="0">
                <a:solidFill>
                  <a:srgbClr val="143D66"/>
                </a:solidFill>
                <a:latin typeface="Calibri" pitchFamily="34" charset="0"/>
                <a:ea typeface="Calibri" pitchFamily="34" charset="-122"/>
                <a:cs typeface="Calibri" pitchFamily="34" charset="-120"/>
              </a:rPr>
              <a:t>Teaching and assessment</a:t>
            </a:r>
            <a:endParaRPr lang="en-US" sz="1350" dirty="0"/>
          </a:p>
        </p:txBody>
      </p:sp>
      <p:sp>
        <p:nvSpPr>
          <p:cNvPr id="15" name="Text 12"/>
          <p:cNvSpPr txBox="1"/>
          <p:nvPr/>
        </p:nvSpPr>
        <p:spPr>
          <a:xfrm>
            <a:off x="6638544" y="4123944"/>
            <a:ext cx="4773168" cy="420624"/>
          </a:xfrm>
          <a:prstGeom prst="rect">
            <a:avLst/>
          </a:prstGeom>
          <a:noFill/>
          <a:ln/>
        </p:spPr>
        <p:txBody>
          <a:bodyPr wrap="square" lIns="0" tIns="0" rIns="0" bIns="0" rtlCol="0" anchor="ctr"/>
          <a:lstStyle/>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15 approved teaching strategies and 16 assessment methods, applied per CLO.</a:t>
            </a:r>
            <a:endParaRPr lang="en-US" sz="1050" dirty="0"/>
          </a:p>
        </p:txBody>
      </p:sp>
      <p:sp>
        <p:nvSpPr>
          <p:cNvPr id="16" name="Shape 13"/>
          <p:cNvSpPr/>
          <p:nvPr/>
        </p:nvSpPr>
        <p:spPr>
          <a:xfrm>
            <a:off x="6400800" y="4718304"/>
            <a:ext cx="5221224" cy="896112"/>
          </a:xfrm>
          <a:prstGeom prst="roundRect">
            <a:avLst>
              <a:gd name="adj" fmla="val 8163"/>
            </a:avLst>
          </a:prstGeom>
          <a:solidFill>
            <a:srgbClr val="E6EDF5"/>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17" name="Text 14"/>
          <p:cNvSpPr txBox="1"/>
          <p:nvPr/>
        </p:nvSpPr>
        <p:spPr>
          <a:xfrm>
            <a:off x="6638544" y="4837176"/>
            <a:ext cx="4754880" cy="256032"/>
          </a:xfrm>
          <a:prstGeom prst="rect">
            <a:avLst/>
          </a:prstGeom>
          <a:noFill/>
          <a:ln/>
        </p:spPr>
        <p:txBody>
          <a:bodyPr wrap="square" lIns="0" tIns="0" rIns="0" bIns="0" rtlCol="0" anchor="ctr"/>
          <a:lstStyle/>
          <a:p>
            <a:pPr indent="0" marL="0">
              <a:buNone/>
            </a:pPr>
            <a:r>
              <a:rPr lang="en-US" sz="1350" b="1" dirty="0">
                <a:solidFill>
                  <a:srgbClr val="143D66"/>
                </a:solidFill>
                <a:latin typeface="Calibri" pitchFamily="34" charset="0"/>
                <a:ea typeface="Calibri" pitchFamily="34" charset="-122"/>
                <a:cs typeface="Calibri" pitchFamily="34" charset="-120"/>
              </a:rPr>
              <a:t>Course-to-program alignment</a:t>
            </a:r>
            <a:endParaRPr lang="en-US" sz="1350" dirty="0"/>
          </a:p>
        </p:txBody>
      </p:sp>
      <p:sp>
        <p:nvSpPr>
          <p:cNvPr id="18" name="Text 15"/>
          <p:cNvSpPr txBox="1"/>
          <p:nvPr/>
        </p:nvSpPr>
        <p:spPr>
          <a:xfrm>
            <a:off x="6638544" y="5093208"/>
            <a:ext cx="4773168" cy="420624"/>
          </a:xfrm>
          <a:prstGeom prst="rect">
            <a:avLst/>
          </a:prstGeom>
          <a:noFill/>
          <a:ln/>
        </p:spPr>
        <p:txBody>
          <a:bodyPr wrap="square" lIns="0" tIns="0" rIns="0" bIns="0" rtlCol="0" anchor="ctr"/>
          <a:lstStyle/>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Each CLO shown against the outcomes and indicators it supports.</a:t>
            </a:r>
            <a:endParaRPr lang="en-US" sz="1050" dirty="0"/>
          </a:p>
        </p:txBody>
      </p:sp>
      <p:sp>
        <p:nvSpPr>
          <p:cNvPr id="19" name="Shape 16"/>
          <p:cNvSpPr/>
          <p:nvPr/>
        </p:nvSpPr>
        <p:spPr>
          <a:xfrm>
            <a:off x="6400800" y="5705856"/>
            <a:ext cx="5221224" cy="512064"/>
          </a:xfrm>
          <a:prstGeom prst="roundRect">
            <a:avLst>
              <a:gd name="adj" fmla="val 17857"/>
            </a:avLst>
          </a:prstGeom>
          <a:solidFill>
            <a:srgbClr val="FDF4E4"/>
          </a:solidFill>
          <a:ln w="12700">
            <a:solidFill>
              <a:srgbClr val="EFD3A4"/>
            </a:solidFill>
            <a:prstDash val="solid"/>
          </a:ln>
        </p:spPr>
      </p:sp>
      <p:sp>
        <p:nvSpPr>
          <p:cNvPr id="20" name="Text 17"/>
          <p:cNvSpPr txBox="1"/>
          <p:nvPr/>
        </p:nvSpPr>
        <p:spPr>
          <a:xfrm>
            <a:off x="6583680" y="5705856"/>
            <a:ext cx="4892040" cy="512064"/>
          </a:xfrm>
          <a:prstGeom prst="rect">
            <a:avLst/>
          </a:prstGeom>
          <a:noFill/>
          <a:ln/>
        </p:spPr>
        <p:txBody>
          <a:bodyPr wrap="square" lIns="0" tIns="0" rIns="0" bIns="0" rtlCol="0" anchor="ctr"/>
          <a:lstStyle/>
          <a:p>
            <a:pPr indent="0" marL="0">
              <a:lnSpc>
                <a:spcPct val="100000"/>
              </a:lnSpc>
              <a:buNone/>
            </a:pPr>
            <a:r>
              <a:rPr lang="en-US" sz="1050" b="1" dirty="0">
                <a:solidFill>
                  <a:srgbClr val="9A6208"/>
                </a:solidFill>
                <a:latin typeface="Calibri" pitchFamily="34" charset="0"/>
                <a:ea typeface="Calibri" pitchFamily="34" charset="-122"/>
                <a:cs typeface="Calibri" pitchFamily="34" charset="-120"/>
              </a:rPr>
              <a:t>Serves faculty, course coordinators and committee reviewers from the same page.</a:t>
            </a:r>
            <a:endParaRPr lang="en-US" sz="1050" dirty="0"/>
          </a:p>
        </p:txBody>
      </p:sp>
      <p:sp>
        <p:nvSpPr>
          <p:cNvPr id="22" name="Text 18"/>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93A3B5"/>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23" name="Text 19"/>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93A3B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9A6208"/>
                </a:solidFill>
                <a:latin typeface="Calibri" pitchFamily="34" charset="0"/>
                <a:ea typeface="Calibri" pitchFamily="34" charset="-122"/>
                <a:cs typeface="Calibri" pitchFamily="34" charset="-120"/>
              </a:rPr>
              <a:t>REVIEW</a:t>
            </a:r>
            <a:endParaRPr lang="en-US" sz="1100" dirty="0"/>
          </a:p>
        </p:txBody>
      </p:sp>
      <p:sp>
        <p:nvSpPr>
          <p:cNvPr id="3" name="Text 1"/>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143D66"/>
                </a:solidFill>
                <a:latin typeface="Cambria" pitchFamily="34" charset="0"/>
                <a:ea typeface="Cambria" pitchFamily="34" charset="-122"/>
                <a:cs typeface="Cambria" pitchFamily="34" charset="-120"/>
              </a:rPr>
              <a:t>Alignment and review tools</a:t>
            </a:r>
            <a:endParaRPr lang="en-US" sz="3200" dirty="0"/>
          </a:p>
        </p:txBody>
      </p:sp>
      <p:sp>
        <p:nvSpPr>
          <p:cNvPr id="4" name="Text 2"/>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5B6C81"/>
                </a:solidFill>
                <a:latin typeface="Calibri" pitchFamily="34" charset="0"/>
                <a:ea typeface="Calibri" pitchFamily="34" charset="-122"/>
                <a:cs typeface="Calibri" pitchFamily="34" charset="-120"/>
              </a:rPr>
              <a:t>Evidence-oriented review of how the curriculum supports the seven ABET Student Outcomes.</a:t>
            </a:r>
            <a:endParaRPr lang="en-US" sz="1400" dirty="0"/>
          </a:p>
        </p:txBody>
      </p:sp>
      <p:pic>
        <p:nvPicPr>
          <p:cNvPr id="5" name="Image 0" descr="D:/WSClaude/CIP-CME-x86RVios/docs/presentations/department-council-cip/screenshots/alignment-review-crop.png">    </p:cNvPr>
          <p:cNvPicPr>
            <a:picLocks noChangeAspect="1"/>
          </p:cNvPicPr>
          <p:nvPr/>
        </p:nvPicPr>
        <p:blipFill>
          <a:blip r:embed="rId1"/>
          <a:stretch>
            <a:fillRect/>
          </a:stretch>
        </p:blipFill>
        <p:spPr>
          <a:xfrm>
            <a:off x="5321808" y="1810512"/>
            <a:ext cx="6300216" cy="4092854"/>
          </a:xfrm>
          <a:prstGeom prst="rect">
            <a:avLst/>
          </a:prstGeom>
        </p:spPr>
      </p:pic>
      <p:sp>
        <p:nvSpPr>
          <p:cNvPr id="6" name="Text 3"/>
          <p:cNvSpPr txBox="1"/>
          <p:nvPr/>
        </p:nvSpPr>
        <p:spPr>
          <a:xfrm>
            <a:off x="5321808" y="5943600"/>
            <a:ext cx="6300216" cy="292608"/>
          </a:xfrm>
          <a:prstGeom prst="rect">
            <a:avLst/>
          </a:prstGeom>
          <a:noFill/>
          <a:ln/>
        </p:spPr>
        <p:txBody>
          <a:bodyPr wrap="square" lIns="0" tIns="0" rIns="0" bIns="0" rtlCol="0" anchor="ctr"/>
          <a:lstStyle/>
          <a:p>
            <a:pPr indent="0" marL="0">
              <a:buNone/>
            </a:pPr>
            <a:r>
              <a:rPr lang="en-US" sz="950" i="1" dirty="0">
                <a:solidFill>
                  <a:srgbClr val="8A9AAC"/>
                </a:solidFill>
                <a:latin typeface="Calibri" pitchFamily="34" charset="0"/>
                <a:ea typeface="Calibri" pitchFamily="34" charset="-122"/>
                <a:cs typeface="Calibri" pitchFamily="34" charset="-120"/>
              </a:rPr>
              <a:t>CLO–SO–PI Alignment Review — conclusions first, then the items worth confirming</a:t>
            </a:r>
            <a:endParaRPr lang="en-US" sz="950" dirty="0"/>
          </a:p>
        </p:txBody>
      </p:sp>
      <p:sp>
        <p:nvSpPr>
          <p:cNvPr id="7" name="Shape 4"/>
          <p:cNvSpPr/>
          <p:nvPr/>
        </p:nvSpPr>
        <p:spPr>
          <a:xfrm>
            <a:off x="566928" y="1892808"/>
            <a:ext cx="329184" cy="329184"/>
          </a:xfrm>
          <a:prstGeom prst="roundRect">
            <a:avLst>
              <a:gd name="adj" fmla="val 69444"/>
            </a:avLst>
          </a:prstGeom>
          <a:solidFill>
            <a:srgbClr val="143D66"/>
          </a:solidFill>
          <a:ln w="12700">
            <a:solidFill>
              <a:srgbClr val="143D66"/>
            </a:solidFill>
            <a:prstDash val="solid"/>
          </a:ln>
        </p:spPr>
      </p:sp>
      <p:sp>
        <p:nvSpPr>
          <p:cNvPr id="8" name="Text 5"/>
          <p:cNvSpPr txBox="1"/>
          <p:nvPr/>
        </p:nvSpPr>
        <p:spPr>
          <a:xfrm>
            <a:off x="566928" y="1892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078992" y="1874520"/>
            <a:ext cx="4206240" cy="274320"/>
          </a:xfrm>
          <a:prstGeom prst="rect">
            <a:avLst/>
          </a:prstGeom>
          <a:noFill/>
          <a:ln/>
        </p:spPr>
        <p:txBody>
          <a:bodyPr wrap="square" lIns="0" tIns="0" rIns="0" bIns="0" rtlCol="0" anchor="ctr"/>
          <a:lstStyle/>
          <a:p>
            <a:pPr indent="0" marL="0">
              <a:buNone/>
            </a:pPr>
            <a:r>
              <a:rPr lang="en-US" sz="1450" b="1" dirty="0">
                <a:solidFill>
                  <a:srgbClr val="143D66"/>
                </a:solidFill>
                <a:latin typeface="Calibri" pitchFamily="34" charset="0"/>
                <a:ea typeface="Calibri" pitchFamily="34" charset="-122"/>
                <a:cs typeface="Calibri" pitchFamily="34" charset="-120"/>
              </a:rPr>
              <a:t>CLO–SO–PI mapping visibility</a:t>
            </a:r>
            <a:endParaRPr lang="en-US" sz="1450" dirty="0"/>
          </a:p>
        </p:txBody>
      </p:sp>
      <p:sp>
        <p:nvSpPr>
          <p:cNvPr id="10" name="Text 7"/>
          <p:cNvSpPr txBox="1"/>
          <p:nvPr/>
        </p:nvSpPr>
        <p:spPr>
          <a:xfrm>
            <a:off x="1078992" y="2167128"/>
            <a:ext cx="4224528" cy="694944"/>
          </a:xfrm>
          <a:prstGeom prst="rect">
            <a:avLst/>
          </a:prstGeom>
          <a:noFill/>
          <a:ln/>
        </p:spPr>
        <p:txBody>
          <a:bodyPr wrap="square" lIns="0" tIns="0" rIns="0" bIns="0" rtlCol="0" anchor="ctr"/>
          <a:lstStyle/>
          <a:p>
            <a:pPr indent="0" marL="0">
              <a:lnSpc>
                <a:spcPct val="106000"/>
              </a:lnSpc>
              <a:buNone/>
            </a:pPr>
            <a:r>
              <a:rPr lang="en-US" sz="1150" dirty="0">
                <a:solidFill>
                  <a:srgbClr val="5B6C81"/>
                </a:solidFill>
                <a:latin typeface="Calibri" pitchFamily="34" charset="0"/>
                <a:ea typeface="Calibri" pitchFamily="34" charset="-122"/>
                <a:cs typeface="Calibri" pitchFamily="34" charset="-120"/>
              </a:rPr>
              <a:t>Outcome coverage, per-course contribution and the CLO–PI explorer in one view.</a:t>
            </a:r>
            <a:endParaRPr lang="en-US" sz="1150" dirty="0"/>
          </a:p>
        </p:txBody>
      </p:sp>
      <p:sp>
        <p:nvSpPr>
          <p:cNvPr id="11" name="Shape 8"/>
          <p:cNvSpPr/>
          <p:nvPr/>
        </p:nvSpPr>
        <p:spPr>
          <a:xfrm>
            <a:off x="566928" y="3026664"/>
            <a:ext cx="329184" cy="329184"/>
          </a:xfrm>
          <a:prstGeom prst="roundRect">
            <a:avLst>
              <a:gd name="adj" fmla="val 69444"/>
            </a:avLst>
          </a:prstGeom>
          <a:solidFill>
            <a:srgbClr val="143D66"/>
          </a:solidFill>
          <a:ln w="12700">
            <a:solidFill>
              <a:srgbClr val="143D66"/>
            </a:solidFill>
            <a:prstDash val="solid"/>
          </a:ln>
        </p:spPr>
      </p:sp>
      <p:sp>
        <p:nvSpPr>
          <p:cNvPr id="12" name="Text 9"/>
          <p:cNvSpPr txBox="1"/>
          <p:nvPr/>
        </p:nvSpPr>
        <p:spPr>
          <a:xfrm>
            <a:off x="566928" y="302666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txBox="1"/>
          <p:nvPr/>
        </p:nvSpPr>
        <p:spPr>
          <a:xfrm>
            <a:off x="1078992" y="3008376"/>
            <a:ext cx="4206240" cy="274320"/>
          </a:xfrm>
          <a:prstGeom prst="rect">
            <a:avLst/>
          </a:prstGeom>
          <a:noFill/>
          <a:ln/>
        </p:spPr>
        <p:txBody>
          <a:bodyPr wrap="square" lIns="0" tIns="0" rIns="0" bIns="0" rtlCol="0" anchor="ctr"/>
          <a:lstStyle/>
          <a:p>
            <a:pPr indent="0" marL="0">
              <a:buNone/>
            </a:pPr>
            <a:r>
              <a:rPr lang="en-US" sz="1450" b="1" dirty="0">
                <a:solidFill>
                  <a:srgbClr val="143D66"/>
                </a:solidFill>
                <a:latin typeface="Calibri" pitchFamily="34" charset="0"/>
                <a:ea typeface="Calibri" pitchFamily="34" charset="-122"/>
                <a:cs typeface="Calibri" pitchFamily="34" charset="-120"/>
              </a:rPr>
              <a:t>Review analysis engine</a:t>
            </a:r>
            <a:endParaRPr lang="en-US" sz="1450" dirty="0"/>
          </a:p>
        </p:txBody>
      </p:sp>
      <p:sp>
        <p:nvSpPr>
          <p:cNvPr id="14" name="Text 11"/>
          <p:cNvSpPr txBox="1"/>
          <p:nvPr/>
        </p:nvSpPr>
        <p:spPr>
          <a:xfrm>
            <a:off x="1078992" y="3300984"/>
            <a:ext cx="4224528" cy="694944"/>
          </a:xfrm>
          <a:prstGeom prst="rect">
            <a:avLst/>
          </a:prstGeom>
          <a:noFill/>
          <a:ln/>
        </p:spPr>
        <p:txBody>
          <a:bodyPr wrap="square" lIns="0" tIns="0" rIns="0" bIns="0" rtlCol="0" anchor="ctr"/>
          <a:lstStyle/>
          <a:p>
            <a:pPr indent="0" marL="0">
              <a:lnSpc>
                <a:spcPct val="106000"/>
              </a:lnSpc>
              <a:buNone/>
            </a:pPr>
            <a:r>
              <a:rPr lang="en-US" sz="1150" dirty="0">
                <a:solidFill>
                  <a:srgbClr val="5B6C81"/>
                </a:solidFill>
                <a:latin typeface="Calibri" pitchFamily="34" charset="0"/>
                <a:ea typeface="Calibri" pitchFamily="34" charset="-122"/>
                <a:cs typeface="Calibri" pitchFamily="34" charset="-120"/>
              </a:rPr>
              <a:t>Reads approved CLO wording, artefacts and assessment methods against each indicator's evidence profile.</a:t>
            </a:r>
            <a:endParaRPr lang="en-US" sz="1150" dirty="0"/>
          </a:p>
        </p:txBody>
      </p:sp>
      <p:sp>
        <p:nvSpPr>
          <p:cNvPr id="15" name="Shape 12"/>
          <p:cNvSpPr/>
          <p:nvPr/>
        </p:nvSpPr>
        <p:spPr>
          <a:xfrm>
            <a:off x="566928" y="4160520"/>
            <a:ext cx="329184" cy="329184"/>
          </a:xfrm>
          <a:prstGeom prst="roundRect">
            <a:avLst>
              <a:gd name="adj" fmla="val 69444"/>
            </a:avLst>
          </a:prstGeom>
          <a:solidFill>
            <a:srgbClr val="143D66"/>
          </a:solidFill>
          <a:ln w="12700">
            <a:solidFill>
              <a:srgbClr val="143D66"/>
            </a:solidFill>
            <a:prstDash val="solid"/>
          </a:ln>
        </p:spPr>
      </p:sp>
      <p:sp>
        <p:nvSpPr>
          <p:cNvPr id="16" name="Text 13"/>
          <p:cNvSpPr txBox="1"/>
          <p:nvPr/>
        </p:nvSpPr>
        <p:spPr>
          <a:xfrm>
            <a:off x="566928" y="41605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4"/>
          <p:cNvSpPr txBox="1"/>
          <p:nvPr/>
        </p:nvSpPr>
        <p:spPr>
          <a:xfrm>
            <a:off x="1078992" y="4142232"/>
            <a:ext cx="4206240" cy="274320"/>
          </a:xfrm>
          <a:prstGeom prst="rect">
            <a:avLst/>
          </a:prstGeom>
          <a:noFill/>
          <a:ln/>
        </p:spPr>
        <p:txBody>
          <a:bodyPr wrap="square" lIns="0" tIns="0" rIns="0" bIns="0" rtlCol="0" anchor="ctr"/>
          <a:lstStyle/>
          <a:p>
            <a:pPr indent="0" marL="0">
              <a:buNone/>
            </a:pPr>
            <a:r>
              <a:rPr lang="en-US" sz="1450" b="1" dirty="0">
                <a:solidFill>
                  <a:srgbClr val="143D66"/>
                </a:solidFill>
                <a:latin typeface="Calibri" pitchFamily="34" charset="0"/>
                <a:ea typeface="Calibri" pitchFamily="34" charset="-122"/>
                <a:cs typeface="Calibri" pitchFamily="34" charset="-120"/>
              </a:rPr>
              <a:t>Gaps, overlaps and documentation needs</a:t>
            </a:r>
            <a:endParaRPr lang="en-US" sz="1450" dirty="0"/>
          </a:p>
        </p:txBody>
      </p:sp>
      <p:sp>
        <p:nvSpPr>
          <p:cNvPr id="18" name="Text 15"/>
          <p:cNvSpPr txBox="1"/>
          <p:nvPr/>
        </p:nvSpPr>
        <p:spPr>
          <a:xfrm>
            <a:off x="1078992" y="4434840"/>
            <a:ext cx="4224528" cy="694944"/>
          </a:xfrm>
          <a:prstGeom prst="rect">
            <a:avLst/>
          </a:prstGeom>
          <a:noFill/>
          <a:ln/>
        </p:spPr>
        <p:txBody>
          <a:bodyPr wrap="square" lIns="0" tIns="0" rIns="0" bIns="0" rtlCol="0" anchor="ctr"/>
          <a:lstStyle/>
          <a:p>
            <a:pPr indent="0" marL="0">
              <a:lnSpc>
                <a:spcPct val="106000"/>
              </a:lnSpc>
              <a:buNone/>
            </a:pPr>
            <a:r>
              <a:rPr lang="en-US" sz="1150" dirty="0">
                <a:solidFill>
                  <a:srgbClr val="5B6C81"/>
                </a:solidFill>
                <a:latin typeface="Calibri" pitchFamily="34" charset="0"/>
                <a:ea typeface="Calibri" pitchFamily="34" charset="-122"/>
                <a:cs typeface="Calibri" pitchFamily="34" charset="-120"/>
              </a:rPr>
              <a:t>Surfaces what is thin, what is duplicated and what simply needs confirming.</a:t>
            </a:r>
            <a:endParaRPr lang="en-US" sz="1150" dirty="0"/>
          </a:p>
        </p:txBody>
      </p:sp>
      <p:sp>
        <p:nvSpPr>
          <p:cNvPr id="19" name="Shape 16"/>
          <p:cNvSpPr/>
          <p:nvPr/>
        </p:nvSpPr>
        <p:spPr>
          <a:xfrm>
            <a:off x="566928" y="5358384"/>
            <a:ext cx="4535424" cy="914400"/>
          </a:xfrm>
          <a:prstGeom prst="roundRect">
            <a:avLst>
              <a:gd name="adj" fmla="val 8000"/>
            </a:avLst>
          </a:prstGeom>
          <a:solidFill>
            <a:srgbClr val="EAF3EC"/>
          </a:solidFill>
          <a:ln w="12700">
            <a:solidFill>
              <a:srgbClr val="BFDCC8"/>
            </a:solidFill>
            <a:prstDash val="solid"/>
          </a:ln>
          <a:effectLst>
            <a:outerShdw sx="100000" sy="100000" kx="0" ky="0" algn="bl" rotWithShape="0" blurRad="127000" dist="38100" dir="5400000">
              <a:srgbClr val="0B1B2E">
                <a:alpha val="7000"/>
              </a:srgbClr>
            </a:outerShdw>
          </a:effectLst>
        </p:spPr>
      </p:sp>
      <p:sp>
        <p:nvSpPr>
          <p:cNvPr id="20" name="Text 17"/>
          <p:cNvSpPr txBox="1"/>
          <p:nvPr/>
        </p:nvSpPr>
        <p:spPr>
          <a:xfrm>
            <a:off x="768096" y="5431536"/>
            <a:ext cx="4169664" cy="786384"/>
          </a:xfrm>
          <a:prstGeom prst="rect">
            <a:avLst/>
          </a:prstGeom>
          <a:noFill/>
          <a:ln/>
        </p:spPr>
        <p:txBody>
          <a:bodyPr wrap="square" lIns="0" tIns="0" rIns="0" bIns="0" rtlCol="0" anchor="ctr"/>
          <a:lstStyle/>
          <a:p>
            <a:pPr indent="0" marL="0">
              <a:lnSpc>
                <a:spcPct val="104000"/>
              </a:lnSpc>
              <a:buNone/>
            </a:pPr>
            <a:r>
              <a:rPr lang="en-US" sz="1100" b="1" dirty="0">
                <a:solidFill>
                  <a:srgbClr val="2D7A56"/>
                </a:solidFill>
                <a:latin typeface="Calibri" pitchFamily="34" charset="0"/>
                <a:ea typeface="Calibri" pitchFamily="34" charset="-122"/>
                <a:cs typeface="Calibri" pitchFamily="34" charset="-120"/>
              </a:rPr>
              <a:t>Supportive, not punitive.  </a:t>
            </a:r>
            <a:pPr indent="0" marL="0">
              <a:lnSpc>
                <a:spcPct val="104000"/>
              </a:lnSpc>
              <a:buNone/>
            </a:pPr>
            <a:r>
              <a:rPr lang="en-US" sz="1100" dirty="0">
                <a:solidFill>
                  <a:srgbClr val="3F5C4C"/>
                </a:solidFill>
                <a:latin typeface="Calibri" pitchFamily="34" charset="0"/>
                <a:ea typeface="Calibri" pitchFamily="34" charset="-122"/>
                <a:cs typeface="Calibri" pitchFamily="34" charset="-120"/>
              </a:rPr>
              <a:t>The engine reports status and suggests confirmation — it never grades a colleague and stores no student performance data.</a:t>
            </a:r>
            <a:endParaRPr lang="en-US" sz="1100" dirty="0"/>
          </a:p>
        </p:txBody>
      </p:sp>
      <p:sp>
        <p:nvSpPr>
          <p:cNvPr id="22" name="Text 18"/>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93A3B5"/>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23" name="Text 19"/>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93A3B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9A6208"/>
                </a:solidFill>
                <a:latin typeface="Calibri" pitchFamily="34" charset="0"/>
                <a:ea typeface="Calibri" pitchFamily="34" charset="-122"/>
                <a:cs typeface="Calibri" pitchFamily="34" charset="-120"/>
              </a:rPr>
              <a:t>THE CYCLE</a:t>
            </a:r>
            <a:endParaRPr lang="en-US" sz="1100" dirty="0"/>
          </a:p>
        </p:txBody>
      </p:sp>
      <p:sp>
        <p:nvSpPr>
          <p:cNvPr id="3" name="Text 1"/>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143D66"/>
                </a:solidFill>
                <a:latin typeface="Cambria" pitchFamily="34" charset="0"/>
                <a:ea typeface="Cambria" pitchFamily="34" charset="-122"/>
                <a:cs typeface="Cambria" pitchFamily="34" charset="-120"/>
              </a:rPr>
              <a:t>Continuous improvement support</a:t>
            </a:r>
            <a:endParaRPr lang="en-US" sz="3200" dirty="0"/>
          </a:p>
        </p:txBody>
      </p:sp>
      <p:sp>
        <p:nvSpPr>
          <p:cNvPr id="4" name="Text 2"/>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5B6C81"/>
                </a:solidFill>
                <a:latin typeface="Calibri" pitchFamily="34" charset="0"/>
                <a:ea typeface="Calibri" pitchFamily="34" charset="-122"/>
                <a:cs typeface="Calibri" pitchFamily="34" charset="-120"/>
              </a:rPr>
              <a:t>Curriculum evidence moves from source files, through CIP, into committee decisions — and back again.</a:t>
            </a:r>
            <a:endParaRPr lang="en-US" sz="1400" dirty="0"/>
          </a:p>
        </p:txBody>
      </p:sp>
      <p:sp>
        <p:nvSpPr>
          <p:cNvPr id="5" name="Shape 3"/>
          <p:cNvSpPr/>
          <p:nvPr/>
        </p:nvSpPr>
        <p:spPr>
          <a:xfrm>
            <a:off x="566928" y="2011680"/>
            <a:ext cx="2487168" cy="1481328"/>
          </a:xfrm>
          <a:prstGeom prst="roundRect">
            <a:avLst>
              <a:gd name="adj" fmla="val 4938"/>
            </a:avLst>
          </a:prstGeom>
          <a:solidFill>
            <a:srgbClr val="FFFFFF"/>
          </a:solidFill>
          <a:ln w="19050">
            <a:solidFill>
              <a:srgbClr val="143D66"/>
            </a:solidFill>
            <a:prstDash val="solid"/>
          </a:ln>
          <a:effectLst>
            <a:outerShdw sx="100000" sy="100000" kx="0" ky="0" algn="bl" rotWithShape="0" blurRad="114300" dist="38100" dir="5400000">
              <a:srgbClr val="0B1B2E">
                <a:alpha val="8000"/>
              </a:srgbClr>
            </a:outerShdw>
          </a:effectLst>
        </p:spPr>
      </p:sp>
      <p:sp>
        <p:nvSpPr>
          <p:cNvPr id="6" name="Shape 4"/>
          <p:cNvSpPr/>
          <p:nvPr/>
        </p:nvSpPr>
        <p:spPr>
          <a:xfrm>
            <a:off x="786384" y="2212848"/>
            <a:ext cx="274320" cy="274320"/>
          </a:xfrm>
          <a:prstGeom prst="roundRect">
            <a:avLst>
              <a:gd name="adj" fmla="val 83333"/>
            </a:avLst>
          </a:prstGeom>
          <a:solidFill>
            <a:srgbClr val="143D66"/>
          </a:solidFill>
          <a:ln w="12700">
            <a:solidFill>
              <a:srgbClr val="143D66"/>
            </a:solidFill>
            <a:prstDash val="solid"/>
          </a:ln>
        </p:spPr>
      </p:sp>
      <p:sp>
        <p:nvSpPr>
          <p:cNvPr id="7" name="Text 5"/>
          <p:cNvSpPr txBox="1"/>
          <p:nvPr/>
        </p:nvSpPr>
        <p:spPr>
          <a:xfrm>
            <a:off x="786384" y="2578608"/>
            <a:ext cx="2048256" cy="292608"/>
          </a:xfrm>
          <a:prstGeom prst="rect">
            <a:avLst/>
          </a:prstGeom>
          <a:noFill/>
          <a:ln/>
        </p:spPr>
        <p:txBody>
          <a:bodyPr wrap="square" lIns="0" tIns="0" rIns="0" bIns="0" rtlCol="0" anchor="ctr"/>
          <a:lstStyle/>
          <a:p>
            <a:pPr indent="0" marL="0">
              <a:buNone/>
            </a:pPr>
            <a:r>
              <a:rPr lang="en-US" sz="1400" b="1" dirty="0">
                <a:solidFill>
                  <a:srgbClr val="143D66"/>
                </a:solidFill>
                <a:latin typeface="Calibri" pitchFamily="34" charset="0"/>
                <a:ea typeface="Calibri" pitchFamily="34" charset="-122"/>
                <a:cs typeface="Calibri" pitchFamily="34" charset="-120"/>
              </a:rPr>
              <a:t>Source data</a:t>
            </a:r>
            <a:endParaRPr lang="en-US" sz="1400" dirty="0"/>
          </a:p>
        </p:txBody>
      </p:sp>
      <p:sp>
        <p:nvSpPr>
          <p:cNvPr id="8" name="Text 6"/>
          <p:cNvSpPr txBox="1"/>
          <p:nvPr/>
        </p:nvSpPr>
        <p:spPr>
          <a:xfrm>
            <a:off x="786384" y="2889504"/>
            <a:ext cx="2084832" cy="548640"/>
          </a:xfrm>
          <a:prstGeom prst="rect">
            <a:avLst/>
          </a:prstGeom>
          <a:noFill/>
          <a:ln/>
        </p:spPr>
        <p:txBody>
          <a:bodyPr wrap="square" lIns="0" tIns="0" rIns="0" bIns="0" rtlCol="0" anchor="ctr"/>
          <a:lstStyle/>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Course specs, CLOs,</a:t>
            </a:r>
            <a:endParaRPr lang="en-US" sz="1050" dirty="0"/>
          </a:p>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mappings, assessment plans</a:t>
            </a:r>
            <a:endParaRPr lang="en-US" sz="1050" dirty="0"/>
          </a:p>
        </p:txBody>
      </p:sp>
      <p:sp>
        <p:nvSpPr>
          <p:cNvPr id="9" name="Shape 7"/>
          <p:cNvSpPr/>
          <p:nvPr/>
        </p:nvSpPr>
        <p:spPr>
          <a:xfrm>
            <a:off x="3136392" y="2633472"/>
            <a:ext cx="256032" cy="237744"/>
          </a:xfrm>
          <a:prstGeom prst="rightArrow">
            <a:avLst/>
          </a:prstGeom>
          <a:solidFill>
            <a:srgbClr val="D3DDE8"/>
          </a:solidFill>
          <a:ln w="12700">
            <a:solidFill>
              <a:srgbClr val="D3DDE8"/>
            </a:solidFill>
            <a:prstDash val="solid"/>
          </a:ln>
        </p:spPr>
      </p:sp>
      <p:sp>
        <p:nvSpPr>
          <p:cNvPr id="10" name="Shape 8"/>
          <p:cNvSpPr/>
          <p:nvPr/>
        </p:nvSpPr>
        <p:spPr>
          <a:xfrm>
            <a:off x="3456432" y="2011680"/>
            <a:ext cx="2487168" cy="1481328"/>
          </a:xfrm>
          <a:prstGeom prst="roundRect">
            <a:avLst>
              <a:gd name="adj" fmla="val 4938"/>
            </a:avLst>
          </a:prstGeom>
          <a:solidFill>
            <a:srgbClr val="FFFFFF"/>
          </a:solidFill>
          <a:ln w="19050">
            <a:solidFill>
              <a:srgbClr val="1C6E93"/>
            </a:solidFill>
            <a:prstDash val="solid"/>
          </a:ln>
          <a:effectLst>
            <a:outerShdw sx="100000" sy="100000" kx="0" ky="0" algn="bl" rotWithShape="0" blurRad="114300" dist="38100" dir="5400000">
              <a:srgbClr val="0B1B2E">
                <a:alpha val="8000"/>
              </a:srgbClr>
            </a:outerShdw>
          </a:effectLst>
        </p:spPr>
      </p:sp>
      <p:sp>
        <p:nvSpPr>
          <p:cNvPr id="11" name="Shape 9"/>
          <p:cNvSpPr/>
          <p:nvPr/>
        </p:nvSpPr>
        <p:spPr>
          <a:xfrm>
            <a:off x="3675888" y="2212848"/>
            <a:ext cx="274320" cy="274320"/>
          </a:xfrm>
          <a:prstGeom prst="roundRect">
            <a:avLst>
              <a:gd name="adj" fmla="val 83333"/>
            </a:avLst>
          </a:prstGeom>
          <a:solidFill>
            <a:srgbClr val="1C6E93"/>
          </a:solidFill>
          <a:ln w="12700">
            <a:solidFill>
              <a:srgbClr val="1C6E93"/>
            </a:solidFill>
            <a:prstDash val="solid"/>
          </a:ln>
        </p:spPr>
      </p:sp>
      <p:sp>
        <p:nvSpPr>
          <p:cNvPr id="12" name="Text 10"/>
          <p:cNvSpPr txBox="1"/>
          <p:nvPr/>
        </p:nvSpPr>
        <p:spPr>
          <a:xfrm>
            <a:off x="3675888" y="2578608"/>
            <a:ext cx="2048256" cy="292608"/>
          </a:xfrm>
          <a:prstGeom prst="rect">
            <a:avLst/>
          </a:prstGeom>
          <a:noFill/>
          <a:ln/>
        </p:spPr>
        <p:txBody>
          <a:bodyPr wrap="square" lIns="0" tIns="0" rIns="0" bIns="0" rtlCol="0" anchor="ctr"/>
          <a:lstStyle/>
          <a:p>
            <a:pPr indent="0" marL="0">
              <a:buNone/>
            </a:pPr>
            <a:r>
              <a:rPr lang="en-US" sz="1400" b="1" dirty="0">
                <a:solidFill>
                  <a:srgbClr val="1C6E93"/>
                </a:solidFill>
                <a:latin typeface="Calibri" pitchFamily="34" charset="0"/>
                <a:ea typeface="Calibri" pitchFamily="34" charset="-122"/>
                <a:cs typeface="Calibri" pitchFamily="34" charset="-120"/>
              </a:rPr>
              <a:t>CIP intelligence</a:t>
            </a:r>
            <a:endParaRPr lang="en-US" sz="1400" dirty="0"/>
          </a:p>
        </p:txBody>
      </p:sp>
      <p:sp>
        <p:nvSpPr>
          <p:cNvPr id="13" name="Text 11"/>
          <p:cNvSpPr txBox="1"/>
          <p:nvPr/>
        </p:nvSpPr>
        <p:spPr>
          <a:xfrm>
            <a:off x="3675888" y="2889504"/>
            <a:ext cx="2084832" cy="548640"/>
          </a:xfrm>
          <a:prstGeom prst="rect">
            <a:avLst/>
          </a:prstGeom>
          <a:noFill/>
          <a:ln/>
        </p:spPr>
        <p:txBody>
          <a:bodyPr wrap="square" lIns="0" tIns="0" rIns="0" bIns="0" rtlCol="0" anchor="ctr"/>
          <a:lstStyle/>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Structured, cross-linked,</a:t>
            </a:r>
            <a:endParaRPr lang="en-US" sz="1050" dirty="0"/>
          </a:p>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searchable curriculum views</a:t>
            </a:r>
            <a:endParaRPr lang="en-US" sz="1050" dirty="0"/>
          </a:p>
        </p:txBody>
      </p:sp>
      <p:sp>
        <p:nvSpPr>
          <p:cNvPr id="14" name="Shape 12"/>
          <p:cNvSpPr/>
          <p:nvPr/>
        </p:nvSpPr>
        <p:spPr>
          <a:xfrm>
            <a:off x="6025896" y="2633472"/>
            <a:ext cx="256032" cy="237744"/>
          </a:xfrm>
          <a:prstGeom prst="rightArrow">
            <a:avLst/>
          </a:prstGeom>
          <a:solidFill>
            <a:srgbClr val="D3DDE8"/>
          </a:solidFill>
          <a:ln w="12700">
            <a:solidFill>
              <a:srgbClr val="D3DDE8"/>
            </a:solidFill>
            <a:prstDash val="solid"/>
          </a:ln>
        </p:spPr>
      </p:sp>
      <p:sp>
        <p:nvSpPr>
          <p:cNvPr id="15" name="Shape 13"/>
          <p:cNvSpPr/>
          <p:nvPr/>
        </p:nvSpPr>
        <p:spPr>
          <a:xfrm>
            <a:off x="6345936" y="2011680"/>
            <a:ext cx="2487168" cy="1481328"/>
          </a:xfrm>
          <a:prstGeom prst="roundRect">
            <a:avLst>
              <a:gd name="adj" fmla="val 4938"/>
            </a:avLst>
          </a:prstGeom>
          <a:solidFill>
            <a:srgbClr val="FFFFFF"/>
          </a:solidFill>
          <a:ln w="19050">
            <a:solidFill>
              <a:srgbClr val="9A6208"/>
            </a:solidFill>
            <a:prstDash val="solid"/>
          </a:ln>
          <a:effectLst>
            <a:outerShdw sx="100000" sy="100000" kx="0" ky="0" algn="bl" rotWithShape="0" blurRad="114300" dist="38100" dir="5400000">
              <a:srgbClr val="0B1B2E">
                <a:alpha val="8000"/>
              </a:srgbClr>
            </a:outerShdw>
          </a:effectLst>
        </p:spPr>
      </p:sp>
      <p:sp>
        <p:nvSpPr>
          <p:cNvPr id="16" name="Shape 14"/>
          <p:cNvSpPr/>
          <p:nvPr/>
        </p:nvSpPr>
        <p:spPr>
          <a:xfrm>
            <a:off x="6565392" y="2212848"/>
            <a:ext cx="274320" cy="274320"/>
          </a:xfrm>
          <a:prstGeom prst="roundRect">
            <a:avLst>
              <a:gd name="adj" fmla="val 83333"/>
            </a:avLst>
          </a:prstGeom>
          <a:solidFill>
            <a:srgbClr val="9A6208"/>
          </a:solidFill>
          <a:ln w="12700">
            <a:solidFill>
              <a:srgbClr val="9A6208"/>
            </a:solidFill>
            <a:prstDash val="solid"/>
          </a:ln>
        </p:spPr>
      </p:sp>
      <p:sp>
        <p:nvSpPr>
          <p:cNvPr id="17" name="Text 15"/>
          <p:cNvSpPr txBox="1"/>
          <p:nvPr/>
        </p:nvSpPr>
        <p:spPr>
          <a:xfrm>
            <a:off x="6565392" y="2578608"/>
            <a:ext cx="2048256" cy="292608"/>
          </a:xfrm>
          <a:prstGeom prst="rect">
            <a:avLst/>
          </a:prstGeom>
          <a:noFill/>
          <a:ln/>
        </p:spPr>
        <p:txBody>
          <a:bodyPr wrap="square" lIns="0" tIns="0" rIns="0" bIns="0" rtlCol="0" anchor="ctr"/>
          <a:lstStyle/>
          <a:p>
            <a:pPr indent="0" marL="0">
              <a:buNone/>
            </a:pPr>
            <a:r>
              <a:rPr lang="en-US" sz="1400" b="1" dirty="0">
                <a:solidFill>
                  <a:srgbClr val="9A6208"/>
                </a:solidFill>
                <a:latin typeface="Calibri" pitchFamily="34" charset="0"/>
                <a:ea typeface="Calibri" pitchFamily="34" charset="-122"/>
                <a:cs typeface="Calibri" pitchFamily="34" charset="-120"/>
              </a:rPr>
              <a:t>Committee decisions</a:t>
            </a:r>
            <a:endParaRPr lang="en-US" sz="1400" dirty="0"/>
          </a:p>
        </p:txBody>
      </p:sp>
      <p:sp>
        <p:nvSpPr>
          <p:cNvPr id="18" name="Text 16"/>
          <p:cNvSpPr txBox="1"/>
          <p:nvPr/>
        </p:nvSpPr>
        <p:spPr>
          <a:xfrm>
            <a:off x="6565392" y="2889504"/>
            <a:ext cx="2084832" cy="548640"/>
          </a:xfrm>
          <a:prstGeom prst="rect">
            <a:avLst/>
          </a:prstGeom>
          <a:noFill/>
          <a:ln/>
        </p:spPr>
        <p:txBody>
          <a:bodyPr wrap="square" lIns="0" tIns="0" rIns="0" bIns="0" rtlCol="0" anchor="ctr"/>
          <a:lstStyle/>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Evidence-based review,</a:t>
            </a:r>
            <a:endParaRPr lang="en-US" sz="1050" dirty="0"/>
          </a:p>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recorded outcomes</a:t>
            </a:r>
            <a:endParaRPr lang="en-US" sz="1050" dirty="0"/>
          </a:p>
        </p:txBody>
      </p:sp>
      <p:sp>
        <p:nvSpPr>
          <p:cNvPr id="19" name="Shape 17"/>
          <p:cNvSpPr/>
          <p:nvPr/>
        </p:nvSpPr>
        <p:spPr>
          <a:xfrm>
            <a:off x="8915400" y="2633472"/>
            <a:ext cx="256032" cy="237744"/>
          </a:xfrm>
          <a:prstGeom prst="rightArrow">
            <a:avLst/>
          </a:prstGeom>
          <a:solidFill>
            <a:srgbClr val="D3DDE8"/>
          </a:solidFill>
          <a:ln w="12700">
            <a:solidFill>
              <a:srgbClr val="D3DDE8"/>
            </a:solidFill>
            <a:prstDash val="solid"/>
          </a:ln>
        </p:spPr>
      </p:sp>
      <p:sp>
        <p:nvSpPr>
          <p:cNvPr id="20" name="Shape 18"/>
          <p:cNvSpPr/>
          <p:nvPr/>
        </p:nvSpPr>
        <p:spPr>
          <a:xfrm>
            <a:off x="9235440" y="2011680"/>
            <a:ext cx="2487168" cy="1481328"/>
          </a:xfrm>
          <a:prstGeom prst="roundRect">
            <a:avLst>
              <a:gd name="adj" fmla="val 4938"/>
            </a:avLst>
          </a:prstGeom>
          <a:solidFill>
            <a:srgbClr val="FFFFFF"/>
          </a:solidFill>
          <a:ln w="19050">
            <a:solidFill>
              <a:srgbClr val="2D7A56"/>
            </a:solidFill>
            <a:prstDash val="solid"/>
          </a:ln>
          <a:effectLst>
            <a:outerShdw sx="100000" sy="100000" kx="0" ky="0" algn="bl" rotWithShape="0" blurRad="114300" dist="38100" dir="5400000">
              <a:srgbClr val="0B1B2E">
                <a:alpha val="8000"/>
              </a:srgbClr>
            </a:outerShdw>
          </a:effectLst>
        </p:spPr>
      </p:sp>
      <p:sp>
        <p:nvSpPr>
          <p:cNvPr id="21" name="Shape 19"/>
          <p:cNvSpPr/>
          <p:nvPr/>
        </p:nvSpPr>
        <p:spPr>
          <a:xfrm>
            <a:off x="9454896" y="2212848"/>
            <a:ext cx="274320" cy="274320"/>
          </a:xfrm>
          <a:prstGeom prst="roundRect">
            <a:avLst>
              <a:gd name="adj" fmla="val 83333"/>
            </a:avLst>
          </a:prstGeom>
          <a:solidFill>
            <a:srgbClr val="2D7A56"/>
          </a:solidFill>
          <a:ln w="12700">
            <a:solidFill>
              <a:srgbClr val="2D7A56"/>
            </a:solidFill>
            <a:prstDash val="solid"/>
          </a:ln>
        </p:spPr>
      </p:sp>
      <p:sp>
        <p:nvSpPr>
          <p:cNvPr id="22" name="Text 20"/>
          <p:cNvSpPr txBox="1"/>
          <p:nvPr/>
        </p:nvSpPr>
        <p:spPr>
          <a:xfrm>
            <a:off x="9454896" y="2578608"/>
            <a:ext cx="2048256" cy="292608"/>
          </a:xfrm>
          <a:prstGeom prst="rect">
            <a:avLst/>
          </a:prstGeom>
          <a:noFill/>
          <a:ln/>
        </p:spPr>
        <p:txBody>
          <a:bodyPr wrap="square" lIns="0" tIns="0" rIns="0" bIns="0" rtlCol="0" anchor="ctr"/>
          <a:lstStyle/>
          <a:p>
            <a:pPr indent="0" marL="0">
              <a:buNone/>
            </a:pPr>
            <a:r>
              <a:rPr lang="en-US" sz="1400" b="1" dirty="0">
                <a:solidFill>
                  <a:srgbClr val="2D7A56"/>
                </a:solidFill>
                <a:latin typeface="Calibri" pitchFamily="34" charset="0"/>
                <a:ea typeface="Calibri" pitchFamily="34" charset="-122"/>
                <a:cs typeface="Calibri" pitchFamily="34" charset="-120"/>
              </a:rPr>
              <a:t>Continuous improvement</a:t>
            </a:r>
            <a:endParaRPr lang="en-US" sz="1400" dirty="0"/>
          </a:p>
        </p:txBody>
      </p:sp>
      <p:sp>
        <p:nvSpPr>
          <p:cNvPr id="23" name="Text 21"/>
          <p:cNvSpPr txBox="1"/>
          <p:nvPr/>
        </p:nvSpPr>
        <p:spPr>
          <a:xfrm>
            <a:off x="9454896" y="2889504"/>
            <a:ext cx="2084832" cy="548640"/>
          </a:xfrm>
          <a:prstGeom prst="rect">
            <a:avLst/>
          </a:prstGeom>
          <a:noFill/>
          <a:ln/>
        </p:spPr>
        <p:txBody>
          <a:bodyPr wrap="square" lIns="0" tIns="0" rIns="0" bIns="0" rtlCol="0" anchor="ctr"/>
          <a:lstStyle/>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CLO revisions, mapping</a:t>
            </a:r>
            <a:endParaRPr lang="en-US" sz="1050" dirty="0"/>
          </a:p>
          <a:p>
            <a:pPr indent="0" marL="0">
              <a:lnSpc>
                <a:spcPct val="100000"/>
              </a:lnSpc>
              <a:buNone/>
            </a:pPr>
            <a:r>
              <a:rPr lang="en-US" sz="1050" dirty="0">
                <a:solidFill>
                  <a:srgbClr val="5B6C81"/>
                </a:solidFill>
                <a:latin typeface="Calibri" pitchFamily="34" charset="0"/>
                <a:ea typeface="Calibri" pitchFamily="34" charset="-122"/>
                <a:cs typeface="Calibri" pitchFamily="34" charset="-120"/>
              </a:rPr>
              <a:t>updates, documentation</a:t>
            </a:r>
            <a:endParaRPr lang="en-US" sz="1050" dirty="0"/>
          </a:p>
        </p:txBody>
      </p:sp>
      <p:sp>
        <p:nvSpPr>
          <p:cNvPr id="24" name="Shape 22"/>
          <p:cNvSpPr/>
          <p:nvPr/>
        </p:nvSpPr>
        <p:spPr>
          <a:xfrm>
            <a:off x="566928" y="3730752"/>
            <a:ext cx="11055096" cy="384048"/>
          </a:xfrm>
          <a:prstGeom prst="roundRect">
            <a:avLst>
              <a:gd name="adj" fmla="val 47619"/>
            </a:avLst>
          </a:prstGeom>
          <a:solidFill>
            <a:srgbClr val="F2F5FA"/>
          </a:solidFill>
          <a:ln w="12700">
            <a:solidFill>
              <a:srgbClr val="D3DDE8"/>
            </a:solidFill>
            <a:prstDash val="solid"/>
          </a:ln>
        </p:spPr>
      </p:sp>
      <p:sp>
        <p:nvSpPr>
          <p:cNvPr id="25" name="Text 23"/>
          <p:cNvSpPr txBox="1"/>
          <p:nvPr/>
        </p:nvSpPr>
        <p:spPr>
          <a:xfrm>
            <a:off x="566928" y="3730752"/>
            <a:ext cx="11055096" cy="384048"/>
          </a:xfrm>
          <a:prstGeom prst="rect">
            <a:avLst/>
          </a:prstGeom>
          <a:noFill/>
          <a:ln/>
        </p:spPr>
        <p:txBody>
          <a:bodyPr wrap="square" lIns="0" tIns="0" rIns="0" bIns="0" rtlCol="0" anchor="ctr"/>
          <a:lstStyle/>
          <a:p>
            <a:pPr algn="ctr" indent="0" marL="0">
              <a:buNone/>
            </a:pPr>
            <a:r>
              <a:rPr lang="en-US" sz="1150" i="1" dirty="0">
                <a:solidFill>
                  <a:srgbClr val="5B6C81"/>
                </a:solidFill>
                <a:latin typeface="Calibri" pitchFamily="34" charset="0"/>
                <a:ea typeface="Calibri" pitchFamily="34" charset="-122"/>
                <a:cs typeface="Calibri" pitchFamily="34" charset="-120"/>
              </a:rPr>
              <a:t>Improvement evidence feeds the next curriculum revision cycle</a:t>
            </a:r>
            <a:endParaRPr lang="en-US" sz="1150" dirty="0"/>
          </a:p>
        </p:txBody>
      </p:sp>
      <p:sp>
        <p:nvSpPr>
          <p:cNvPr id="26" name="Shape 24"/>
          <p:cNvSpPr/>
          <p:nvPr/>
        </p:nvSpPr>
        <p:spPr>
          <a:xfrm>
            <a:off x="566928" y="4370832"/>
            <a:ext cx="5358384" cy="822960"/>
          </a:xfrm>
          <a:prstGeom prst="roundRect">
            <a:avLst>
              <a:gd name="adj" fmla="val 8889"/>
            </a:avLst>
          </a:prstGeom>
          <a:solidFill>
            <a:srgbClr val="F2F5FA"/>
          </a:solidFill>
          <a:ln w="12700">
            <a:solidFill>
              <a:srgbClr val="D3DDE8"/>
            </a:solidFill>
            <a:prstDash val="solid"/>
          </a:ln>
        </p:spPr>
      </p:sp>
      <p:sp>
        <p:nvSpPr>
          <p:cNvPr id="27" name="Text 25"/>
          <p:cNvSpPr txBox="1"/>
          <p:nvPr/>
        </p:nvSpPr>
        <p:spPr>
          <a:xfrm>
            <a:off x="786384" y="4480560"/>
            <a:ext cx="4937760" cy="237744"/>
          </a:xfrm>
          <a:prstGeom prst="rect">
            <a:avLst/>
          </a:prstGeom>
          <a:noFill/>
          <a:ln/>
        </p:spPr>
        <p:txBody>
          <a:bodyPr wrap="square" lIns="0" tIns="0" rIns="0" bIns="0" rtlCol="0" anchor="ctr"/>
          <a:lstStyle/>
          <a:p>
            <a:pPr indent="0" marL="0">
              <a:buNone/>
            </a:pPr>
            <a:r>
              <a:rPr lang="en-US" sz="1250" b="1" dirty="0">
                <a:solidFill>
                  <a:srgbClr val="143D66"/>
                </a:solidFill>
                <a:latin typeface="Calibri" pitchFamily="34" charset="0"/>
                <a:ea typeface="Calibri" pitchFamily="34" charset="-122"/>
                <a:cs typeface="Calibri" pitchFamily="34" charset="-120"/>
              </a:rPr>
              <a:t>Structured evidence for discussion</a:t>
            </a:r>
            <a:endParaRPr lang="en-US" sz="1250" dirty="0"/>
          </a:p>
        </p:txBody>
      </p:sp>
      <p:sp>
        <p:nvSpPr>
          <p:cNvPr id="28" name="Text 26"/>
          <p:cNvSpPr txBox="1"/>
          <p:nvPr/>
        </p:nvSpPr>
        <p:spPr>
          <a:xfrm>
            <a:off x="786384" y="4718304"/>
            <a:ext cx="4956048" cy="402336"/>
          </a:xfrm>
          <a:prstGeom prst="rect">
            <a:avLst/>
          </a:prstGeom>
          <a:noFill/>
          <a:ln/>
        </p:spPr>
        <p:txBody>
          <a:bodyPr wrap="square" lIns="0" tIns="0" rIns="0" bIns="0" rtlCol="0" anchor="ctr"/>
          <a:lstStyle/>
          <a:p>
            <a:pPr indent="0" marL="0">
              <a:lnSpc>
                <a:spcPct val="98000"/>
              </a:lnSpc>
              <a:buNone/>
            </a:pPr>
            <a:r>
              <a:rPr lang="en-US" sz="1000" dirty="0">
                <a:solidFill>
                  <a:srgbClr val="5B6C81"/>
                </a:solidFill>
                <a:latin typeface="Calibri" pitchFamily="34" charset="0"/>
                <a:ea typeface="Calibri" pitchFamily="34" charset="-122"/>
                <a:cs typeface="Calibri" pitchFamily="34" charset="-120"/>
              </a:rPr>
              <a:t>Committee conversations start from the same view of the curriculum instead of competing spreadsheets.</a:t>
            </a:r>
            <a:endParaRPr lang="en-US" sz="1000" dirty="0"/>
          </a:p>
        </p:txBody>
      </p:sp>
      <p:sp>
        <p:nvSpPr>
          <p:cNvPr id="29" name="Shape 27"/>
          <p:cNvSpPr/>
          <p:nvPr/>
        </p:nvSpPr>
        <p:spPr>
          <a:xfrm>
            <a:off x="6263640" y="4370832"/>
            <a:ext cx="5358384" cy="822960"/>
          </a:xfrm>
          <a:prstGeom prst="roundRect">
            <a:avLst>
              <a:gd name="adj" fmla="val 8889"/>
            </a:avLst>
          </a:prstGeom>
          <a:solidFill>
            <a:srgbClr val="F2F5FA"/>
          </a:solidFill>
          <a:ln w="12700">
            <a:solidFill>
              <a:srgbClr val="D3DDE8"/>
            </a:solidFill>
            <a:prstDash val="solid"/>
          </a:ln>
        </p:spPr>
      </p:sp>
      <p:sp>
        <p:nvSpPr>
          <p:cNvPr id="30" name="Text 28"/>
          <p:cNvSpPr txBox="1"/>
          <p:nvPr/>
        </p:nvSpPr>
        <p:spPr>
          <a:xfrm>
            <a:off x="6483096" y="4480560"/>
            <a:ext cx="4937760" cy="237744"/>
          </a:xfrm>
          <a:prstGeom prst="rect">
            <a:avLst/>
          </a:prstGeom>
          <a:noFill/>
          <a:ln/>
        </p:spPr>
        <p:txBody>
          <a:bodyPr wrap="square" lIns="0" tIns="0" rIns="0" bIns="0" rtlCol="0" anchor="ctr"/>
          <a:lstStyle/>
          <a:p>
            <a:pPr indent="0" marL="0">
              <a:buNone/>
            </a:pPr>
            <a:r>
              <a:rPr lang="en-US" sz="1250" b="1" dirty="0">
                <a:solidFill>
                  <a:srgbClr val="143D66"/>
                </a:solidFill>
                <a:latin typeface="Calibri" pitchFamily="34" charset="0"/>
                <a:ea typeface="Calibri" pitchFamily="34" charset="-122"/>
                <a:cs typeface="Calibri" pitchFamily="34" charset="-120"/>
              </a:rPr>
              <a:t>Change and review outputs tracked</a:t>
            </a:r>
            <a:endParaRPr lang="en-US" sz="1250" dirty="0"/>
          </a:p>
        </p:txBody>
      </p:sp>
      <p:sp>
        <p:nvSpPr>
          <p:cNvPr id="31" name="Text 29"/>
          <p:cNvSpPr txBox="1"/>
          <p:nvPr/>
        </p:nvSpPr>
        <p:spPr>
          <a:xfrm>
            <a:off x="6483096" y="4718304"/>
            <a:ext cx="4956048" cy="402336"/>
          </a:xfrm>
          <a:prstGeom prst="rect">
            <a:avLst/>
          </a:prstGeom>
          <a:noFill/>
          <a:ln/>
        </p:spPr>
        <p:txBody>
          <a:bodyPr wrap="square" lIns="0" tIns="0" rIns="0" bIns="0" rtlCol="0" anchor="ctr"/>
          <a:lstStyle/>
          <a:p>
            <a:pPr indent="0" marL="0">
              <a:lnSpc>
                <a:spcPct val="98000"/>
              </a:lnSpc>
              <a:buNone/>
            </a:pPr>
            <a:r>
              <a:rPr lang="en-US" sz="1000" dirty="0">
                <a:solidFill>
                  <a:srgbClr val="5B6C81"/>
                </a:solidFill>
                <a:latin typeface="Calibri" pitchFamily="34" charset="0"/>
                <a:ea typeface="Calibri" pitchFamily="34" charset="-122"/>
                <a:cs typeface="Calibri" pitchFamily="34" charset="-120"/>
              </a:rPr>
              <a:t>CLO revision reports and alignment reviews are produced from live data and kept with the release.</a:t>
            </a:r>
            <a:endParaRPr lang="en-US" sz="1000" dirty="0"/>
          </a:p>
        </p:txBody>
      </p:sp>
      <p:sp>
        <p:nvSpPr>
          <p:cNvPr id="32" name="Shape 30"/>
          <p:cNvSpPr/>
          <p:nvPr/>
        </p:nvSpPr>
        <p:spPr>
          <a:xfrm>
            <a:off x="566928" y="5285232"/>
            <a:ext cx="5358384" cy="822960"/>
          </a:xfrm>
          <a:prstGeom prst="roundRect">
            <a:avLst>
              <a:gd name="adj" fmla="val 8889"/>
            </a:avLst>
          </a:prstGeom>
          <a:solidFill>
            <a:srgbClr val="F2F5FA"/>
          </a:solidFill>
          <a:ln w="12700">
            <a:solidFill>
              <a:srgbClr val="D3DDE8"/>
            </a:solidFill>
            <a:prstDash val="solid"/>
          </a:ln>
        </p:spPr>
      </p:sp>
      <p:sp>
        <p:nvSpPr>
          <p:cNvPr id="33" name="Text 31"/>
          <p:cNvSpPr txBox="1"/>
          <p:nvPr/>
        </p:nvSpPr>
        <p:spPr>
          <a:xfrm>
            <a:off x="786384" y="5394960"/>
            <a:ext cx="4937760" cy="237744"/>
          </a:xfrm>
          <a:prstGeom prst="rect">
            <a:avLst/>
          </a:prstGeom>
          <a:noFill/>
          <a:ln/>
        </p:spPr>
        <p:txBody>
          <a:bodyPr wrap="square" lIns="0" tIns="0" rIns="0" bIns="0" rtlCol="0" anchor="ctr"/>
          <a:lstStyle/>
          <a:p>
            <a:pPr indent="0" marL="0">
              <a:buNone/>
            </a:pPr>
            <a:r>
              <a:rPr lang="en-US" sz="1250" b="1" dirty="0">
                <a:solidFill>
                  <a:srgbClr val="143D66"/>
                </a:solidFill>
                <a:latin typeface="Calibri" pitchFamily="34" charset="0"/>
                <a:ea typeface="Calibri" pitchFamily="34" charset="-122"/>
                <a:cs typeface="Calibri" pitchFamily="34" charset="-120"/>
              </a:rPr>
              <a:t>Faster documentation</a:t>
            </a:r>
            <a:endParaRPr lang="en-US" sz="1250" dirty="0"/>
          </a:p>
        </p:txBody>
      </p:sp>
      <p:sp>
        <p:nvSpPr>
          <p:cNvPr id="34" name="Text 32"/>
          <p:cNvSpPr txBox="1"/>
          <p:nvPr/>
        </p:nvSpPr>
        <p:spPr>
          <a:xfrm>
            <a:off x="786384" y="5632704"/>
            <a:ext cx="4956048" cy="402336"/>
          </a:xfrm>
          <a:prstGeom prst="rect">
            <a:avLst/>
          </a:prstGeom>
          <a:noFill/>
          <a:ln/>
        </p:spPr>
        <p:txBody>
          <a:bodyPr wrap="square" lIns="0" tIns="0" rIns="0" bIns="0" rtlCol="0" anchor="ctr"/>
          <a:lstStyle/>
          <a:p>
            <a:pPr indent="0" marL="0">
              <a:lnSpc>
                <a:spcPct val="98000"/>
              </a:lnSpc>
              <a:buNone/>
            </a:pPr>
            <a:r>
              <a:rPr lang="en-US" sz="1000" dirty="0">
                <a:solidFill>
                  <a:srgbClr val="5B6C81"/>
                </a:solidFill>
                <a:latin typeface="Calibri" pitchFamily="34" charset="0"/>
                <a:ea typeface="Calibri" pitchFamily="34" charset="-122"/>
                <a:cs typeface="Calibri" pitchFamily="34" charset="-120"/>
              </a:rPr>
              <a:t>Course specifications and review reports are generated from the portal rather than reassembled by hand.</a:t>
            </a:r>
            <a:endParaRPr lang="en-US" sz="1000" dirty="0"/>
          </a:p>
        </p:txBody>
      </p:sp>
      <p:sp>
        <p:nvSpPr>
          <p:cNvPr id="35" name="Shape 33"/>
          <p:cNvSpPr/>
          <p:nvPr/>
        </p:nvSpPr>
        <p:spPr>
          <a:xfrm>
            <a:off x="6263640" y="5285232"/>
            <a:ext cx="5358384" cy="822960"/>
          </a:xfrm>
          <a:prstGeom prst="roundRect">
            <a:avLst>
              <a:gd name="adj" fmla="val 8889"/>
            </a:avLst>
          </a:prstGeom>
          <a:solidFill>
            <a:srgbClr val="F2F5FA"/>
          </a:solidFill>
          <a:ln w="12700">
            <a:solidFill>
              <a:srgbClr val="D3DDE8"/>
            </a:solidFill>
            <a:prstDash val="solid"/>
          </a:ln>
        </p:spPr>
      </p:sp>
      <p:sp>
        <p:nvSpPr>
          <p:cNvPr id="36" name="Text 34"/>
          <p:cNvSpPr txBox="1"/>
          <p:nvPr/>
        </p:nvSpPr>
        <p:spPr>
          <a:xfrm>
            <a:off x="6483096" y="5394960"/>
            <a:ext cx="4937760" cy="237744"/>
          </a:xfrm>
          <a:prstGeom prst="rect">
            <a:avLst/>
          </a:prstGeom>
          <a:noFill/>
          <a:ln/>
        </p:spPr>
        <p:txBody>
          <a:bodyPr wrap="square" lIns="0" tIns="0" rIns="0" bIns="0" rtlCol="0" anchor="ctr"/>
          <a:lstStyle/>
          <a:p>
            <a:pPr indent="0" marL="0">
              <a:buNone/>
            </a:pPr>
            <a:r>
              <a:rPr lang="en-US" sz="1250" b="1" dirty="0">
                <a:solidFill>
                  <a:srgbClr val="143D66"/>
                </a:solidFill>
                <a:latin typeface="Calibri" pitchFamily="34" charset="0"/>
                <a:ea typeface="Calibri" pitchFamily="34" charset="-122"/>
                <a:cs typeface="Calibri" pitchFamily="34" charset="-120"/>
              </a:rPr>
              <a:t>Less manual searching</a:t>
            </a:r>
            <a:endParaRPr lang="en-US" sz="1250" dirty="0"/>
          </a:p>
        </p:txBody>
      </p:sp>
      <p:sp>
        <p:nvSpPr>
          <p:cNvPr id="37" name="Text 35"/>
          <p:cNvSpPr txBox="1"/>
          <p:nvPr/>
        </p:nvSpPr>
        <p:spPr>
          <a:xfrm>
            <a:off x="6483096" y="5632704"/>
            <a:ext cx="4956048" cy="402336"/>
          </a:xfrm>
          <a:prstGeom prst="rect">
            <a:avLst/>
          </a:prstGeom>
          <a:noFill/>
          <a:ln/>
        </p:spPr>
        <p:txBody>
          <a:bodyPr wrap="square" lIns="0" tIns="0" rIns="0" bIns="0" rtlCol="0" anchor="ctr"/>
          <a:lstStyle/>
          <a:p>
            <a:pPr indent="0" marL="0">
              <a:lnSpc>
                <a:spcPct val="98000"/>
              </a:lnSpc>
              <a:buNone/>
            </a:pPr>
            <a:r>
              <a:rPr lang="en-US" sz="1000" dirty="0">
                <a:solidFill>
                  <a:srgbClr val="5B6C81"/>
                </a:solidFill>
                <a:latin typeface="Calibri" pitchFamily="34" charset="0"/>
                <a:ea typeface="Calibri" pitchFamily="34" charset="-122"/>
                <a:cs typeface="Calibri" pitchFamily="34" charset="-120"/>
              </a:rPr>
              <a:t>No hunting across scattered folders for the current version of a mapping or a CLO.</a:t>
            </a:r>
            <a:endParaRPr lang="en-US" sz="1000" dirty="0"/>
          </a:p>
        </p:txBody>
      </p:sp>
      <p:sp>
        <p:nvSpPr>
          <p:cNvPr id="39" name="Text 36"/>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93A3B5"/>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40" name="Text 37"/>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93A3B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B2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B2E"/>
          </a:solidFill>
          <a:ln/>
        </p:spPr>
      </p:sp>
      <p:sp>
        <p:nvSpPr>
          <p:cNvPr id="3" name="Text 1"/>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F2A23A"/>
                </a:solidFill>
                <a:latin typeface="Calibri" pitchFamily="34" charset="0"/>
                <a:ea typeface="Calibri" pitchFamily="34" charset="-122"/>
                <a:cs typeface="Calibri" pitchFamily="34" charset="-120"/>
              </a:rPr>
              <a:t>ARCHITECTURE DECISION</a:t>
            </a:r>
            <a:endParaRPr lang="en-US" sz="1100" dirty="0"/>
          </a:p>
        </p:txBody>
      </p:sp>
      <p:sp>
        <p:nvSpPr>
          <p:cNvPr id="4" name="Text 2"/>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From public web portal to controlled desktop platform</a:t>
            </a:r>
            <a:endParaRPr lang="en-US" sz="3200" dirty="0"/>
          </a:p>
        </p:txBody>
      </p:sp>
      <p:sp>
        <p:nvSpPr>
          <p:cNvPr id="5" name="Text 3"/>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AFC3D8"/>
                </a:solidFill>
                <a:latin typeface="Calibri" pitchFamily="34" charset="0"/>
                <a:ea typeface="Calibri" pitchFamily="34" charset="-122"/>
                <a:cs typeface="Calibri" pitchFamily="34" charset="-120"/>
              </a:rPr>
              <a:t>Curriculum information is institutional data. The delivery model was changed to match that.</a:t>
            </a:r>
            <a:endParaRPr lang="en-US" sz="1400" dirty="0"/>
          </a:p>
        </p:txBody>
      </p:sp>
      <p:sp>
        <p:nvSpPr>
          <p:cNvPr id="6" name="Shape 4"/>
          <p:cNvSpPr/>
          <p:nvPr/>
        </p:nvSpPr>
        <p:spPr>
          <a:xfrm>
            <a:off x="566928" y="1874520"/>
            <a:ext cx="3410712" cy="3822192"/>
          </a:xfrm>
          <a:prstGeom prst="roundRect">
            <a:avLst>
              <a:gd name="adj" fmla="val 2145"/>
            </a:avLst>
          </a:prstGeom>
          <a:solidFill>
            <a:srgbClr val="122842"/>
          </a:solidFill>
          <a:ln w="12700">
            <a:solidFill>
              <a:srgbClr val="23456C"/>
            </a:solidFill>
            <a:prstDash val="solid"/>
          </a:ln>
        </p:spPr>
      </p:sp>
      <p:sp>
        <p:nvSpPr>
          <p:cNvPr id="7" name="Text 5"/>
          <p:cNvSpPr txBox="1"/>
          <p:nvPr/>
        </p:nvSpPr>
        <p:spPr>
          <a:xfrm>
            <a:off x="804672" y="2048256"/>
            <a:ext cx="1828800" cy="219456"/>
          </a:xfrm>
          <a:prstGeom prst="rect">
            <a:avLst/>
          </a:prstGeom>
          <a:noFill/>
          <a:ln/>
        </p:spPr>
        <p:txBody>
          <a:bodyPr wrap="square" lIns="0" tIns="0" rIns="0" bIns="0" rtlCol="0" anchor="ctr"/>
          <a:lstStyle/>
          <a:p>
            <a:pPr indent="0" marL="0">
              <a:buNone/>
            </a:pPr>
            <a:r>
              <a:rPr lang="en-US" sz="900" b="1" spc="160" kern="0" dirty="0">
                <a:solidFill>
                  <a:srgbClr val="5E7894"/>
                </a:solidFill>
                <a:latin typeface="Calibri" pitchFamily="34" charset="0"/>
                <a:ea typeface="Calibri" pitchFamily="34" charset="-122"/>
                <a:cs typeface="Calibri" pitchFamily="34" charset="-120"/>
              </a:rPr>
              <a:t>STAGE 1</a:t>
            </a:r>
            <a:endParaRPr lang="en-US" sz="900" dirty="0"/>
          </a:p>
        </p:txBody>
      </p:sp>
      <p:sp>
        <p:nvSpPr>
          <p:cNvPr id="8" name="Text 6"/>
          <p:cNvSpPr txBox="1"/>
          <p:nvPr/>
        </p:nvSpPr>
        <p:spPr>
          <a:xfrm>
            <a:off x="804672" y="2286000"/>
            <a:ext cx="2953512" cy="310896"/>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GitHub Pages model</a:t>
            </a:r>
            <a:endParaRPr lang="en-US" sz="1800" dirty="0"/>
          </a:p>
        </p:txBody>
      </p:sp>
      <p:sp>
        <p:nvSpPr>
          <p:cNvPr id="9" name="Text 7"/>
          <p:cNvSpPr txBox="1"/>
          <p:nvPr/>
        </p:nvSpPr>
        <p:spPr>
          <a:xfrm>
            <a:off x="804672" y="2688336"/>
            <a:ext cx="2935224" cy="1078992"/>
          </a:xfrm>
          <a:prstGeom prst="rect">
            <a:avLst/>
          </a:prstGeom>
          <a:noFill/>
          <a:ln/>
        </p:spPr>
        <p:txBody>
          <a:bodyPr wrap="square" lIns="0" tIns="0" rIns="0" bIns="0" rtlCol="0" anchor="ctr"/>
          <a:lstStyle/>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Simple deployment</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Browser access anywhere</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Fast iteration</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Proved the portal concept</a:t>
            </a:r>
            <a:endParaRPr lang="en-US" sz="1100" dirty="0"/>
          </a:p>
        </p:txBody>
      </p:sp>
      <p:sp>
        <p:nvSpPr>
          <p:cNvPr id="10" name="Shape 8"/>
          <p:cNvSpPr/>
          <p:nvPr/>
        </p:nvSpPr>
        <p:spPr>
          <a:xfrm>
            <a:off x="749808" y="3913632"/>
            <a:ext cx="3044952" cy="1627632"/>
          </a:xfrm>
          <a:prstGeom prst="roundRect">
            <a:avLst>
              <a:gd name="adj" fmla="val 3933"/>
            </a:avLst>
          </a:prstGeom>
          <a:solidFill>
            <a:srgbClr val="0E2338"/>
          </a:solidFill>
          <a:ln w="12700">
            <a:solidFill>
              <a:srgbClr val="1E3E5F"/>
            </a:solidFill>
            <a:prstDash val="solid"/>
          </a:ln>
        </p:spPr>
      </p:sp>
      <p:sp>
        <p:nvSpPr>
          <p:cNvPr id="11" name="Text 9"/>
          <p:cNvSpPr txBox="1"/>
          <p:nvPr/>
        </p:nvSpPr>
        <p:spPr>
          <a:xfrm>
            <a:off x="914400" y="4023360"/>
            <a:ext cx="2715768" cy="219456"/>
          </a:xfrm>
          <a:prstGeom prst="rect">
            <a:avLst/>
          </a:prstGeom>
          <a:noFill/>
          <a:ln/>
        </p:spPr>
        <p:txBody>
          <a:bodyPr wrap="square" lIns="0" tIns="0" rIns="0" bIns="0" rtlCol="0" anchor="ctr"/>
          <a:lstStyle/>
          <a:p>
            <a:pPr indent="0" marL="0">
              <a:buNone/>
            </a:pPr>
            <a:r>
              <a:rPr lang="en-US" sz="850" b="1" spc="130" kern="0" dirty="0">
                <a:solidFill>
                  <a:srgbClr val="5E7894"/>
                </a:solidFill>
                <a:latin typeface="Calibri" pitchFamily="34" charset="0"/>
                <a:ea typeface="Calibri" pitchFamily="34" charset="-122"/>
                <a:cs typeface="Calibri" pitchFamily="34" charset="-120"/>
              </a:rPr>
              <a:t>DATA-GOVERNANCE LIMITATION</a:t>
            </a:r>
            <a:endParaRPr lang="en-US" sz="850" dirty="0"/>
          </a:p>
        </p:txBody>
      </p:sp>
      <p:sp>
        <p:nvSpPr>
          <p:cNvPr id="12" name="Text 10"/>
          <p:cNvSpPr txBox="1"/>
          <p:nvPr/>
        </p:nvSpPr>
        <p:spPr>
          <a:xfrm>
            <a:off x="914400" y="4261104"/>
            <a:ext cx="2715768" cy="1188720"/>
          </a:xfrm>
          <a:prstGeom prst="rect">
            <a:avLst/>
          </a:prstGeom>
          <a:noFill/>
          <a:ln/>
        </p:spPr>
        <p:txBody>
          <a:bodyPr wrap="square" lIns="0" tIns="0" rIns="0" bIns="0" rtlCol="0" anchor="ctr"/>
          <a:lstStyle/>
          <a:p>
            <a:pPr indent="0" marL="0">
              <a:lnSpc>
                <a:spcPct val="104000"/>
              </a:lnSpc>
              <a:buNone/>
            </a:pPr>
            <a:r>
              <a:rPr lang="en-US" sz="1000" dirty="0">
                <a:solidFill>
                  <a:srgbClr val="9FB6CE"/>
                </a:solidFill>
                <a:latin typeface="Calibri" pitchFamily="34" charset="0"/>
                <a:ea typeface="Calibri" pitchFamily="34" charset="-122"/>
                <a:cs typeface="Calibri" pitchFamily="34" charset="-120"/>
              </a:rPr>
              <a:t>Static public web hosting. Files placed there are served from a publicly reachable location, and knowing the URL can make static resources retrievable. No server-side faculty authorization protects the curriculum package itself.</a:t>
            </a:r>
            <a:endParaRPr lang="en-US" sz="1000" dirty="0"/>
          </a:p>
        </p:txBody>
      </p:sp>
      <p:sp>
        <p:nvSpPr>
          <p:cNvPr id="13" name="Shape 11"/>
          <p:cNvSpPr/>
          <p:nvPr/>
        </p:nvSpPr>
        <p:spPr>
          <a:xfrm>
            <a:off x="4389120" y="1874520"/>
            <a:ext cx="3410712" cy="3822192"/>
          </a:xfrm>
          <a:prstGeom prst="roundRect">
            <a:avLst>
              <a:gd name="adj" fmla="val 2145"/>
            </a:avLst>
          </a:prstGeom>
          <a:solidFill>
            <a:srgbClr val="122842"/>
          </a:solidFill>
          <a:ln w="12700">
            <a:solidFill>
              <a:srgbClr val="23456C"/>
            </a:solidFill>
            <a:prstDash val="solid"/>
          </a:ln>
        </p:spPr>
      </p:sp>
      <p:sp>
        <p:nvSpPr>
          <p:cNvPr id="14" name="Text 12"/>
          <p:cNvSpPr txBox="1"/>
          <p:nvPr/>
        </p:nvSpPr>
        <p:spPr>
          <a:xfrm>
            <a:off x="4626864" y="2048256"/>
            <a:ext cx="1828800" cy="219456"/>
          </a:xfrm>
          <a:prstGeom prst="rect">
            <a:avLst/>
          </a:prstGeom>
          <a:noFill/>
          <a:ln/>
        </p:spPr>
        <p:txBody>
          <a:bodyPr wrap="square" lIns="0" tIns="0" rIns="0" bIns="0" rtlCol="0" anchor="ctr"/>
          <a:lstStyle/>
          <a:p>
            <a:pPr indent="0" marL="0">
              <a:buNone/>
            </a:pPr>
            <a:r>
              <a:rPr lang="en-US" sz="900" b="1" spc="160" kern="0" dirty="0">
                <a:solidFill>
                  <a:srgbClr val="F2A23A"/>
                </a:solidFill>
                <a:latin typeface="Calibri" pitchFamily="34" charset="0"/>
                <a:ea typeface="Calibri" pitchFamily="34" charset="-122"/>
                <a:cs typeface="Calibri" pitchFamily="34" charset="-120"/>
              </a:rPr>
              <a:t>STAGE 2</a:t>
            </a:r>
            <a:endParaRPr lang="en-US" sz="900" dirty="0"/>
          </a:p>
        </p:txBody>
      </p:sp>
      <p:sp>
        <p:nvSpPr>
          <p:cNvPr id="15" name="Text 13"/>
          <p:cNvSpPr txBox="1"/>
          <p:nvPr/>
        </p:nvSpPr>
        <p:spPr>
          <a:xfrm>
            <a:off x="4626864" y="2286000"/>
            <a:ext cx="2953512" cy="310896"/>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A deliberate evolution</a:t>
            </a:r>
            <a:endParaRPr lang="en-US" sz="1800" dirty="0"/>
          </a:p>
        </p:txBody>
      </p:sp>
      <p:sp>
        <p:nvSpPr>
          <p:cNvPr id="16" name="Text 14"/>
          <p:cNvSpPr txBox="1"/>
          <p:nvPr/>
        </p:nvSpPr>
        <p:spPr>
          <a:xfrm>
            <a:off x="4626864" y="2688336"/>
            <a:ext cx="2935224" cy="1078992"/>
          </a:xfrm>
          <a:prstGeom prst="rect">
            <a:avLst/>
          </a:prstGeom>
          <a:noFill/>
          <a:ln/>
        </p:spPr>
        <p:txBody>
          <a:bodyPr wrap="square" lIns="0" tIns="0" rIns="0" bIns="0" rtlCol="0" anchor="ctr"/>
          <a:lstStyle/>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Protection became a design requirement</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Authorization before delivery</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Least exposure by default</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Controlled distribution</a:t>
            </a:r>
            <a:endParaRPr lang="en-US" sz="1100" dirty="0"/>
          </a:p>
        </p:txBody>
      </p:sp>
      <p:sp>
        <p:nvSpPr>
          <p:cNvPr id="17" name="Shape 15"/>
          <p:cNvSpPr/>
          <p:nvPr/>
        </p:nvSpPr>
        <p:spPr>
          <a:xfrm>
            <a:off x="4572000" y="3913632"/>
            <a:ext cx="3044952" cy="1627632"/>
          </a:xfrm>
          <a:prstGeom prst="roundRect">
            <a:avLst>
              <a:gd name="adj" fmla="val 3933"/>
            </a:avLst>
          </a:prstGeom>
          <a:solidFill>
            <a:srgbClr val="0E2338"/>
          </a:solidFill>
          <a:ln w="12700">
            <a:solidFill>
              <a:srgbClr val="1E3E5F"/>
            </a:solidFill>
            <a:prstDash val="solid"/>
          </a:ln>
        </p:spPr>
      </p:sp>
      <p:sp>
        <p:nvSpPr>
          <p:cNvPr id="18" name="Text 16"/>
          <p:cNvSpPr txBox="1"/>
          <p:nvPr/>
        </p:nvSpPr>
        <p:spPr>
          <a:xfrm>
            <a:off x="4736592" y="4023360"/>
            <a:ext cx="2715768" cy="219456"/>
          </a:xfrm>
          <a:prstGeom prst="rect">
            <a:avLst/>
          </a:prstGeom>
          <a:noFill/>
          <a:ln/>
        </p:spPr>
        <p:txBody>
          <a:bodyPr wrap="square" lIns="0" tIns="0" rIns="0" bIns="0" rtlCol="0" anchor="ctr"/>
          <a:lstStyle/>
          <a:p>
            <a:pPr indent="0" marL="0">
              <a:buNone/>
            </a:pPr>
            <a:r>
              <a:rPr lang="en-US" sz="850" b="1" spc="130" kern="0" dirty="0">
                <a:solidFill>
                  <a:srgbClr val="F2A23A"/>
                </a:solidFill>
                <a:latin typeface="Calibri" pitchFamily="34" charset="0"/>
                <a:ea typeface="Calibri" pitchFamily="34" charset="-122"/>
                <a:cs typeface="Calibri" pitchFamily="34" charset="-120"/>
              </a:rPr>
              <a:t>WHY WE MOVED</a:t>
            </a:r>
            <a:endParaRPr lang="en-US" sz="850" dirty="0"/>
          </a:p>
        </p:txBody>
      </p:sp>
      <p:sp>
        <p:nvSpPr>
          <p:cNvPr id="19" name="Text 17"/>
          <p:cNvSpPr txBox="1"/>
          <p:nvPr/>
        </p:nvSpPr>
        <p:spPr>
          <a:xfrm>
            <a:off x="4736592" y="4261104"/>
            <a:ext cx="2715768" cy="1188720"/>
          </a:xfrm>
          <a:prstGeom prst="rect">
            <a:avLst/>
          </a:prstGeom>
          <a:noFill/>
          <a:ln/>
        </p:spPr>
        <p:txBody>
          <a:bodyPr wrap="square" lIns="0" tIns="0" rIns="0" bIns="0" rtlCol="0" anchor="ctr"/>
          <a:lstStyle/>
          <a:p>
            <a:pPr indent="0" marL="0">
              <a:lnSpc>
                <a:spcPct val="104000"/>
              </a:lnSpc>
              <a:buNone/>
            </a:pPr>
            <a:r>
              <a:rPr lang="en-US" sz="1000" dirty="0">
                <a:solidFill>
                  <a:srgbClr val="9FB6CE"/>
                </a:solidFill>
                <a:latin typeface="Calibri" pitchFamily="34" charset="0"/>
                <a:ea typeface="Calibri" pitchFamily="34" charset="-122"/>
                <a:cs typeface="Calibri" pitchFamily="34" charset="-120"/>
              </a:rPr>
              <a:t>The Curriculum Committee chose a controlled desktop architecture so that governance of curriculum data is enforced by the delivery model, not by the obscurity of a link.</a:t>
            </a:r>
            <a:endParaRPr lang="en-US" sz="1000" dirty="0"/>
          </a:p>
        </p:txBody>
      </p:sp>
      <p:sp>
        <p:nvSpPr>
          <p:cNvPr id="20" name="Shape 18"/>
          <p:cNvSpPr/>
          <p:nvPr/>
        </p:nvSpPr>
        <p:spPr>
          <a:xfrm>
            <a:off x="8211312" y="1874520"/>
            <a:ext cx="3410712" cy="3822192"/>
          </a:xfrm>
          <a:prstGeom prst="roundRect">
            <a:avLst>
              <a:gd name="adj" fmla="val 2145"/>
            </a:avLst>
          </a:prstGeom>
          <a:solidFill>
            <a:srgbClr val="122842"/>
          </a:solidFill>
          <a:ln w="12700">
            <a:solidFill>
              <a:srgbClr val="23456C"/>
            </a:solidFill>
            <a:prstDash val="solid"/>
          </a:ln>
        </p:spPr>
      </p:sp>
      <p:sp>
        <p:nvSpPr>
          <p:cNvPr id="21" name="Text 19"/>
          <p:cNvSpPr txBox="1"/>
          <p:nvPr/>
        </p:nvSpPr>
        <p:spPr>
          <a:xfrm>
            <a:off x="8449056" y="2048256"/>
            <a:ext cx="1828800" cy="219456"/>
          </a:xfrm>
          <a:prstGeom prst="rect">
            <a:avLst/>
          </a:prstGeom>
          <a:noFill/>
          <a:ln/>
        </p:spPr>
        <p:txBody>
          <a:bodyPr wrap="square" lIns="0" tIns="0" rIns="0" bIns="0" rtlCol="0" anchor="ctr"/>
          <a:lstStyle/>
          <a:p>
            <a:pPr indent="0" marL="0">
              <a:buNone/>
            </a:pPr>
            <a:r>
              <a:rPr lang="en-US" sz="900" b="1" spc="160" kern="0" dirty="0">
                <a:solidFill>
                  <a:srgbClr val="79D7FF"/>
                </a:solidFill>
                <a:latin typeface="Calibri" pitchFamily="34" charset="0"/>
                <a:ea typeface="Calibri" pitchFamily="34" charset="-122"/>
                <a:cs typeface="Calibri" pitchFamily="34" charset="-120"/>
              </a:rPr>
              <a:t>STAGE 3</a:t>
            </a:r>
            <a:endParaRPr lang="en-US" sz="900" dirty="0"/>
          </a:p>
        </p:txBody>
      </p:sp>
      <p:sp>
        <p:nvSpPr>
          <p:cNvPr id="22" name="Text 20"/>
          <p:cNvSpPr txBox="1"/>
          <p:nvPr/>
        </p:nvSpPr>
        <p:spPr>
          <a:xfrm>
            <a:off x="8449056" y="2286000"/>
            <a:ext cx="2953512" cy="310896"/>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CIP Desktop</a:t>
            </a:r>
            <a:endParaRPr lang="en-US" sz="1800" dirty="0"/>
          </a:p>
        </p:txBody>
      </p:sp>
      <p:sp>
        <p:nvSpPr>
          <p:cNvPr id="23" name="Text 21"/>
          <p:cNvSpPr txBox="1"/>
          <p:nvPr/>
        </p:nvSpPr>
        <p:spPr>
          <a:xfrm>
            <a:off x="8449056" y="2688336"/>
            <a:ext cx="2935224" cy="1078992"/>
          </a:xfrm>
          <a:prstGeom prst="rect">
            <a:avLst/>
          </a:prstGeom>
          <a:noFill/>
          <a:ln/>
        </p:spPr>
        <p:txBody>
          <a:bodyPr wrap="square" lIns="0" tIns="0" rIns="0" bIns="0" rtlCol="0" anchor="ctr"/>
          <a:lstStyle/>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Authenticated gateway</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Private release storage</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Cryptographically verified package</a:t>
            </a:r>
            <a:endParaRPr lang="en-US" sz="1100" dirty="0"/>
          </a:p>
          <a:p>
            <a:pPr marL="177800" indent="-177800">
              <a:lnSpc>
                <a:spcPct val="108000"/>
              </a:lnSpc>
              <a:spcAft>
                <a:spcPts val="400"/>
              </a:spcAft>
              <a:buSzPct val="100000"/>
              <a:buChar char="•"/>
            </a:pPr>
            <a:r>
              <a:rPr lang="en-US" sz="1100" dirty="0">
                <a:solidFill>
                  <a:srgbClr val="BCD1E5"/>
                </a:solidFill>
                <a:latin typeface="Calibri" pitchFamily="34" charset="0"/>
                <a:ea typeface="Calibri" pitchFamily="34" charset="-122"/>
                <a:cs typeface="Calibri" pitchFamily="34" charset="-120"/>
              </a:rPr>
              <a:t>Validated local copy, offline capable</a:t>
            </a:r>
            <a:endParaRPr lang="en-US" sz="1100" dirty="0"/>
          </a:p>
        </p:txBody>
      </p:sp>
      <p:sp>
        <p:nvSpPr>
          <p:cNvPr id="24" name="Shape 22"/>
          <p:cNvSpPr/>
          <p:nvPr/>
        </p:nvSpPr>
        <p:spPr>
          <a:xfrm>
            <a:off x="8394192" y="3913632"/>
            <a:ext cx="3044952" cy="1627632"/>
          </a:xfrm>
          <a:prstGeom prst="roundRect">
            <a:avLst>
              <a:gd name="adj" fmla="val 3933"/>
            </a:avLst>
          </a:prstGeom>
          <a:solidFill>
            <a:srgbClr val="0E2338"/>
          </a:solidFill>
          <a:ln w="12700">
            <a:solidFill>
              <a:srgbClr val="1E3E5F"/>
            </a:solidFill>
            <a:prstDash val="solid"/>
          </a:ln>
        </p:spPr>
      </p:sp>
      <p:sp>
        <p:nvSpPr>
          <p:cNvPr id="25" name="Text 23"/>
          <p:cNvSpPr txBox="1"/>
          <p:nvPr/>
        </p:nvSpPr>
        <p:spPr>
          <a:xfrm>
            <a:off x="8558784" y="4023360"/>
            <a:ext cx="2715768" cy="219456"/>
          </a:xfrm>
          <a:prstGeom prst="rect">
            <a:avLst/>
          </a:prstGeom>
          <a:noFill/>
          <a:ln/>
        </p:spPr>
        <p:txBody>
          <a:bodyPr wrap="square" lIns="0" tIns="0" rIns="0" bIns="0" rtlCol="0" anchor="ctr"/>
          <a:lstStyle/>
          <a:p>
            <a:pPr indent="0" marL="0">
              <a:buNone/>
            </a:pPr>
            <a:r>
              <a:rPr lang="en-US" sz="850" b="1" spc="130" kern="0" dirty="0">
                <a:solidFill>
                  <a:srgbClr val="79D7FF"/>
                </a:solidFill>
                <a:latin typeface="Calibri" pitchFamily="34" charset="0"/>
                <a:ea typeface="Calibri" pitchFamily="34" charset="-122"/>
                <a:cs typeface="Calibri" pitchFamily="34" charset="-120"/>
              </a:rPr>
              <a:t>RELEASE MANAGEMENT</a:t>
            </a:r>
            <a:endParaRPr lang="en-US" sz="850" dirty="0"/>
          </a:p>
        </p:txBody>
      </p:sp>
      <p:sp>
        <p:nvSpPr>
          <p:cNvPr id="26" name="Text 24"/>
          <p:cNvSpPr txBox="1"/>
          <p:nvPr/>
        </p:nvSpPr>
        <p:spPr>
          <a:xfrm>
            <a:off x="8558784" y="4261104"/>
            <a:ext cx="2715768" cy="1188720"/>
          </a:xfrm>
          <a:prstGeom prst="rect">
            <a:avLst/>
          </a:prstGeom>
          <a:noFill/>
          <a:ln/>
        </p:spPr>
        <p:txBody>
          <a:bodyPr wrap="square" lIns="0" tIns="0" rIns="0" bIns="0" rtlCol="0" anchor="ctr"/>
          <a:lstStyle/>
          <a:p>
            <a:pPr indent="0" marL="0">
              <a:lnSpc>
                <a:spcPct val="104000"/>
              </a:lnSpc>
              <a:buNone/>
            </a:pPr>
            <a:r>
              <a:rPr lang="en-US" sz="1000" dirty="0">
                <a:solidFill>
                  <a:srgbClr val="9FB6CE"/>
                </a:solidFill>
                <a:latin typeface="Calibri" pitchFamily="34" charset="0"/>
                <a:ea typeface="Calibri" pitchFamily="34" charset="-122"/>
                <a:cs typeface="Calibri" pitchFamily="34" charset="-120"/>
              </a:rPr>
              <a:t>Release identifiers and integrity hashes, delivered through a managed update channel so faculty machines do not diverge into unmanaged curriculum copies.</a:t>
            </a:r>
            <a:endParaRPr lang="en-US" sz="1000" dirty="0"/>
          </a:p>
        </p:txBody>
      </p:sp>
      <p:sp>
        <p:nvSpPr>
          <p:cNvPr id="27" name="Text 25"/>
          <p:cNvSpPr txBox="1"/>
          <p:nvPr/>
        </p:nvSpPr>
        <p:spPr>
          <a:xfrm>
            <a:off x="566928" y="5833872"/>
            <a:ext cx="11055096" cy="310896"/>
          </a:xfrm>
          <a:prstGeom prst="rect">
            <a:avLst/>
          </a:prstGeom>
          <a:noFill/>
          <a:ln/>
        </p:spPr>
        <p:txBody>
          <a:bodyPr wrap="square" lIns="0" tIns="0" rIns="0" bIns="0" rtlCol="0" anchor="ctr"/>
          <a:lstStyle/>
          <a:p>
            <a:pPr indent="0" marL="0">
              <a:buNone/>
            </a:pPr>
            <a:r>
              <a:rPr lang="en-US" sz="1100" b="1" dirty="0">
                <a:solidFill>
                  <a:srgbClr val="F2A23A"/>
                </a:solidFill>
                <a:latin typeface="Calibri" pitchFamily="34" charset="0"/>
                <a:ea typeface="Calibri" pitchFamily="34" charset="-122"/>
                <a:cs typeface="Calibri" pitchFamily="34" charset="-120"/>
              </a:rPr>
              <a:t>GitHub Pages is not being called insecure. </a:t>
            </a:r>
            <a:pPr indent="0" marL="0">
              <a:buNone/>
            </a:pPr>
            <a:r>
              <a:rPr lang="en-US" sz="1100" dirty="0">
                <a:solidFill>
                  <a:srgbClr val="9FB6CE"/>
                </a:solidFill>
                <a:latin typeface="Calibri" pitchFamily="34" charset="0"/>
                <a:ea typeface="Calibri" pitchFamily="34" charset="-122"/>
                <a:cs typeface="Calibri" pitchFamily="34" charset="-120"/>
              </a:rPr>
              <a:t>Its public static-hosting model simply does not match our data-governance and controlled-distribution requirements.</a:t>
            </a:r>
            <a:endParaRPr lang="en-US" sz="1100" dirty="0"/>
          </a:p>
        </p:txBody>
      </p:sp>
      <p:sp>
        <p:nvSpPr>
          <p:cNvPr id="29" name="Text 26"/>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7D93AB"/>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30" name="Text 27"/>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7D93A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B2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B2E"/>
          </a:solidFill>
          <a:ln/>
        </p:spPr>
      </p:sp>
      <p:sp>
        <p:nvSpPr>
          <p:cNvPr id="3" name="Text 1"/>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F2A23A"/>
                </a:solidFill>
                <a:latin typeface="Calibri" pitchFamily="34" charset="0"/>
                <a:ea typeface="Calibri" pitchFamily="34" charset="-122"/>
                <a:cs typeface="Calibri" pitchFamily="34" charset="-120"/>
              </a:rPr>
              <a:t>SECURITY AND DEPLOYMENT MODEL</a:t>
            </a:r>
            <a:endParaRPr lang="en-US" sz="1100" dirty="0"/>
          </a:p>
        </p:txBody>
      </p:sp>
      <p:sp>
        <p:nvSpPr>
          <p:cNvPr id="4" name="Text 2"/>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controlled delivery works</a:t>
            </a:r>
            <a:endParaRPr lang="en-US" sz="3200" dirty="0"/>
          </a:p>
        </p:txBody>
      </p:sp>
      <p:sp>
        <p:nvSpPr>
          <p:cNvPr id="5" name="Text 3"/>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AFC3D8"/>
                </a:solidFill>
                <a:latin typeface="Calibri" pitchFamily="34" charset="0"/>
                <a:ea typeface="Calibri" pitchFamily="34" charset="-122"/>
                <a:cs typeface="Calibri" pitchFamily="34" charset="-120"/>
              </a:rPr>
              <a:t>Authorized faculty, private storage, verified package, local trusted copy.</a:t>
            </a:r>
            <a:endParaRPr lang="en-US" sz="1400" dirty="0"/>
          </a:p>
        </p:txBody>
      </p:sp>
      <p:sp>
        <p:nvSpPr>
          <p:cNvPr id="6" name="Text 4"/>
          <p:cNvSpPr txBox="1"/>
          <p:nvPr/>
        </p:nvSpPr>
        <p:spPr>
          <a:xfrm>
            <a:off x="566928" y="1783080"/>
            <a:ext cx="4023360" cy="237744"/>
          </a:xfrm>
          <a:prstGeom prst="rect">
            <a:avLst/>
          </a:prstGeom>
          <a:noFill/>
          <a:ln/>
        </p:spPr>
        <p:txBody>
          <a:bodyPr wrap="square" lIns="0" tIns="0" rIns="0" bIns="0" rtlCol="0" anchor="ctr"/>
          <a:lstStyle/>
          <a:p>
            <a:pPr indent="0" marL="0">
              <a:buNone/>
            </a:pPr>
            <a:r>
              <a:rPr lang="en-US" sz="950" b="1" spc="150" kern="0" dirty="0">
                <a:solidFill>
                  <a:srgbClr val="F2A23A"/>
                </a:solidFill>
                <a:latin typeface="Calibri" pitchFamily="34" charset="0"/>
                <a:ea typeface="Calibri" pitchFamily="34" charset="-122"/>
                <a:cs typeface="Calibri" pitchFamily="34" charset="-120"/>
              </a:rPr>
              <a:t>FACULTY ACCESS CHAIN</a:t>
            </a:r>
            <a:endParaRPr lang="en-US" sz="950" dirty="0"/>
          </a:p>
        </p:txBody>
      </p:sp>
      <p:sp>
        <p:nvSpPr>
          <p:cNvPr id="7" name="Shape 5"/>
          <p:cNvSpPr/>
          <p:nvPr/>
        </p:nvSpPr>
        <p:spPr>
          <a:xfrm>
            <a:off x="836676" y="2212848"/>
            <a:ext cx="0" cy="3456432"/>
          </a:xfrm>
          <a:prstGeom prst="line">
            <a:avLst/>
          </a:prstGeom>
          <a:noFill/>
          <a:ln w="25400">
            <a:solidFill>
              <a:srgbClr val="2D5C8A"/>
            </a:solidFill>
            <a:prstDash val="solid"/>
          </a:ln>
        </p:spPr>
      </p:sp>
      <p:sp>
        <p:nvSpPr>
          <p:cNvPr id="8" name="Shape 6"/>
          <p:cNvSpPr/>
          <p:nvPr/>
        </p:nvSpPr>
        <p:spPr>
          <a:xfrm>
            <a:off x="722376" y="2103120"/>
            <a:ext cx="228600" cy="228600"/>
          </a:xfrm>
          <a:prstGeom prst="ellipse">
            <a:avLst/>
          </a:prstGeom>
          <a:solidFill>
            <a:srgbClr val="79D7FF"/>
          </a:solidFill>
          <a:ln w="19050">
            <a:solidFill>
              <a:srgbClr val="0B1B2E"/>
            </a:solidFill>
            <a:prstDash val="solid"/>
          </a:ln>
        </p:spPr>
      </p:sp>
      <p:sp>
        <p:nvSpPr>
          <p:cNvPr id="9" name="Text 7"/>
          <p:cNvSpPr txBox="1"/>
          <p:nvPr/>
        </p:nvSpPr>
        <p:spPr>
          <a:xfrm>
            <a:off x="1133856" y="2057400"/>
            <a:ext cx="3977640" cy="310896"/>
          </a:xfrm>
          <a:prstGeom prst="rect">
            <a:avLst/>
          </a:prstGeom>
          <a:noFill/>
          <a:ln/>
        </p:spPr>
        <p:txBody>
          <a:bodyPr wrap="square" lIns="0" tIns="0" rIns="0" bIns="0" rtlCol="0" anchor="ctr"/>
          <a:lstStyle/>
          <a:p>
            <a:pPr indent="0" marL="0">
              <a:buNone/>
            </a:pPr>
            <a:r>
              <a:rPr lang="en-US" sz="1200" dirty="0">
                <a:solidFill>
                  <a:srgbClr val="C3D6EA"/>
                </a:solidFill>
                <a:latin typeface="Calibri" pitchFamily="34" charset="0"/>
                <a:ea typeface="Calibri" pitchFamily="34" charset="-122"/>
                <a:cs typeface="Calibri" pitchFamily="34" charset="-120"/>
              </a:rPr>
              <a:t>Authorized PSU email (explicit allowlist)</a:t>
            </a:r>
            <a:endParaRPr lang="en-US" sz="1200" dirty="0"/>
          </a:p>
        </p:txBody>
      </p:sp>
      <p:sp>
        <p:nvSpPr>
          <p:cNvPr id="10" name="Shape 8"/>
          <p:cNvSpPr/>
          <p:nvPr/>
        </p:nvSpPr>
        <p:spPr>
          <a:xfrm>
            <a:off x="722376" y="2578608"/>
            <a:ext cx="228600" cy="228600"/>
          </a:xfrm>
          <a:prstGeom prst="ellipse">
            <a:avLst/>
          </a:prstGeom>
          <a:solidFill>
            <a:srgbClr val="79D7FF"/>
          </a:solidFill>
          <a:ln w="19050">
            <a:solidFill>
              <a:srgbClr val="0B1B2E"/>
            </a:solidFill>
            <a:prstDash val="solid"/>
          </a:ln>
        </p:spPr>
      </p:sp>
      <p:sp>
        <p:nvSpPr>
          <p:cNvPr id="11" name="Text 9"/>
          <p:cNvSpPr txBox="1"/>
          <p:nvPr/>
        </p:nvSpPr>
        <p:spPr>
          <a:xfrm>
            <a:off x="1133856" y="2532888"/>
            <a:ext cx="3977640" cy="310896"/>
          </a:xfrm>
          <a:prstGeom prst="rect">
            <a:avLst/>
          </a:prstGeom>
          <a:noFill/>
          <a:ln/>
        </p:spPr>
        <p:txBody>
          <a:bodyPr wrap="square" lIns="0" tIns="0" rIns="0" bIns="0" rtlCol="0" anchor="ctr"/>
          <a:lstStyle/>
          <a:p>
            <a:pPr indent="0" marL="0">
              <a:buNone/>
            </a:pPr>
            <a:r>
              <a:rPr lang="en-US" sz="1200" dirty="0">
                <a:solidFill>
                  <a:srgbClr val="C3D6EA"/>
                </a:solidFill>
                <a:latin typeface="Calibri" pitchFamily="34" charset="0"/>
                <a:ea typeface="Calibri" pitchFamily="34" charset="-122"/>
                <a:cs typeface="Calibri" pitchFamily="34" charset="-120"/>
              </a:rPr>
              <a:t>One-time verification code</a:t>
            </a:r>
            <a:endParaRPr lang="en-US" sz="1200" dirty="0"/>
          </a:p>
        </p:txBody>
      </p:sp>
      <p:sp>
        <p:nvSpPr>
          <p:cNvPr id="12" name="Shape 10"/>
          <p:cNvSpPr/>
          <p:nvPr/>
        </p:nvSpPr>
        <p:spPr>
          <a:xfrm>
            <a:off x="722376" y="3054096"/>
            <a:ext cx="228600" cy="228600"/>
          </a:xfrm>
          <a:prstGeom prst="ellipse">
            <a:avLst/>
          </a:prstGeom>
          <a:solidFill>
            <a:srgbClr val="79D7FF"/>
          </a:solidFill>
          <a:ln w="19050">
            <a:solidFill>
              <a:srgbClr val="0B1B2E"/>
            </a:solidFill>
            <a:prstDash val="solid"/>
          </a:ln>
        </p:spPr>
      </p:sp>
      <p:sp>
        <p:nvSpPr>
          <p:cNvPr id="13" name="Text 11"/>
          <p:cNvSpPr txBox="1"/>
          <p:nvPr/>
        </p:nvSpPr>
        <p:spPr>
          <a:xfrm>
            <a:off x="1133856" y="3008376"/>
            <a:ext cx="3977640" cy="310896"/>
          </a:xfrm>
          <a:prstGeom prst="rect">
            <a:avLst/>
          </a:prstGeom>
          <a:noFill/>
          <a:ln/>
        </p:spPr>
        <p:txBody>
          <a:bodyPr wrap="square" lIns="0" tIns="0" rIns="0" bIns="0" rtlCol="0" anchor="ctr"/>
          <a:lstStyle/>
          <a:p>
            <a:pPr indent="0" marL="0">
              <a:buNone/>
            </a:pPr>
            <a:r>
              <a:rPr lang="en-US" sz="1200" dirty="0">
                <a:solidFill>
                  <a:srgbClr val="C3D6EA"/>
                </a:solidFill>
                <a:latin typeface="Calibri" pitchFamily="34" charset="0"/>
                <a:ea typeface="Calibri" pitchFamily="34" charset="-122"/>
                <a:cs typeface="Calibri" pitchFamily="34" charset="-120"/>
              </a:rPr>
              <a:t>Authenticated faculty session</a:t>
            </a:r>
            <a:endParaRPr lang="en-US" sz="1200" dirty="0"/>
          </a:p>
        </p:txBody>
      </p:sp>
      <p:sp>
        <p:nvSpPr>
          <p:cNvPr id="14" name="Shape 12"/>
          <p:cNvSpPr/>
          <p:nvPr/>
        </p:nvSpPr>
        <p:spPr>
          <a:xfrm>
            <a:off x="722376" y="3529584"/>
            <a:ext cx="228600" cy="228600"/>
          </a:xfrm>
          <a:prstGeom prst="ellipse">
            <a:avLst/>
          </a:prstGeom>
          <a:solidFill>
            <a:srgbClr val="79D7FF"/>
          </a:solidFill>
          <a:ln w="19050">
            <a:solidFill>
              <a:srgbClr val="0B1B2E"/>
            </a:solidFill>
            <a:prstDash val="solid"/>
          </a:ln>
        </p:spPr>
      </p:sp>
      <p:sp>
        <p:nvSpPr>
          <p:cNvPr id="15" name="Text 13"/>
          <p:cNvSpPr txBox="1"/>
          <p:nvPr/>
        </p:nvSpPr>
        <p:spPr>
          <a:xfrm>
            <a:off x="1133856" y="3483864"/>
            <a:ext cx="3977640" cy="310896"/>
          </a:xfrm>
          <a:prstGeom prst="rect">
            <a:avLst/>
          </a:prstGeom>
          <a:noFill/>
          <a:ln/>
        </p:spPr>
        <p:txBody>
          <a:bodyPr wrap="square" lIns="0" tIns="0" rIns="0" bIns="0" rtlCol="0" anchor="ctr"/>
          <a:lstStyle/>
          <a:p>
            <a:pPr indent="0" marL="0">
              <a:buNone/>
            </a:pPr>
            <a:r>
              <a:rPr lang="en-US" sz="1200" dirty="0">
                <a:solidFill>
                  <a:srgbClr val="C3D6EA"/>
                </a:solidFill>
                <a:latin typeface="Calibri" pitchFamily="34" charset="0"/>
                <a:ea typeface="Calibri" pitchFamily="34" charset="-122"/>
                <a:cs typeface="Calibri" pitchFamily="34" charset="-120"/>
              </a:rPr>
              <a:t>Private CIP release service</a:t>
            </a:r>
            <a:endParaRPr lang="en-US" sz="1200" dirty="0"/>
          </a:p>
        </p:txBody>
      </p:sp>
      <p:sp>
        <p:nvSpPr>
          <p:cNvPr id="16" name="Shape 14"/>
          <p:cNvSpPr/>
          <p:nvPr/>
        </p:nvSpPr>
        <p:spPr>
          <a:xfrm>
            <a:off x="722376" y="4005072"/>
            <a:ext cx="228600" cy="228600"/>
          </a:xfrm>
          <a:prstGeom prst="ellipse">
            <a:avLst/>
          </a:prstGeom>
          <a:solidFill>
            <a:srgbClr val="79D7FF"/>
          </a:solidFill>
          <a:ln w="19050">
            <a:solidFill>
              <a:srgbClr val="0B1B2E"/>
            </a:solidFill>
            <a:prstDash val="solid"/>
          </a:ln>
        </p:spPr>
      </p:sp>
      <p:sp>
        <p:nvSpPr>
          <p:cNvPr id="17" name="Text 15"/>
          <p:cNvSpPr txBox="1"/>
          <p:nvPr/>
        </p:nvSpPr>
        <p:spPr>
          <a:xfrm>
            <a:off x="1133856" y="3959352"/>
            <a:ext cx="3977640" cy="310896"/>
          </a:xfrm>
          <a:prstGeom prst="rect">
            <a:avLst/>
          </a:prstGeom>
          <a:noFill/>
          <a:ln/>
        </p:spPr>
        <p:txBody>
          <a:bodyPr wrap="square" lIns="0" tIns="0" rIns="0" bIns="0" rtlCol="0" anchor="ctr"/>
          <a:lstStyle/>
          <a:p>
            <a:pPr indent="0" marL="0">
              <a:buNone/>
            </a:pPr>
            <a:r>
              <a:rPr lang="en-US" sz="1200" dirty="0">
                <a:solidFill>
                  <a:srgbClr val="C3D6EA"/>
                </a:solidFill>
                <a:latin typeface="Calibri" pitchFamily="34" charset="0"/>
                <a:ea typeface="Calibri" pitchFamily="34" charset="-122"/>
                <a:cs typeface="Calibri" pitchFamily="34" charset="-120"/>
              </a:rPr>
              <a:t>Private cloud object storage</a:t>
            </a:r>
            <a:endParaRPr lang="en-US" sz="1200" dirty="0"/>
          </a:p>
        </p:txBody>
      </p:sp>
      <p:sp>
        <p:nvSpPr>
          <p:cNvPr id="18" name="Shape 16"/>
          <p:cNvSpPr/>
          <p:nvPr/>
        </p:nvSpPr>
        <p:spPr>
          <a:xfrm>
            <a:off x="722376" y="4480560"/>
            <a:ext cx="228600" cy="228600"/>
          </a:xfrm>
          <a:prstGeom prst="ellipse">
            <a:avLst/>
          </a:prstGeom>
          <a:solidFill>
            <a:srgbClr val="79D7FF"/>
          </a:solidFill>
          <a:ln w="19050">
            <a:solidFill>
              <a:srgbClr val="0B1B2E"/>
            </a:solidFill>
            <a:prstDash val="solid"/>
          </a:ln>
        </p:spPr>
      </p:sp>
      <p:sp>
        <p:nvSpPr>
          <p:cNvPr id="19" name="Text 17"/>
          <p:cNvSpPr txBox="1"/>
          <p:nvPr/>
        </p:nvSpPr>
        <p:spPr>
          <a:xfrm>
            <a:off x="1133856" y="4434840"/>
            <a:ext cx="3977640" cy="310896"/>
          </a:xfrm>
          <a:prstGeom prst="rect">
            <a:avLst/>
          </a:prstGeom>
          <a:noFill/>
          <a:ln/>
        </p:spPr>
        <p:txBody>
          <a:bodyPr wrap="square" lIns="0" tIns="0" rIns="0" bIns="0" rtlCol="0" anchor="ctr"/>
          <a:lstStyle/>
          <a:p>
            <a:pPr indent="0" marL="0">
              <a:buNone/>
            </a:pPr>
            <a:r>
              <a:rPr lang="en-US" sz="1200" dirty="0">
                <a:solidFill>
                  <a:srgbClr val="C3D6EA"/>
                </a:solidFill>
                <a:latin typeface="Calibri" pitchFamily="34" charset="0"/>
                <a:ea typeface="Calibri" pitchFamily="34" charset="-122"/>
                <a:cs typeface="Calibri" pitchFamily="34" charset="-120"/>
              </a:rPr>
              <a:t>Cryptographically verified package</a:t>
            </a:r>
            <a:endParaRPr lang="en-US" sz="1200" dirty="0"/>
          </a:p>
        </p:txBody>
      </p:sp>
      <p:sp>
        <p:nvSpPr>
          <p:cNvPr id="20" name="Shape 18"/>
          <p:cNvSpPr/>
          <p:nvPr/>
        </p:nvSpPr>
        <p:spPr>
          <a:xfrm>
            <a:off x="722376" y="4956048"/>
            <a:ext cx="228600" cy="228600"/>
          </a:xfrm>
          <a:prstGeom prst="ellipse">
            <a:avLst/>
          </a:prstGeom>
          <a:solidFill>
            <a:srgbClr val="79D7FF"/>
          </a:solidFill>
          <a:ln w="19050">
            <a:solidFill>
              <a:srgbClr val="0B1B2E"/>
            </a:solidFill>
            <a:prstDash val="solid"/>
          </a:ln>
        </p:spPr>
      </p:sp>
      <p:sp>
        <p:nvSpPr>
          <p:cNvPr id="21" name="Text 19"/>
          <p:cNvSpPr txBox="1"/>
          <p:nvPr/>
        </p:nvSpPr>
        <p:spPr>
          <a:xfrm>
            <a:off x="1133856" y="4910328"/>
            <a:ext cx="3977640" cy="310896"/>
          </a:xfrm>
          <a:prstGeom prst="rect">
            <a:avLst/>
          </a:prstGeom>
          <a:noFill/>
          <a:ln/>
        </p:spPr>
        <p:txBody>
          <a:bodyPr wrap="square" lIns="0" tIns="0" rIns="0" bIns="0" rtlCol="0" anchor="ctr"/>
          <a:lstStyle/>
          <a:p>
            <a:pPr indent="0" marL="0">
              <a:buNone/>
            </a:pPr>
            <a:r>
              <a:rPr lang="en-US" sz="1200" dirty="0">
                <a:solidFill>
                  <a:srgbClr val="C3D6EA"/>
                </a:solidFill>
                <a:latin typeface="Calibri" pitchFamily="34" charset="0"/>
                <a:ea typeface="Calibri" pitchFamily="34" charset="-122"/>
                <a:cs typeface="Calibri" pitchFamily="34" charset="-120"/>
              </a:rPr>
              <a:t>Local CIP copy on the faculty computer</a:t>
            </a:r>
            <a:endParaRPr lang="en-US" sz="1200" dirty="0"/>
          </a:p>
        </p:txBody>
      </p:sp>
      <p:sp>
        <p:nvSpPr>
          <p:cNvPr id="22" name="Shape 20"/>
          <p:cNvSpPr/>
          <p:nvPr/>
        </p:nvSpPr>
        <p:spPr>
          <a:xfrm>
            <a:off x="722376" y="5431536"/>
            <a:ext cx="228600" cy="228600"/>
          </a:xfrm>
          <a:prstGeom prst="ellipse">
            <a:avLst/>
          </a:prstGeom>
          <a:solidFill>
            <a:srgbClr val="F2A23A"/>
          </a:solidFill>
          <a:ln w="19050">
            <a:solidFill>
              <a:srgbClr val="0B1B2E"/>
            </a:solidFill>
            <a:prstDash val="solid"/>
          </a:ln>
        </p:spPr>
      </p:sp>
      <p:sp>
        <p:nvSpPr>
          <p:cNvPr id="23" name="Text 21"/>
          <p:cNvSpPr txBox="1"/>
          <p:nvPr/>
        </p:nvSpPr>
        <p:spPr>
          <a:xfrm>
            <a:off x="1133856" y="5385816"/>
            <a:ext cx="397764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Offline-capable operation</a:t>
            </a:r>
            <a:endParaRPr lang="en-US" sz="1200" dirty="0"/>
          </a:p>
        </p:txBody>
      </p:sp>
      <p:sp>
        <p:nvSpPr>
          <p:cNvPr id="24" name="Shape 22"/>
          <p:cNvSpPr/>
          <p:nvPr/>
        </p:nvSpPr>
        <p:spPr>
          <a:xfrm>
            <a:off x="5349240" y="1755648"/>
            <a:ext cx="6272784" cy="3200400"/>
          </a:xfrm>
          <a:prstGeom prst="roundRect">
            <a:avLst>
              <a:gd name="adj" fmla="val 2286"/>
            </a:avLst>
          </a:prstGeom>
          <a:solidFill>
            <a:srgbClr val="122842"/>
          </a:solidFill>
          <a:ln w="12700">
            <a:solidFill>
              <a:srgbClr val="23456C"/>
            </a:solidFill>
            <a:prstDash val="solid"/>
          </a:ln>
        </p:spPr>
      </p:sp>
      <p:sp>
        <p:nvSpPr>
          <p:cNvPr id="25" name="Text 23"/>
          <p:cNvSpPr txBox="1"/>
          <p:nvPr/>
        </p:nvSpPr>
        <p:spPr>
          <a:xfrm>
            <a:off x="5596128" y="1938528"/>
            <a:ext cx="5120640" cy="237744"/>
          </a:xfrm>
          <a:prstGeom prst="rect">
            <a:avLst/>
          </a:prstGeom>
          <a:noFill/>
          <a:ln/>
        </p:spPr>
        <p:txBody>
          <a:bodyPr wrap="square" lIns="0" tIns="0" rIns="0" bIns="0" rtlCol="0" anchor="ctr"/>
          <a:lstStyle/>
          <a:p>
            <a:pPr indent="0" marL="0">
              <a:buNone/>
            </a:pPr>
            <a:r>
              <a:rPr lang="en-US" sz="950" b="1" spc="140" kern="0" dirty="0">
                <a:solidFill>
                  <a:srgbClr val="F2A23A"/>
                </a:solidFill>
                <a:latin typeface="Calibri" pitchFamily="34" charset="0"/>
                <a:ea typeface="Calibri" pitchFamily="34" charset="-122"/>
                <a:cs typeface="Calibri" pitchFamily="34" charset="-120"/>
              </a:rPr>
              <a:t>CURRENT SECURITY AND DATA ARCHITECTURE</a:t>
            </a:r>
            <a:endParaRPr lang="en-US" sz="950" dirty="0"/>
          </a:p>
        </p:txBody>
      </p:sp>
      <p:sp>
        <p:nvSpPr>
          <p:cNvPr id="26" name="Text 24"/>
          <p:cNvSpPr txBox="1"/>
          <p:nvPr/>
        </p:nvSpPr>
        <p:spPr>
          <a:xfrm>
            <a:off x="5596128" y="2249424"/>
            <a:ext cx="5806440" cy="2578608"/>
          </a:xfrm>
          <a:prstGeom prst="rect">
            <a:avLst/>
          </a:prstGeom>
          <a:noFill/>
          <a:ln/>
        </p:spPr>
        <p:txBody>
          <a:bodyPr wrap="square" lIns="0" tIns="0" rIns="0" bIns="0" rtlCol="0" anchor="ctr"/>
          <a:lstStyle/>
          <a:p>
            <a:pPr marL="177800" indent="-177800">
              <a:lnSpc>
                <a:spcPct val="108000"/>
              </a:lnSpc>
              <a:spcAft>
                <a:spcPts val="800"/>
              </a:spcAft>
              <a:buSzPct val="100000"/>
              <a:buChar char="•"/>
            </a:pPr>
            <a:r>
              <a:rPr lang="en-US" sz="1150" dirty="0">
                <a:solidFill>
                  <a:srgbClr val="C3D6EA"/>
                </a:solidFill>
                <a:latin typeface="Calibri" pitchFamily="34" charset="0"/>
                <a:ea typeface="Calibri" pitchFamily="34" charset="-122"/>
                <a:cs typeface="Calibri" pitchFamily="34" charset="-120"/>
              </a:rPr>
              <a:t>Faculty are explicitly authorized by email; access to release metadata and downloads requires a valid faculty session.</a:t>
            </a:r>
            <a:endParaRPr lang="en-US" sz="1150" dirty="0"/>
          </a:p>
          <a:p>
            <a:pPr marL="177800" indent="-177800">
              <a:lnSpc>
                <a:spcPct val="108000"/>
              </a:lnSpc>
              <a:spcAft>
                <a:spcPts val="800"/>
              </a:spcAft>
              <a:buSzPct val="100000"/>
              <a:buChar char="•"/>
            </a:pPr>
            <a:r>
              <a:rPr lang="en-US" sz="1150" dirty="0">
                <a:solidFill>
                  <a:srgbClr val="C3D6EA"/>
                </a:solidFill>
                <a:latin typeface="Calibri" pitchFamily="34" charset="0"/>
                <a:ea typeface="Calibri" pitchFamily="34" charset="-122"/>
                <a:cs typeface="Calibri" pitchFamily="34" charset="-120"/>
              </a:rPr>
              <a:t>Session credentials are retained by the native desktop application using the operating system credential store.</a:t>
            </a:r>
            <a:endParaRPr lang="en-US" sz="1150" dirty="0"/>
          </a:p>
          <a:p>
            <a:pPr marL="177800" indent="-177800">
              <a:lnSpc>
                <a:spcPct val="108000"/>
              </a:lnSpc>
              <a:spcAft>
                <a:spcPts val="800"/>
              </a:spcAft>
              <a:buSzPct val="100000"/>
              <a:buChar char="•"/>
            </a:pPr>
            <a:r>
              <a:rPr lang="en-US" sz="1150" dirty="0">
                <a:solidFill>
                  <a:srgbClr val="C3D6EA"/>
                </a:solidFill>
                <a:latin typeface="Calibri" pitchFamily="34" charset="0"/>
                <a:ea typeface="Calibri" pitchFamily="34" charset="-122"/>
                <a:cs typeface="Calibri" pitchFamily="34" charset="-120"/>
              </a:rPr>
              <a:t>Release packages are held in private cloud object storage; the storage bucket itself is not publicly exposed.</a:t>
            </a:r>
            <a:endParaRPr lang="en-US" sz="1150" dirty="0"/>
          </a:p>
          <a:p>
            <a:pPr marL="177800" indent="-177800">
              <a:lnSpc>
                <a:spcPct val="108000"/>
              </a:lnSpc>
              <a:spcAft>
                <a:spcPts val="800"/>
              </a:spcAft>
              <a:buSzPct val="100000"/>
              <a:buChar char="•"/>
            </a:pPr>
            <a:r>
              <a:rPr lang="en-US" sz="1150" dirty="0">
                <a:solidFill>
                  <a:srgbClr val="C3D6EA"/>
                </a:solidFill>
                <a:latin typeface="Calibri" pitchFamily="34" charset="0"/>
                <a:ea typeface="Calibri" pitchFamily="34" charset="-122"/>
                <a:cs typeface="Calibri" pitchFamily="34" charset="-120"/>
              </a:rPr>
              <a:t>After authenticated delivery, the operational copy resides locally and the portal runs from that validated release.</a:t>
            </a:r>
            <a:endParaRPr lang="en-US" sz="1150" dirty="0"/>
          </a:p>
          <a:p>
            <a:pPr marL="177800" indent="-177800">
              <a:lnSpc>
                <a:spcPct val="108000"/>
              </a:lnSpc>
              <a:spcAft>
                <a:spcPts val="800"/>
              </a:spcAft>
              <a:buSzPct val="100000"/>
              <a:buChar char="•"/>
            </a:pPr>
            <a:r>
              <a:rPr lang="en-US" sz="1150" dirty="0">
                <a:solidFill>
                  <a:srgbClr val="C3D6EA"/>
                </a:solidFill>
                <a:latin typeface="Calibri" pitchFamily="34" charset="0"/>
                <a:ea typeface="Calibri" pitchFamily="34" charset="-122"/>
                <a:cs typeface="Calibri" pitchFamily="34" charset="-120"/>
              </a:rPr>
              <a:t>Content releases carry identifiers and integrity hashes, and new releases arrive through a controlled update channel.</a:t>
            </a:r>
            <a:endParaRPr lang="en-US" sz="1150" dirty="0"/>
          </a:p>
        </p:txBody>
      </p:sp>
      <p:sp>
        <p:nvSpPr>
          <p:cNvPr id="27" name="Shape 25"/>
          <p:cNvSpPr/>
          <p:nvPr/>
        </p:nvSpPr>
        <p:spPr>
          <a:xfrm>
            <a:off x="5349240" y="5084064"/>
            <a:ext cx="6272784" cy="1005840"/>
          </a:xfrm>
          <a:prstGeom prst="roundRect">
            <a:avLst>
              <a:gd name="adj" fmla="val 7273"/>
            </a:avLst>
          </a:prstGeom>
          <a:solidFill>
            <a:srgbClr val="1D4370"/>
          </a:solidFill>
          <a:ln w="12700">
            <a:solidFill>
              <a:srgbClr val="3A6FA0"/>
            </a:solidFill>
            <a:prstDash val="solid"/>
          </a:ln>
        </p:spPr>
      </p:sp>
      <p:sp>
        <p:nvSpPr>
          <p:cNvPr id="28" name="Text 26"/>
          <p:cNvSpPr txBox="1"/>
          <p:nvPr/>
        </p:nvSpPr>
        <p:spPr>
          <a:xfrm>
            <a:off x="5596128" y="5193792"/>
            <a:ext cx="5120640" cy="219456"/>
          </a:xfrm>
          <a:prstGeom prst="rect">
            <a:avLst/>
          </a:prstGeom>
          <a:noFill/>
          <a:ln/>
        </p:spPr>
        <p:txBody>
          <a:bodyPr wrap="square" lIns="0" tIns="0" rIns="0" bIns="0" rtlCol="0" anchor="ctr"/>
          <a:lstStyle/>
          <a:p>
            <a:pPr indent="0" marL="0">
              <a:buNone/>
            </a:pPr>
            <a:r>
              <a:rPr lang="en-US" sz="850" b="1" spc="130" kern="0" dirty="0">
                <a:solidFill>
                  <a:srgbClr val="79D7FF"/>
                </a:solidFill>
                <a:latin typeface="Calibri" pitchFamily="34" charset="0"/>
                <a:ea typeface="Calibri" pitchFamily="34" charset="-122"/>
                <a:cs typeface="Calibri" pitchFamily="34" charset="-120"/>
              </a:rPr>
              <a:t>THE OBJECTIVE, STATED ACCURATELY</a:t>
            </a:r>
            <a:endParaRPr lang="en-US" sz="850" dirty="0"/>
          </a:p>
        </p:txBody>
      </p:sp>
      <p:sp>
        <p:nvSpPr>
          <p:cNvPr id="29" name="Text 27"/>
          <p:cNvSpPr txBox="1"/>
          <p:nvPr/>
        </p:nvSpPr>
        <p:spPr>
          <a:xfrm>
            <a:off x="5596128" y="5431536"/>
            <a:ext cx="5779008" cy="603504"/>
          </a:xfrm>
          <a:prstGeom prst="rect">
            <a:avLst/>
          </a:prstGeom>
          <a:noFill/>
          <a:ln/>
        </p:spPr>
        <p:txBody>
          <a:bodyPr wrap="square" lIns="0" tIns="0" rIns="0" bIns="0" rtlCol="0" anchor="ctr"/>
          <a:lstStyle/>
          <a:p>
            <a:pPr indent="0" marL="0">
              <a:lnSpc>
                <a:spcPct val="102000"/>
              </a:lnSpc>
              <a:buNone/>
            </a:pPr>
            <a:r>
              <a:rPr lang="en-US" sz="1100" i="1" dirty="0">
                <a:solidFill>
                  <a:srgbClr val="FFFFFF"/>
                </a:solidFill>
                <a:latin typeface="Calibri" pitchFamily="34" charset="0"/>
                <a:ea typeface="Calibri" pitchFamily="34" charset="-122"/>
                <a:cs typeface="Calibri" pitchFamily="34" charset="-120"/>
              </a:rPr>
              <a:t>Controlled access, controlled distribution, reduced public exposure, release integrity, and managed synchronization of authorized local copies — not digital rights management.</a:t>
            </a:r>
            <a:endParaRPr lang="en-US" sz="1100" dirty="0"/>
          </a:p>
        </p:txBody>
      </p:sp>
      <p:sp>
        <p:nvSpPr>
          <p:cNvPr id="30" name="Text 28"/>
          <p:cNvSpPr txBox="1"/>
          <p:nvPr/>
        </p:nvSpPr>
        <p:spPr>
          <a:xfrm>
            <a:off x="566928" y="5888736"/>
            <a:ext cx="4572000" cy="274320"/>
          </a:xfrm>
          <a:prstGeom prst="rect">
            <a:avLst/>
          </a:prstGeom>
          <a:noFill/>
          <a:ln/>
        </p:spPr>
        <p:txBody>
          <a:bodyPr wrap="square" lIns="0" tIns="0" rIns="0" bIns="0" rtlCol="0" anchor="ctr"/>
          <a:lstStyle/>
          <a:p>
            <a:pPr indent="0" marL="0">
              <a:buNone/>
            </a:pPr>
            <a:r>
              <a:rPr lang="en-US" sz="1050" b="1" dirty="0">
                <a:solidFill>
                  <a:srgbClr val="8FA8C2"/>
                </a:solidFill>
                <a:latin typeface="Calibri" pitchFamily="34" charset="0"/>
                <a:ea typeface="Calibri" pitchFamily="34" charset="-122"/>
                <a:cs typeface="Calibri" pitchFamily="34" charset="-120"/>
              </a:rPr>
              <a:t>Windows is the first validated desktop platform.</a:t>
            </a:r>
            <a:endParaRPr lang="en-US" sz="1050" dirty="0"/>
          </a:p>
        </p:txBody>
      </p:sp>
      <p:sp>
        <p:nvSpPr>
          <p:cNvPr id="32" name="Text 29"/>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7D93AB"/>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33" name="Text 30"/>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7D93A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9A6208"/>
                </a:solidFill>
                <a:latin typeface="Calibri" pitchFamily="34" charset="0"/>
                <a:ea typeface="Calibri" pitchFamily="34" charset="-122"/>
                <a:cs typeface="Calibri" pitchFamily="34" charset="-120"/>
              </a:rPr>
              <a:t>WHERE WE ARE TODAY</a:t>
            </a:r>
            <a:endParaRPr lang="en-US" sz="1100" dirty="0"/>
          </a:p>
        </p:txBody>
      </p:sp>
      <p:sp>
        <p:nvSpPr>
          <p:cNvPr id="3" name="Text 1"/>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143D66"/>
                </a:solidFill>
                <a:latin typeface="Cambria" pitchFamily="34" charset="0"/>
                <a:ea typeface="Cambria" pitchFamily="34" charset="-122"/>
                <a:cs typeface="Cambria" pitchFamily="34" charset="-120"/>
              </a:rPr>
              <a:t>Current production status</a:t>
            </a:r>
            <a:endParaRPr lang="en-US" sz="3200" dirty="0"/>
          </a:p>
        </p:txBody>
      </p:sp>
      <p:sp>
        <p:nvSpPr>
          <p:cNvPr id="4" name="Text 2"/>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5B6C81"/>
                </a:solidFill>
                <a:latin typeface="Calibri" pitchFamily="34" charset="0"/>
                <a:ea typeface="Calibri" pitchFamily="34" charset="-122"/>
                <a:cs typeface="Calibri" pitchFamily="34" charset="-120"/>
              </a:rPr>
              <a:t>The undergraduate platform is prepared and tested; graduate modules remain under construction.</a:t>
            </a:r>
            <a:endParaRPr lang="en-US" sz="1400" dirty="0"/>
          </a:p>
        </p:txBody>
      </p:sp>
      <p:sp>
        <p:nvSpPr>
          <p:cNvPr id="5" name="Shape 3"/>
          <p:cNvSpPr/>
          <p:nvPr/>
        </p:nvSpPr>
        <p:spPr>
          <a:xfrm>
            <a:off x="566928" y="1938528"/>
            <a:ext cx="5358384" cy="1207008"/>
          </a:xfrm>
          <a:prstGeom prst="roundRect">
            <a:avLst>
              <a:gd name="adj" fmla="val 6061"/>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6" name="Text 4"/>
          <p:cNvSpPr txBox="1"/>
          <p:nvPr/>
        </p:nvSpPr>
        <p:spPr>
          <a:xfrm>
            <a:off x="804672" y="2084832"/>
            <a:ext cx="3291840" cy="274320"/>
          </a:xfrm>
          <a:prstGeom prst="rect">
            <a:avLst/>
          </a:prstGeom>
          <a:noFill/>
          <a:ln/>
        </p:spPr>
        <p:txBody>
          <a:bodyPr wrap="square" lIns="0" tIns="0" rIns="0" bIns="0" rtlCol="0" anchor="ctr"/>
          <a:lstStyle/>
          <a:p>
            <a:pPr indent="0" marL="0">
              <a:buNone/>
            </a:pPr>
            <a:r>
              <a:rPr lang="en-US" sz="1400" b="1" dirty="0">
                <a:solidFill>
                  <a:srgbClr val="143D66"/>
                </a:solidFill>
                <a:latin typeface="Calibri" pitchFamily="34" charset="0"/>
                <a:ea typeface="Calibri" pitchFamily="34" charset="-122"/>
                <a:cs typeface="Calibri" pitchFamily="34" charset="-120"/>
              </a:rPr>
              <a:t>CIP Desktop 1.0.0</a:t>
            </a:r>
            <a:endParaRPr lang="en-US" sz="1400" dirty="0"/>
          </a:p>
        </p:txBody>
      </p:sp>
      <p:sp>
        <p:nvSpPr>
          <p:cNvPr id="7" name="Shape 5"/>
          <p:cNvSpPr/>
          <p:nvPr/>
        </p:nvSpPr>
        <p:spPr>
          <a:xfrm>
            <a:off x="4178808" y="2103120"/>
            <a:ext cx="1508760" cy="274320"/>
          </a:xfrm>
          <a:prstGeom prst="roundRect">
            <a:avLst>
              <a:gd name="adj" fmla="val 50000"/>
            </a:avLst>
          </a:prstGeom>
          <a:solidFill>
            <a:srgbClr val="E4F1E9"/>
          </a:solidFill>
          <a:ln w="12700">
            <a:solidFill>
              <a:srgbClr val="BFDCC8"/>
            </a:solidFill>
            <a:prstDash val="solid"/>
          </a:ln>
        </p:spPr>
      </p:sp>
      <p:sp>
        <p:nvSpPr>
          <p:cNvPr id="8" name="Text 6"/>
          <p:cNvSpPr txBox="1"/>
          <p:nvPr/>
        </p:nvSpPr>
        <p:spPr>
          <a:xfrm>
            <a:off x="4178808" y="2103120"/>
            <a:ext cx="1508760" cy="274320"/>
          </a:xfrm>
          <a:prstGeom prst="rect">
            <a:avLst/>
          </a:prstGeom>
          <a:noFill/>
          <a:ln/>
        </p:spPr>
        <p:txBody>
          <a:bodyPr wrap="square" lIns="0" tIns="0" rIns="0" bIns="0" rtlCol="0" anchor="ctr"/>
          <a:lstStyle/>
          <a:p>
            <a:pPr algn="ctr" indent="0" marL="0">
              <a:buNone/>
            </a:pPr>
            <a:r>
              <a:rPr lang="en-US" sz="950" b="1" dirty="0">
                <a:solidFill>
                  <a:srgbClr val="2D7A56"/>
                </a:solidFill>
                <a:latin typeface="Calibri" pitchFamily="34" charset="0"/>
                <a:ea typeface="Calibri" pitchFamily="34" charset="-122"/>
                <a:cs typeface="Calibri" pitchFamily="34" charset="-120"/>
              </a:rPr>
              <a:t>Prepared</a:t>
            </a:r>
            <a:endParaRPr lang="en-US" sz="950" dirty="0"/>
          </a:p>
        </p:txBody>
      </p:sp>
      <p:sp>
        <p:nvSpPr>
          <p:cNvPr id="9" name="Text 7"/>
          <p:cNvSpPr txBox="1"/>
          <p:nvPr/>
        </p:nvSpPr>
        <p:spPr>
          <a:xfrm>
            <a:off x="804672" y="2450592"/>
            <a:ext cx="4901184" cy="548640"/>
          </a:xfrm>
          <a:prstGeom prst="rect">
            <a:avLst/>
          </a:prstGeom>
          <a:noFill/>
          <a:ln/>
        </p:spPr>
        <p:txBody>
          <a:bodyPr wrap="square" lIns="0" tIns="0" rIns="0" bIns="0" rtlCol="0" anchor="ctr"/>
          <a:lstStyle/>
          <a:p>
            <a:pPr indent="0" marL="0">
              <a:lnSpc>
                <a:spcPct val="104000"/>
              </a:lnSpc>
              <a:buNone/>
            </a:pPr>
            <a:r>
              <a:rPr lang="en-US" sz="1100" dirty="0">
                <a:solidFill>
                  <a:srgbClr val="5B6C81"/>
                </a:solidFill>
                <a:latin typeface="Calibri" pitchFamily="34" charset="0"/>
                <a:ea typeface="Calibri" pitchFamily="34" charset="-122"/>
                <a:cs typeface="Calibri" pitchFamily="34" charset="-120"/>
              </a:rPr>
              <a:t>Windows desktop application built and packaged for faculty installation.</a:t>
            </a:r>
            <a:endParaRPr lang="en-US" sz="1100" dirty="0"/>
          </a:p>
        </p:txBody>
      </p:sp>
      <p:sp>
        <p:nvSpPr>
          <p:cNvPr id="10" name="Shape 8"/>
          <p:cNvSpPr/>
          <p:nvPr/>
        </p:nvSpPr>
        <p:spPr>
          <a:xfrm>
            <a:off x="6263640" y="1938528"/>
            <a:ext cx="5358384" cy="1207008"/>
          </a:xfrm>
          <a:prstGeom prst="roundRect">
            <a:avLst>
              <a:gd name="adj" fmla="val 6061"/>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11" name="Text 9"/>
          <p:cNvSpPr txBox="1"/>
          <p:nvPr/>
        </p:nvSpPr>
        <p:spPr>
          <a:xfrm>
            <a:off x="6501384" y="2084832"/>
            <a:ext cx="3291840" cy="274320"/>
          </a:xfrm>
          <a:prstGeom prst="rect">
            <a:avLst/>
          </a:prstGeom>
          <a:noFill/>
          <a:ln/>
        </p:spPr>
        <p:txBody>
          <a:bodyPr wrap="square" lIns="0" tIns="0" rIns="0" bIns="0" rtlCol="0" anchor="ctr"/>
          <a:lstStyle/>
          <a:p>
            <a:pPr indent="0" marL="0">
              <a:buNone/>
            </a:pPr>
            <a:r>
              <a:rPr lang="en-US" sz="1400" b="1" dirty="0">
                <a:solidFill>
                  <a:srgbClr val="143D66"/>
                </a:solidFill>
                <a:latin typeface="Calibri" pitchFamily="34" charset="0"/>
                <a:ea typeface="Calibri" pitchFamily="34" charset="-122"/>
                <a:cs typeface="Calibri" pitchFamily="34" charset="-120"/>
              </a:rPr>
              <a:t>Content release r000000000003</a:t>
            </a:r>
            <a:endParaRPr lang="en-US" sz="1400" dirty="0"/>
          </a:p>
        </p:txBody>
      </p:sp>
      <p:sp>
        <p:nvSpPr>
          <p:cNvPr id="12" name="Shape 10"/>
          <p:cNvSpPr/>
          <p:nvPr/>
        </p:nvSpPr>
        <p:spPr>
          <a:xfrm>
            <a:off x="9875520" y="2103120"/>
            <a:ext cx="1508760" cy="274320"/>
          </a:xfrm>
          <a:prstGeom prst="roundRect">
            <a:avLst>
              <a:gd name="adj" fmla="val 50000"/>
            </a:avLst>
          </a:prstGeom>
          <a:solidFill>
            <a:srgbClr val="E4F1E9"/>
          </a:solidFill>
          <a:ln w="12700">
            <a:solidFill>
              <a:srgbClr val="BFDCC8"/>
            </a:solidFill>
            <a:prstDash val="solid"/>
          </a:ln>
        </p:spPr>
      </p:sp>
      <p:sp>
        <p:nvSpPr>
          <p:cNvPr id="13" name="Text 11"/>
          <p:cNvSpPr txBox="1"/>
          <p:nvPr/>
        </p:nvSpPr>
        <p:spPr>
          <a:xfrm>
            <a:off x="9875520" y="2103120"/>
            <a:ext cx="1508760" cy="274320"/>
          </a:xfrm>
          <a:prstGeom prst="rect">
            <a:avLst/>
          </a:prstGeom>
          <a:noFill/>
          <a:ln/>
        </p:spPr>
        <p:txBody>
          <a:bodyPr wrap="square" lIns="0" tIns="0" rIns="0" bIns="0" rtlCol="0" anchor="ctr"/>
          <a:lstStyle/>
          <a:p>
            <a:pPr algn="ctr" indent="0" marL="0">
              <a:buNone/>
            </a:pPr>
            <a:r>
              <a:rPr lang="en-US" sz="950" b="1" dirty="0">
                <a:solidFill>
                  <a:srgbClr val="2D7A56"/>
                </a:solidFill>
                <a:latin typeface="Calibri" pitchFamily="34" charset="0"/>
                <a:ea typeface="Calibri" pitchFamily="34" charset="-122"/>
                <a:cs typeface="Calibri" pitchFamily="34" charset="-120"/>
              </a:rPr>
              <a:t>Current</a:t>
            </a:r>
            <a:endParaRPr lang="en-US" sz="950" dirty="0"/>
          </a:p>
        </p:txBody>
      </p:sp>
      <p:sp>
        <p:nvSpPr>
          <p:cNvPr id="14" name="Text 12"/>
          <p:cNvSpPr txBox="1"/>
          <p:nvPr/>
        </p:nvSpPr>
        <p:spPr>
          <a:xfrm>
            <a:off x="6501384" y="2450592"/>
            <a:ext cx="4901184" cy="548640"/>
          </a:xfrm>
          <a:prstGeom prst="rect">
            <a:avLst/>
          </a:prstGeom>
          <a:noFill/>
          <a:ln/>
        </p:spPr>
        <p:txBody>
          <a:bodyPr wrap="square" lIns="0" tIns="0" rIns="0" bIns="0" rtlCol="0" anchor="ctr"/>
          <a:lstStyle/>
          <a:p>
            <a:pPr indent="0" marL="0">
              <a:lnSpc>
                <a:spcPct val="104000"/>
              </a:lnSpc>
              <a:buNone/>
            </a:pPr>
            <a:r>
              <a:rPr lang="en-US" sz="1100" dirty="0">
                <a:solidFill>
                  <a:srgbClr val="5B6C81"/>
                </a:solidFill>
                <a:latin typeface="Calibri" pitchFamily="34" charset="0"/>
                <a:ea typeface="Calibri" pitchFamily="34" charset="-122"/>
                <a:cs typeface="Calibri" pitchFamily="34" charset="-120"/>
              </a:rPr>
              <a:t>Identified release with a per-file integrity manifest.</a:t>
            </a:r>
            <a:endParaRPr lang="en-US" sz="1100" dirty="0"/>
          </a:p>
        </p:txBody>
      </p:sp>
      <p:sp>
        <p:nvSpPr>
          <p:cNvPr id="15" name="Shape 13"/>
          <p:cNvSpPr/>
          <p:nvPr/>
        </p:nvSpPr>
        <p:spPr>
          <a:xfrm>
            <a:off x="566928" y="3310128"/>
            <a:ext cx="5358384" cy="1207008"/>
          </a:xfrm>
          <a:prstGeom prst="roundRect">
            <a:avLst>
              <a:gd name="adj" fmla="val 6061"/>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16" name="Text 14"/>
          <p:cNvSpPr txBox="1"/>
          <p:nvPr/>
        </p:nvSpPr>
        <p:spPr>
          <a:xfrm>
            <a:off x="804672" y="3456432"/>
            <a:ext cx="3291840" cy="274320"/>
          </a:xfrm>
          <a:prstGeom prst="rect">
            <a:avLst/>
          </a:prstGeom>
          <a:noFill/>
          <a:ln/>
        </p:spPr>
        <p:txBody>
          <a:bodyPr wrap="square" lIns="0" tIns="0" rIns="0" bIns="0" rtlCol="0" anchor="ctr"/>
          <a:lstStyle/>
          <a:p>
            <a:pPr indent="0" marL="0">
              <a:buNone/>
            </a:pPr>
            <a:r>
              <a:rPr lang="en-US" sz="1400" b="1" dirty="0">
                <a:solidFill>
                  <a:srgbClr val="143D66"/>
                </a:solidFill>
                <a:latin typeface="Calibri" pitchFamily="34" charset="0"/>
                <a:ea typeface="Calibri" pitchFamily="34" charset="-122"/>
                <a:cs typeface="Calibri" pitchFamily="34" charset="-120"/>
              </a:rPr>
              <a:t>Automatic content update path</a:t>
            </a:r>
            <a:endParaRPr lang="en-US" sz="1400" dirty="0"/>
          </a:p>
        </p:txBody>
      </p:sp>
      <p:sp>
        <p:nvSpPr>
          <p:cNvPr id="17" name="Shape 15"/>
          <p:cNvSpPr/>
          <p:nvPr/>
        </p:nvSpPr>
        <p:spPr>
          <a:xfrm>
            <a:off x="4178808" y="3474720"/>
            <a:ext cx="1508760" cy="274320"/>
          </a:xfrm>
          <a:prstGeom prst="roundRect">
            <a:avLst>
              <a:gd name="adj" fmla="val 50000"/>
            </a:avLst>
          </a:prstGeom>
          <a:solidFill>
            <a:srgbClr val="E4F1E9"/>
          </a:solidFill>
          <a:ln w="12700">
            <a:solidFill>
              <a:srgbClr val="BFDCC8"/>
            </a:solidFill>
            <a:prstDash val="solid"/>
          </a:ln>
        </p:spPr>
      </p:sp>
      <p:sp>
        <p:nvSpPr>
          <p:cNvPr id="18" name="Text 16"/>
          <p:cNvSpPr txBox="1"/>
          <p:nvPr/>
        </p:nvSpPr>
        <p:spPr>
          <a:xfrm>
            <a:off x="4178808" y="3474720"/>
            <a:ext cx="1508760" cy="274320"/>
          </a:xfrm>
          <a:prstGeom prst="rect">
            <a:avLst/>
          </a:prstGeom>
          <a:noFill/>
          <a:ln/>
        </p:spPr>
        <p:txBody>
          <a:bodyPr wrap="square" lIns="0" tIns="0" rIns="0" bIns="0" rtlCol="0" anchor="ctr"/>
          <a:lstStyle/>
          <a:p>
            <a:pPr algn="ctr" indent="0" marL="0">
              <a:buNone/>
            </a:pPr>
            <a:r>
              <a:rPr lang="en-US" sz="950" b="1" dirty="0">
                <a:solidFill>
                  <a:srgbClr val="2D7A56"/>
                </a:solidFill>
                <a:latin typeface="Calibri" pitchFamily="34" charset="0"/>
                <a:ea typeface="Calibri" pitchFamily="34" charset="-122"/>
                <a:cs typeface="Calibri" pitchFamily="34" charset="-120"/>
              </a:rPr>
              <a:t>Tested</a:t>
            </a:r>
            <a:endParaRPr lang="en-US" sz="950" dirty="0"/>
          </a:p>
        </p:txBody>
      </p:sp>
      <p:sp>
        <p:nvSpPr>
          <p:cNvPr id="19" name="Text 17"/>
          <p:cNvSpPr txBox="1"/>
          <p:nvPr/>
        </p:nvSpPr>
        <p:spPr>
          <a:xfrm>
            <a:off x="804672" y="3822192"/>
            <a:ext cx="4901184" cy="548640"/>
          </a:xfrm>
          <a:prstGeom prst="rect">
            <a:avLst/>
          </a:prstGeom>
          <a:noFill/>
          <a:ln/>
        </p:spPr>
        <p:txBody>
          <a:bodyPr wrap="square" lIns="0" tIns="0" rIns="0" bIns="0" rtlCol="0" anchor="ctr"/>
          <a:lstStyle/>
          <a:p>
            <a:pPr indent="0" marL="0">
              <a:lnSpc>
                <a:spcPct val="104000"/>
              </a:lnSpc>
              <a:buNone/>
            </a:pPr>
            <a:r>
              <a:rPr lang="en-US" sz="1100" dirty="0">
                <a:solidFill>
                  <a:srgbClr val="5B6C81"/>
                </a:solidFill>
                <a:latin typeface="Calibri" pitchFamily="34" charset="0"/>
                <a:ea typeface="Calibri" pitchFamily="34" charset="-122"/>
                <a:cs typeface="Calibri" pitchFamily="34" charset="-120"/>
              </a:rPr>
              <a:t>Delivery of a new content release to an installed client verified.</a:t>
            </a:r>
            <a:endParaRPr lang="en-US" sz="1100" dirty="0"/>
          </a:p>
        </p:txBody>
      </p:sp>
      <p:sp>
        <p:nvSpPr>
          <p:cNvPr id="20" name="Shape 18"/>
          <p:cNvSpPr/>
          <p:nvPr/>
        </p:nvSpPr>
        <p:spPr>
          <a:xfrm>
            <a:off x="6263640" y="3310128"/>
            <a:ext cx="5358384" cy="1207008"/>
          </a:xfrm>
          <a:prstGeom prst="roundRect">
            <a:avLst>
              <a:gd name="adj" fmla="val 6061"/>
            </a:avLst>
          </a:prstGeom>
          <a:solidFill>
            <a:srgbClr val="F2F5FA"/>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21" name="Text 19"/>
          <p:cNvSpPr txBox="1"/>
          <p:nvPr/>
        </p:nvSpPr>
        <p:spPr>
          <a:xfrm>
            <a:off x="6501384" y="3456432"/>
            <a:ext cx="3291840" cy="274320"/>
          </a:xfrm>
          <a:prstGeom prst="rect">
            <a:avLst/>
          </a:prstGeom>
          <a:noFill/>
          <a:ln/>
        </p:spPr>
        <p:txBody>
          <a:bodyPr wrap="square" lIns="0" tIns="0" rIns="0" bIns="0" rtlCol="0" anchor="ctr"/>
          <a:lstStyle/>
          <a:p>
            <a:pPr indent="0" marL="0">
              <a:buNone/>
            </a:pPr>
            <a:r>
              <a:rPr lang="en-US" sz="1400" b="1" dirty="0">
                <a:solidFill>
                  <a:srgbClr val="143D66"/>
                </a:solidFill>
                <a:latin typeface="Calibri" pitchFamily="34" charset="0"/>
                <a:ea typeface="Calibri" pitchFamily="34" charset="-122"/>
                <a:cs typeface="Calibri" pitchFamily="34" charset="-120"/>
              </a:rPr>
              <a:t>First trusted-user testing</a:t>
            </a:r>
            <a:endParaRPr lang="en-US" sz="1400" dirty="0"/>
          </a:p>
        </p:txBody>
      </p:sp>
      <p:sp>
        <p:nvSpPr>
          <p:cNvPr id="22" name="Shape 20"/>
          <p:cNvSpPr/>
          <p:nvPr/>
        </p:nvSpPr>
        <p:spPr>
          <a:xfrm>
            <a:off x="9875520" y="3474720"/>
            <a:ext cx="1508760" cy="274320"/>
          </a:xfrm>
          <a:prstGeom prst="roundRect">
            <a:avLst>
              <a:gd name="adj" fmla="val 50000"/>
            </a:avLst>
          </a:prstGeom>
          <a:solidFill>
            <a:srgbClr val="E4F1E9"/>
          </a:solidFill>
          <a:ln w="12700">
            <a:solidFill>
              <a:srgbClr val="BFDCC8"/>
            </a:solidFill>
            <a:prstDash val="solid"/>
          </a:ln>
        </p:spPr>
      </p:sp>
      <p:sp>
        <p:nvSpPr>
          <p:cNvPr id="23" name="Text 21"/>
          <p:cNvSpPr txBox="1"/>
          <p:nvPr/>
        </p:nvSpPr>
        <p:spPr>
          <a:xfrm>
            <a:off x="9875520" y="3474720"/>
            <a:ext cx="1508760" cy="274320"/>
          </a:xfrm>
          <a:prstGeom prst="rect">
            <a:avLst/>
          </a:prstGeom>
          <a:noFill/>
          <a:ln/>
        </p:spPr>
        <p:txBody>
          <a:bodyPr wrap="square" lIns="0" tIns="0" rIns="0" bIns="0" rtlCol="0" anchor="ctr"/>
          <a:lstStyle/>
          <a:p>
            <a:pPr algn="ctr" indent="0" marL="0">
              <a:buNone/>
            </a:pPr>
            <a:r>
              <a:rPr lang="en-US" sz="950" b="1" dirty="0">
                <a:solidFill>
                  <a:srgbClr val="2D7A56"/>
                </a:solidFill>
                <a:latin typeface="Calibri" pitchFamily="34" charset="0"/>
                <a:ea typeface="Calibri" pitchFamily="34" charset="-122"/>
                <a:cs typeface="Calibri" pitchFamily="34" charset="-120"/>
              </a:rPr>
              <a:t>Completed</a:t>
            </a:r>
            <a:endParaRPr lang="en-US" sz="950" dirty="0"/>
          </a:p>
        </p:txBody>
      </p:sp>
      <p:sp>
        <p:nvSpPr>
          <p:cNvPr id="24" name="Text 22"/>
          <p:cNvSpPr txBox="1"/>
          <p:nvPr/>
        </p:nvSpPr>
        <p:spPr>
          <a:xfrm>
            <a:off x="6501384" y="3822192"/>
            <a:ext cx="4901184" cy="548640"/>
          </a:xfrm>
          <a:prstGeom prst="rect">
            <a:avLst/>
          </a:prstGeom>
          <a:noFill/>
          <a:ln/>
        </p:spPr>
        <p:txBody>
          <a:bodyPr wrap="square" lIns="0" tIns="0" rIns="0" bIns="0" rtlCol="0" anchor="ctr"/>
          <a:lstStyle/>
          <a:p>
            <a:pPr indent="0" marL="0">
              <a:lnSpc>
                <a:spcPct val="104000"/>
              </a:lnSpc>
              <a:buNone/>
            </a:pPr>
            <a:r>
              <a:rPr lang="en-US" sz="1100" dirty="0">
                <a:solidFill>
                  <a:srgbClr val="5B6C81"/>
                </a:solidFill>
                <a:latin typeface="Calibri" pitchFamily="34" charset="0"/>
                <a:ea typeface="Calibri" pitchFamily="34" charset="-122"/>
                <a:cs typeface="Calibri" pitchFamily="34" charset="-120"/>
              </a:rPr>
              <a:t>Initial authorized faculty test completed successfully.</a:t>
            </a:r>
            <a:endParaRPr lang="en-US" sz="1100" dirty="0"/>
          </a:p>
        </p:txBody>
      </p:sp>
      <p:sp>
        <p:nvSpPr>
          <p:cNvPr id="25" name="Shape 23"/>
          <p:cNvSpPr/>
          <p:nvPr/>
        </p:nvSpPr>
        <p:spPr>
          <a:xfrm>
            <a:off x="566928" y="4681728"/>
            <a:ext cx="5358384" cy="1207008"/>
          </a:xfrm>
          <a:prstGeom prst="roundRect">
            <a:avLst>
              <a:gd name="adj" fmla="val 6061"/>
            </a:avLst>
          </a:prstGeom>
          <a:solidFill>
            <a:srgbClr val="E6EDF5"/>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26" name="Text 24"/>
          <p:cNvSpPr txBox="1"/>
          <p:nvPr/>
        </p:nvSpPr>
        <p:spPr>
          <a:xfrm>
            <a:off x="804672" y="4828032"/>
            <a:ext cx="3291840" cy="274320"/>
          </a:xfrm>
          <a:prstGeom prst="rect">
            <a:avLst/>
          </a:prstGeom>
          <a:noFill/>
          <a:ln/>
        </p:spPr>
        <p:txBody>
          <a:bodyPr wrap="square" lIns="0" tIns="0" rIns="0" bIns="0" rtlCol="0" anchor="ctr"/>
          <a:lstStyle/>
          <a:p>
            <a:pPr indent="0" marL="0">
              <a:buNone/>
            </a:pPr>
            <a:r>
              <a:rPr lang="en-US" sz="1400" b="1" dirty="0">
                <a:solidFill>
                  <a:srgbClr val="143D66"/>
                </a:solidFill>
                <a:latin typeface="Calibri" pitchFamily="34" charset="0"/>
                <a:ea typeface="Calibri" pitchFamily="34" charset="-122"/>
                <a:cs typeface="Calibri" pitchFamily="34" charset="-120"/>
              </a:rPr>
              <a:t>Undergraduate EE modules</a:t>
            </a:r>
            <a:endParaRPr lang="en-US" sz="1400" dirty="0"/>
          </a:p>
        </p:txBody>
      </p:sp>
      <p:sp>
        <p:nvSpPr>
          <p:cNvPr id="27" name="Shape 25"/>
          <p:cNvSpPr/>
          <p:nvPr/>
        </p:nvSpPr>
        <p:spPr>
          <a:xfrm>
            <a:off x="4178808" y="4846320"/>
            <a:ext cx="1508760" cy="274320"/>
          </a:xfrm>
          <a:prstGeom prst="roundRect">
            <a:avLst>
              <a:gd name="adj" fmla="val 50000"/>
            </a:avLst>
          </a:prstGeom>
          <a:solidFill>
            <a:srgbClr val="E3EAF4"/>
          </a:solidFill>
          <a:ln w="12700">
            <a:solidFill>
              <a:srgbClr val="C6D4E6"/>
            </a:solidFill>
            <a:prstDash val="solid"/>
          </a:ln>
        </p:spPr>
      </p:sp>
      <p:sp>
        <p:nvSpPr>
          <p:cNvPr id="28" name="Text 26"/>
          <p:cNvSpPr txBox="1"/>
          <p:nvPr/>
        </p:nvSpPr>
        <p:spPr>
          <a:xfrm>
            <a:off x="4178808" y="4846320"/>
            <a:ext cx="1508760" cy="274320"/>
          </a:xfrm>
          <a:prstGeom prst="rect">
            <a:avLst/>
          </a:prstGeom>
          <a:noFill/>
          <a:ln/>
        </p:spPr>
        <p:txBody>
          <a:bodyPr wrap="square" lIns="0" tIns="0" rIns="0" bIns="0" rtlCol="0" anchor="ctr"/>
          <a:lstStyle/>
          <a:p>
            <a:pPr algn="ctr" indent="0" marL="0">
              <a:buNone/>
            </a:pPr>
            <a:r>
              <a:rPr lang="en-US" sz="950" b="1" dirty="0">
                <a:solidFill>
                  <a:srgbClr val="143D66"/>
                </a:solidFill>
                <a:latin typeface="Calibri" pitchFamily="34" charset="0"/>
                <a:ea typeface="Calibri" pitchFamily="34" charset="-122"/>
                <a:cs typeface="Calibri" pitchFamily="34" charset="-120"/>
              </a:rPr>
              <a:t>Operational focus</a:t>
            </a:r>
            <a:endParaRPr lang="en-US" sz="950" dirty="0"/>
          </a:p>
        </p:txBody>
      </p:sp>
      <p:sp>
        <p:nvSpPr>
          <p:cNvPr id="29" name="Text 27"/>
          <p:cNvSpPr txBox="1"/>
          <p:nvPr/>
        </p:nvSpPr>
        <p:spPr>
          <a:xfrm>
            <a:off x="804672" y="5193792"/>
            <a:ext cx="4901184" cy="548640"/>
          </a:xfrm>
          <a:prstGeom prst="rect">
            <a:avLst/>
          </a:prstGeom>
          <a:noFill/>
          <a:ln/>
        </p:spPr>
        <p:txBody>
          <a:bodyPr wrap="square" lIns="0" tIns="0" rIns="0" bIns="0" rtlCol="0" anchor="ctr"/>
          <a:lstStyle/>
          <a:p>
            <a:pPr indent="0" marL="0">
              <a:lnSpc>
                <a:spcPct val="104000"/>
              </a:lnSpc>
              <a:buNone/>
            </a:pPr>
            <a:r>
              <a:rPr lang="en-US" sz="1100" dirty="0">
                <a:solidFill>
                  <a:srgbClr val="5B6C81"/>
                </a:solidFill>
                <a:latin typeface="Calibri" pitchFamily="34" charset="0"/>
                <a:ea typeface="Calibri" pitchFamily="34" charset="-122"/>
                <a:cs typeface="Calibri" pitchFamily="34" charset="-120"/>
              </a:rPr>
              <a:t>Program, course, alignment and improvement views in active use.</a:t>
            </a:r>
            <a:endParaRPr lang="en-US" sz="1100" dirty="0"/>
          </a:p>
        </p:txBody>
      </p:sp>
      <p:sp>
        <p:nvSpPr>
          <p:cNvPr id="30" name="Shape 28"/>
          <p:cNvSpPr/>
          <p:nvPr/>
        </p:nvSpPr>
        <p:spPr>
          <a:xfrm>
            <a:off x="6263640" y="4681728"/>
            <a:ext cx="5358384" cy="1207008"/>
          </a:xfrm>
          <a:prstGeom prst="roundRect">
            <a:avLst>
              <a:gd name="adj" fmla="val 6061"/>
            </a:avLst>
          </a:prstGeom>
          <a:solidFill>
            <a:srgbClr val="E6EDF5"/>
          </a:solidFill>
          <a:ln w="12700">
            <a:solidFill>
              <a:srgbClr val="D3DDE8"/>
            </a:solidFill>
            <a:prstDash val="solid"/>
          </a:ln>
          <a:effectLst>
            <a:outerShdw sx="100000" sy="100000" kx="0" ky="0" algn="bl" rotWithShape="0" blurRad="127000" dist="38100" dir="5400000">
              <a:srgbClr val="0B1B2E">
                <a:alpha val="7000"/>
              </a:srgbClr>
            </a:outerShdw>
          </a:effectLst>
        </p:spPr>
      </p:sp>
      <p:sp>
        <p:nvSpPr>
          <p:cNvPr id="31" name="Text 29"/>
          <p:cNvSpPr txBox="1"/>
          <p:nvPr/>
        </p:nvSpPr>
        <p:spPr>
          <a:xfrm>
            <a:off x="6501384" y="4828032"/>
            <a:ext cx="3291840" cy="274320"/>
          </a:xfrm>
          <a:prstGeom prst="rect">
            <a:avLst/>
          </a:prstGeom>
          <a:noFill/>
          <a:ln/>
        </p:spPr>
        <p:txBody>
          <a:bodyPr wrap="square" lIns="0" tIns="0" rIns="0" bIns="0" rtlCol="0" anchor="ctr"/>
          <a:lstStyle/>
          <a:p>
            <a:pPr indent="0" marL="0">
              <a:buNone/>
            </a:pPr>
            <a:r>
              <a:rPr lang="en-US" sz="1400" b="1" dirty="0">
                <a:solidFill>
                  <a:srgbClr val="143D66"/>
                </a:solidFill>
                <a:latin typeface="Calibri" pitchFamily="34" charset="0"/>
                <a:ea typeface="Calibri" pitchFamily="34" charset="-122"/>
                <a:cs typeface="Calibri" pitchFamily="34" charset="-120"/>
              </a:rPr>
              <a:t>MSc / graduate modules</a:t>
            </a:r>
            <a:endParaRPr lang="en-US" sz="1400" dirty="0"/>
          </a:p>
        </p:txBody>
      </p:sp>
      <p:sp>
        <p:nvSpPr>
          <p:cNvPr id="32" name="Shape 30"/>
          <p:cNvSpPr/>
          <p:nvPr/>
        </p:nvSpPr>
        <p:spPr>
          <a:xfrm>
            <a:off x="9875520" y="4846320"/>
            <a:ext cx="1508760" cy="274320"/>
          </a:xfrm>
          <a:prstGeom prst="roundRect">
            <a:avLst>
              <a:gd name="adj" fmla="val 50000"/>
            </a:avLst>
          </a:prstGeom>
          <a:solidFill>
            <a:srgbClr val="FDF1DD"/>
          </a:solidFill>
          <a:ln w="12700">
            <a:solidFill>
              <a:srgbClr val="EFD3A4"/>
            </a:solidFill>
            <a:prstDash val="solid"/>
          </a:ln>
        </p:spPr>
      </p:sp>
      <p:sp>
        <p:nvSpPr>
          <p:cNvPr id="33" name="Text 31"/>
          <p:cNvSpPr txBox="1"/>
          <p:nvPr/>
        </p:nvSpPr>
        <p:spPr>
          <a:xfrm>
            <a:off x="9875520" y="4846320"/>
            <a:ext cx="1508760" cy="274320"/>
          </a:xfrm>
          <a:prstGeom prst="rect">
            <a:avLst/>
          </a:prstGeom>
          <a:noFill/>
          <a:ln/>
        </p:spPr>
        <p:txBody>
          <a:bodyPr wrap="square" lIns="0" tIns="0" rIns="0" bIns="0" rtlCol="0" anchor="ctr"/>
          <a:lstStyle/>
          <a:p>
            <a:pPr algn="ctr" indent="0" marL="0">
              <a:buNone/>
            </a:pPr>
            <a:r>
              <a:rPr lang="en-US" sz="950" b="1" dirty="0">
                <a:solidFill>
                  <a:srgbClr val="9A6208"/>
                </a:solidFill>
                <a:latin typeface="Calibri" pitchFamily="34" charset="0"/>
                <a:ea typeface="Calibri" pitchFamily="34" charset="-122"/>
                <a:cs typeface="Calibri" pitchFamily="34" charset="-120"/>
              </a:rPr>
              <a:t>Under construction</a:t>
            </a:r>
            <a:endParaRPr lang="en-US" sz="950" dirty="0"/>
          </a:p>
        </p:txBody>
      </p:sp>
      <p:sp>
        <p:nvSpPr>
          <p:cNvPr id="34" name="Text 32"/>
          <p:cNvSpPr txBox="1"/>
          <p:nvPr/>
        </p:nvSpPr>
        <p:spPr>
          <a:xfrm>
            <a:off x="6501384" y="5193792"/>
            <a:ext cx="4901184" cy="548640"/>
          </a:xfrm>
          <a:prstGeom prst="rect">
            <a:avLst/>
          </a:prstGeom>
          <a:noFill/>
          <a:ln/>
        </p:spPr>
        <p:txBody>
          <a:bodyPr wrap="square" lIns="0" tIns="0" rIns="0" bIns="0" rtlCol="0" anchor="ctr"/>
          <a:lstStyle/>
          <a:p>
            <a:pPr indent="0" marL="0">
              <a:lnSpc>
                <a:spcPct val="104000"/>
              </a:lnSpc>
              <a:buNone/>
            </a:pPr>
            <a:r>
              <a:rPr lang="en-US" sz="1100" dirty="0">
                <a:solidFill>
                  <a:srgbClr val="5B6C81"/>
                </a:solidFill>
                <a:latin typeface="Calibri" pitchFamily="34" charset="0"/>
                <a:ea typeface="Calibri" pitchFamily="34" charset="-122"/>
                <a:cs typeface="Calibri" pitchFamily="34" charset="-120"/>
              </a:rPr>
              <a:t>Pending approval; outside the scope of this presentation.</a:t>
            </a:r>
            <a:endParaRPr lang="en-US" sz="1100" dirty="0"/>
          </a:p>
        </p:txBody>
      </p:sp>
      <p:sp>
        <p:nvSpPr>
          <p:cNvPr id="36" name="Text 33"/>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93A3B5"/>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37" name="Text 34"/>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93A3B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B2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B2E"/>
          </a:solidFill>
          <a:ln/>
        </p:spPr>
      </p:sp>
      <p:sp>
        <p:nvSpPr>
          <p:cNvPr id="3" name="Text 1"/>
          <p:cNvSpPr txBox="1"/>
          <p:nvPr/>
        </p:nvSpPr>
        <p:spPr>
          <a:xfrm>
            <a:off x="566928" y="384048"/>
            <a:ext cx="9601200" cy="237744"/>
          </a:xfrm>
          <a:prstGeom prst="rect">
            <a:avLst/>
          </a:prstGeom>
          <a:noFill/>
          <a:ln/>
        </p:spPr>
        <p:txBody>
          <a:bodyPr wrap="square" lIns="0" tIns="0" rIns="0" bIns="0" rtlCol="0" anchor="ctr"/>
          <a:lstStyle/>
          <a:p>
            <a:pPr indent="0" marL="0">
              <a:buNone/>
            </a:pPr>
            <a:r>
              <a:rPr lang="en-US" sz="1100" b="1" spc="240" kern="0" dirty="0">
                <a:solidFill>
                  <a:srgbClr val="F2A23A"/>
                </a:solidFill>
                <a:latin typeface="Calibri" pitchFamily="34" charset="0"/>
                <a:ea typeface="Calibri" pitchFamily="34" charset="-122"/>
                <a:cs typeface="Calibri" pitchFamily="34" charset="-120"/>
              </a:rPr>
              <a:t>NEXT STEPS</a:t>
            </a:r>
            <a:endParaRPr lang="en-US" sz="1100" dirty="0"/>
          </a:p>
        </p:txBody>
      </p:sp>
      <p:sp>
        <p:nvSpPr>
          <p:cNvPr id="4" name="Text 2"/>
          <p:cNvSpPr txBox="1"/>
          <p:nvPr/>
        </p:nvSpPr>
        <p:spPr>
          <a:xfrm>
            <a:off x="566928" y="640080"/>
            <a:ext cx="106070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Roadmap and committee value</a:t>
            </a:r>
            <a:endParaRPr lang="en-US" sz="3200" dirty="0"/>
          </a:p>
        </p:txBody>
      </p:sp>
      <p:sp>
        <p:nvSpPr>
          <p:cNvPr id="5" name="Text 3"/>
          <p:cNvSpPr txBox="1"/>
          <p:nvPr/>
        </p:nvSpPr>
        <p:spPr>
          <a:xfrm>
            <a:off x="566928" y="1298448"/>
            <a:ext cx="10881360" cy="310896"/>
          </a:xfrm>
          <a:prstGeom prst="rect">
            <a:avLst/>
          </a:prstGeom>
          <a:noFill/>
          <a:ln/>
        </p:spPr>
        <p:txBody>
          <a:bodyPr wrap="square" lIns="0" tIns="0" rIns="0" bIns="0" rtlCol="0" anchor="ctr"/>
          <a:lstStyle/>
          <a:p>
            <a:pPr indent="0" marL="0">
              <a:buNone/>
            </a:pPr>
            <a:r>
              <a:rPr lang="en-US" sz="1400" dirty="0">
                <a:solidFill>
                  <a:srgbClr val="AFC3D8"/>
                </a:solidFill>
                <a:latin typeface="Calibri" pitchFamily="34" charset="0"/>
                <a:ea typeface="Calibri" pitchFamily="34" charset="-122"/>
                <a:cs typeface="Calibri" pitchFamily="34" charset="-120"/>
              </a:rPr>
              <a:t>A maintained departmental asset, not a one-off project.</a:t>
            </a:r>
            <a:endParaRPr lang="en-US" sz="1400" dirty="0"/>
          </a:p>
        </p:txBody>
      </p:sp>
      <p:sp>
        <p:nvSpPr>
          <p:cNvPr id="6" name="Shape 4"/>
          <p:cNvSpPr/>
          <p:nvPr/>
        </p:nvSpPr>
        <p:spPr>
          <a:xfrm>
            <a:off x="566928" y="1892808"/>
            <a:ext cx="329184" cy="329184"/>
          </a:xfrm>
          <a:prstGeom prst="roundRect">
            <a:avLst>
              <a:gd name="adj" fmla="val 69444"/>
            </a:avLst>
          </a:prstGeom>
          <a:solidFill>
            <a:srgbClr val="1D4370"/>
          </a:solidFill>
          <a:ln w="12700">
            <a:solidFill>
              <a:srgbClr val="1D4370"/>
            </a:solidFill>
            <a:prstDash val="solid"/>
          </a:ln>
        </p:spPr>
      </p:sp>
      <p:sp>
        <p:nvSpPr>
          <p:cNvPr id="7" name="Text 5"/>
          <p:cNvSpPr txBox="1"/>
          <p:nvPr/>
        </p:nvSpPr>
        <p:spPr>
          <a:xfrm>
            <a:off x="566928" y="1892808"/>
            <a:ext cx="329184" cy="329184"/>
          </a:xfrm>
          <a:prstGeom prst="rect">
            <a:avLst/>
          </a:prstGeom>
          <a:noFill/>
          <a:ln/>
        </p:spPr>
        <p:txBody>
          <a:bodyPr wrap="square" lIns="0" tIns="0" rIns="0" bIns="0" rtlCol="0" anchor="ctr"/>
          <a:lstStyle/>
          <a:p>
            <a:pPr algn="ctr" indent="0" marL="0">
              <a:buNone/>
            </a:pPr>
            <a:r>
              <a:rPr lang="en-US" sz="1200" b="1" dirty="0">
                <a:solidFill>
                  <a:srgbClr val="79D7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60704" y="1874520"/>
            <a:ext cx="42976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Automate content releases</a:t>
            </a:r>
            <a:endParaRPr lang="en-US" sz="1400" dirty="0"/>
          </a:p>
        </p:txBody>
      </p:sp>
      <p:sp>
        <p:nvSpPr>
          <p:cNvPr id="9" name="Text 7"/>
          <p:cNvSpPr txBox="1"/>
          <p:nvPr/>
        </p:nvSpPr>
        <p:spPr>
          <a:xfrm>
            <a:off x="1060704" y="2139696"/>
            <a:ext cx="4343400" cy="274320"/>
          </a:xfrm>
          <a:prstGeom prst="rect">
            <a:avLst/>
          </a:prstGeom>
          <a:noFill/>
          <a:ln/>
        </p:spPr>
        <p:txBody>
          <a:bodyPr wrap="square" lIns="0" tIns="0" rIns="0" bIns="0" rtlCol="0" anchor="ctr"/>
          <a:lstStyle/>
          <a:p>
            <a:pPr indent="0" marL="0">
              <a:buNone/>
            </a:pPr>
            <a:r>
              <a:rPr lang="en-US" sz="1050" dirty="0">
                <a:solidFill>
                  <a:srgbClr val="9FB6CE"/>
                </a:solidFill>
                <a:latin typeface="Calibri" pitchFamily="34" charset="0"/>
                <a:ea typeface="Calibri" pitchFamily="34" charset="-122"/>
                <a:cs typeface="Calibri" pitchFamily="34" charset="-120"/>
              </a:rPr>
              <a:t>Remove manual steps from packaging and publication.</a:t>
            </a:r>
            <a:endParaRPr lang="en-US" sz="1050" dirty="0"/>
          </a:p>
        </p:txBody>
      </p:sp>
      <p:sp>
        <p:nvSpPr>
          <p:cNvPr id="10" name="Shape 8"/>
          <p:cNvSpPr/>
          <p:nvPr/>
        </p:nvSpPr>
        <p:spPr>
          <a:xfrm>
            <a:off x="566928" y="2606040"/>
            <a:ext cx="329184" cy="329184"/>
          </a:xfrm>
          <a:prstGeom prst="roundRect">
            <a:avLst>
              <a:gd name="adj" fmla="val 69444"/>
            </a:avLst>
          </a:prstGeom>
          <a:solidFill>
            <a:srgbClr val="1D4370"/>
          </a:solidFill>
          <a:ln w="12700">
            <a:solidFill>
              <a:srgbClr val="1D4370"/>
            </a:solidFill>
            <a:prstDash val="solid"/>
          </a:ln>
        </p:spPr>
      </p:sp>
      <p:sp>
        <p:nvSpPr>
          <p:cNvPr id="11" name="Text 9"/>
          <p:cNvSpPr txBox="1"/>
          <p:nvPr/>
        </p:nvSpPr>
        <p:spPr>
          <a:xfrm>
            <a:off x="566928" y="2606040"/>
            <a:ext cx="329184" cy="329184"/>
          </a:xfrm>
          <a:prstGeom prst="rect">
            <a:avLst/>
          </a:prstGeom>
          <a:noFill/>
          <a:ln/>
        </p:spPr>
        <p:txBody>
          <a:bodyPr wrap="square" lIns="0" tIns="0" rIns="0" bIns="0" rtlCol="0" anchor="ctr"/>
          <a:lstStyle/>
          <a:p>
            <a:pPr algn="ctr" indent="0" marL="0">
              <a:buNone/>
            </a:pPr>
            <a:r>
              <a:rPr lang="en-US" sz="1200" b="1" dirty="0">
                <a:solidFill>
                  <a:srgbClr val="79D7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60704" y="2587752"/>
            <a:ext cx="42976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Desktop self-update</a:t>
            </a:r>
            <a:endParaRPr lang="en-US" sz="1400" dirty="0"/>
          </a:p>
        </p:txBody>
      </p:sp>
      <p:sp>
        <p:nvSpPr>
          <p:cNvPr id="13" name="Text 11"/>
          <p:cNvSpPr txBox="1"/>
          <p:nvPr/>
        </p:nvSpPr>
        <p:spPr>
          <a:xfrm>
            <a:off x="1060704" y="2852928"/>
            <a:ext cx="4343400" cy="274320"/>
          </a:xfrm>
          <a:prstGeom prst="rect">
            <a:avLst/>
          </a:prstGeom>
          <a:noFill/>
          <a:ln/>
        </p:spPr>
        <p:txBody>
          <a:bodyPr wrap="square" lIns="0" tIns="0" rIns="0" bIns="0" rtlCol="0" anchor="ctr"/>
          <a:lstStyle/>
          <a:p>
            <a:pPr indent="0" marL="0">
              <a:buNone/>
            </a:pPr>
            <a:r>
              <a:rPr lang="en-US" sz="1050" dirty="0">
                <a:solidFill>
                  <a:srgbClr val="9FB6CE"/>
                </a:solidFill>
                <a:latin typeface="Calibri" pitchFamily="34" charset="0"/>
                <a:ea typeface="Calibri" pitchFamily="34" charset="-122"/>
                <a:cs typeface="Calibri" pitchFamily="34" charset="-120"/>
              </a:rPr>
              <a:t>Clients update themselves through the controlled channel.</a:t>
            </a:r>
            <a:endParaRPr lang="en-US" sz="1050" dirty="0"/>
          </a:p>
        </p:txBody>
      </p:sp>
      <p:sp>
        <p:nvSpPr>
          <p:cNvPr id="14" name="Shape 12"/>
          <p:cNvSpPr/>
          <p:nvPr/>
        </p:nvSpPr>
        <p:spPr>
          <a:xfrm>
            <a:off x="566928" y="3319272"/>
            <a:ext cx="329184" cy="329184"/>
          </a:xfrm>
          <a:prstGeom prst="roundRect">
            <a:avLst>
              <a:gd name="adj" fmla="val 69444"/>
            </a:avLst>
          </a:prstGeom>
          <a:solidFill>
            <a:srgbClr val="1D4370"/>
          </a:solidFill>
          <a:ln w="12700">
            <a:solidFill>
              <a:srgbClr val="1D4370"/>
            </a:solidFill>
            <a:prstDash val="solid"/>
          </a:ln>
        </p:spPr>
      </p:sp>
      <p:sp>
        <p:nvSpPr>
          <p:cNvPr id="15" name="Text 13"/>
          <p:cNvSpPr txBox="1"/>
          <p:nvPr/>
        </p:nvSpPr>
        <p:spPr>
          <a:xfrm>
            <a:off x="566928" y="3319272"/>
            <a:ext cx="329184" cy="329184"/>
          </a:xfrm>
          <a:prstGeom prst="rect">
            <a:avLst/>
          </a:prstGeom>
          <a:noFill/>
          <a:ln/>
        </p:spPr>
        <p:txBody>
          <a:bodyPr wrap="square" lIns="0" tIns="0" rIns="0" bIns="0" rtlCol="0" anchor="ctr"/>
          <a:lstStyle/>
          <a:p>
            <a:pPr algn="ctr" indent="0" marL="0">
              <a:buNone/>
            </a:pPr>
            <a:r>
              <a:rPr lang="en-US" sz="1200" b="1" dirty="0">
                <a:solidFill>
                  <a:srgbClr val="79D7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60704" y="3300984"/>
            <a:ext cx="42976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Visible version indicator</a:t>
            </a:r>
            <a:endParaRPr lang="en-US" sz="1400" dirty="0"/>
          </a:p>
        </p:txBody>
      </p:sp>
      <p:sp>
        <p:nvSpPr>
          <p:cNvPr id="17" name="Text 15"/>
          <p:cNvSpPr txBox="1"/>
          <p:nvPr/>
        </p:nvSpPr>
        <p:spPr>
          <a:xfrm>
            <a:off x="1060704" y="3566160"/>
            <a:ext cx="4343400" cy="274320"/>
          </a:xfrm>
          <a:prstGeom prst="rect">
            <a:avLst/>
          </a:prstGeom>
          <a:noFill/>
          <a:ln/>
        </p:spPr>
        <p:txBody>
          <a:bodyPr wrap="square" lIns="0" tIns="0" rIns="0" bIns="0" rtlCol="0" anchor="ctr"/>
          <a:lstStyle/>
          <a:p>
            <a:pPr indent="0" marL="0">
              <a:buNone/>
            </a:pPr>
            <a:r>
              <a:rPr lang="en-US" sz="1050" dirty="0">
                <a:solidFill>
                  <a:srgbClr val="9FB6CE"/>
                </a:solidFill>
                <a:latin typeface="Calibri" pitchFamily="34" charset="0"/>
                <a:ea typeface="Calibri" pitchFamily="34" charset="-122"/>
                <a:cs typeface="Calibri" pitchFamily="34" charset="-120"/>
              </a:rPr>
              <a:t>Every faculty member can see which release they are running.</a:t>
            </a:r>
            <a:endParaRPr lang="en-US" sz="1050" dirty="0"/>
          </a:p>
        </p:txBody>
      </p:sp>
      <p:sp>
        <p:nvSpPr>
          <p:cNvPr id="18" name="Shape 16"/>
          <p:cNvSpPr/>
          <p:nvPr/>
        </p:nvSpPr>
        <p:spPr>
          <a:xfrm>
            <a:off x="566928" y="4032504"/>
            <a:ext cx="329184" cy="329184"/>
          </a:xfrm>
          <a:prstGeom prst="roundRect">
            <a:avLst>
              <a:gd name="adj" fmla="val 69444"/>
            </a:avLst>
          </a:prstGeom>
          <a:solidFill>
            <a:srgbClr val="1D4370"/>
          </a:solidFill>
          <a:ln w="12700">
            <a:solidFill>
              <a:srgbClr val="1D4370"/>
            </a:solidFill>
            <a:prstDash val="solid"/>
          </a:ln>
        </p:spPr>
      </p:sp>
      <p:sp>
        <p:nvSpPr>
          <p:cNvPr id="19" name="Text 17"/>
          <p:cNvSpPr txBox="1"/>
          <p:nvPr/>
        </p:nvSpPr>
        <p:spPr>
          <a:xfrm>
            <a:off x="566928" y="4032504"/>
            <a:ext cx="329184" cy="329184"/>
          </a:xfrm>
          <a:prstGeom prst="rect">
            <a:avLst/>
          </a:prstGeom>
          <a:noFill/>
          <a:ln/>
        </p:spPr>
        <p:txBody>
          <a:bodyPr wrap="square" lIns="0" tIns="0" rIns="0" bIns="0" rtlCol="0" anchor="ctr"/>
          <a:lstStyle/>
          <a:p>
            <a:pPr algn="ctr" indent="0" marL="0">
              <a:buNone/>
            </a:pPr>
            <a:r>
              <a:rPr lang="en-US" sz="1200" b="1" dirty="0">
                <a:solidFill>
                  <a:srgbClr val="79D7FF"/>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1060704" y="4014216"/>
            <a:ext cx="42976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Documentation and user guide</a:t>
            </a:r>
            <a:endParaRPr lang="en-US" sz="1400" dirty="0"/>
          </a:p>
        </p:txBody>
      </p:sp>
      <p:sp>
        <p:nvSpPr>
          <p:cNvPr id="21" name="Text 19"/>
          <p:cNvSpPr txBox="1"/>
          <p:nvPr/>
        </p:nvSpPr>
        <p:spPr>
          <a:xfrm>
            <a:off x="1060704" y="4279392"/>
            <a:ext cx="4343400" cy="274320"/>
          </a:xfrm>
          <a:prstGeom prst="rect">
            <a:avLst/>
          </a:prstGeom>
          <a:noFill/>
          <a:ln/>
        </p:spPr>
        <p:txBody>
          <a:bodyPr wrap="square" lIns="0" tIns="0" rIns="0" bIns="0" rtlCol="0" anchor="ctr"/>
          <a:lstStyle/>
          <a:p>
            <a:pPr indent="0" marL="0">
              <a:buNone/>
            </a:pPr>
            <a:r>
              <a:rPr lang="en-US" sz="1050" dirty="0">
                <a:solidFill>
                  <a:srgbClr val="9FB6CE"/>
                </a:solidFill>
                <a:latin typeface="Calibri" pitchFamily="34" charset="0"/>
                <a:ea typeface="Calibri" pitchFamily="34" charset="-122"/>
                <a:cs typeface="Calibri" pitchFamily="34" charset="-120"/>
              </a:rPr>
              <a:t>So the platform outlives any single committee member.</a:t>
            </a:r>
            <a:endParaRPr lang="en-US" sz="1050" dirty="0"/>
          </a:p>
        </p:txBody>
      </p:sp>
      <p:sp>
        <p:nvSpPr>
          <p:cNvPr id="22" name="Shape 20"/>
          <p:cNvSpPr/>
          <p:nvPr/>
        </p:nvSpPr>
        <p:spPr>
          <a:xfrm>
            <a:off x="566928" y="4745736"/>
            <a:ext cx="329184" cy="329184"/>
          </a:xfrm>
          <a:prstGeom prst="roundRect">
            <a:avLst>
              <a:gd name="adj" fmla="val 69444"/>
            </a:avLst>
          </a:prstGeom>
          <a:solidFill>
            <a:srgbClr val="1D4370"/>
          </a:solidFill>
          <a:ln w="12700">
            <a:solidFill>
              <a:srgbClr val="1D4370"/>
            </a:solidFill>
            <a:prstDash val="solid"/>
          </a:ln>
        </p:spPr>
      </p:sp>
      <p:sp>
        <p:nvSpPr>
          <p:cNvPr id="23" name="Text 21"/>
          <p:cNvSpPr txBox="1"/>
          <p:nvPr/>
        </p:nvSpPr>
        <p:spPr>
          <a:xfrm>
            <a:off x="566928" y="4745736"/>
            <a:ext cx="329184" cy="329184"/>
          </a:xfrm>
          <a:prstGeom prst="rect">
            <a:avLst/>
          </a:prstGeom>
          <a:noFill/>
          <a:ln/>
        </p:spPr>
        <p:txBody>
          <a:bodyPr wrap="square" lIns="0" tIns="0" rIns="0" bIns="0" rtlCol="0" anchor="ctr"/>
          <a:lstStyle/>
          <a:p>
            <a:pPr algn="ctr" indent="0" marL="0">
              <a:buNone/>
            </a:pPr>
            <a:r>
              <a:rPr lang="en-US" sz="1200" b="1" dirty="0">
                <a:solidFill>
                  <a:srgbClr val="79D7FF"/>
                </a:solidFill>
                <a:latin typeface="Calibri" pitchFamily="34" charset="0"/>
                <a:ea typeface="Calibri" pitchFamily="34" charset="-122"/>
                <a:cs typeface="Calibri" pitchFamily="34" charset="-120"/>
              </a:rPr>
              <a:t>5</a:t>
            </a:r>
            <a:endParaRPr lang="en-US" sz="1200" dirty="0"/>
          </a:p>
        </p:txBody>
      </p:sp>
      <p:sp>
        <p:nvSpPr>
          <p:cNvPr id="24" name="Text 22"/>
          <p:cNvSpPr txBox="1"/>
          <p:nvPr/>
        </p:nvSpPr>
        <p:spPr>
          <a:xfrm>
            <a:off x="1060704" y="4727448"/>
            <a:ext cx="42976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Extend to other programs</a:t>
            </a:r>
            <a:endParaRPr lang="en-US" sz="1400" dirty="0"/>
          </a:p>
        </p:txBody>
      </p:sp>
      <p:sp>
        <p:nvSpPr>
          <p:cNvPr id="25" name="Text 23"/>
          <p:cNvSpPr txBox="1"/>
          <p:nvPr/>
        </p:nvSpPr>
        <p:spPr>
          <a:xfrm>
            <a:off x="1060704" y="4992624"/>
            <a:ext cx="4343400" cy="274320"/>
          </a:xfrm>
          <a:prstGeom prst="rect">
            <a:avLst/>
          </a:prstGeom>
          <a:noFill/>
          <a:ln/>
        </p:spPr>
        <p:txBody>
          <a:bodyPr wrap="square" lIns="0" tIns="0" rIns="0" bIns="0" rtlCol="0" anchor="ctr"/>
          <a:lstStyle/>
          <a:p>
            <a:pPr indent="0" marL="0">
              <a:buNone/>
            </a:pPr>
            <a:r>
              <a:rPr lang="en-US" sz="1050" dirty="0">
                <a:solidFill>
                  <a:srgbClr val="9FB6CE"/>
                </a:solidFill>
                <a:latin typeface="Calibri" pitchFamily="34" charset="0"/>
                <a:ea typeface="Calibri" pitchFamily="34" charset="-122"/>
                <a:cs typeface="Calibri" pitchFamily="34" charset="-120"/>
              </a:rPr>
              <a:t>Same architecture, additional curricula, when the department decides.</a:t>
            </a:r>
            <a:endParaRPr lang="en-US" sz="1050" dirty="0"/>
          </a:p>
        </p:txBody>
      </p:sp>
      <p:sp>
        <p:nvSpPr>
          <p:cNvPr id="26" name="Shape 24"/>
          <p:cNvSpPr/>
          <p:nvPr/>
        </p:nvSpPr>
        <p:spPr>
          <a:xfrm>
            <a:off x="566928" y="5431536"/>
            <a:ext cx="4709160" cy="786384"/>
          </a:xfrm>
          <a:prstGeom prst="roundRect">
            <a:avLst>
              <a:gd name="adj" fmla="val 9302"/>
            </a:avLst>
          </a:prstGeom>
          <a:solidFill>
            <a:srgbClr val="0E2338"/>
          </a:solidFill>
          <a:ln w="12700">
            <a:solidFill>
              <a:srgbClr val="1E3E5F"/>
            </a:solidFill>
            <a:prstDash val="solid"/>
          </a:ln>
        </p:spPr>
      </p:sp>
      <p:sp>
        <p:nvSpPr>
          <p:cNvPr id="27" name="Text 25"/>
          <p:cNvSpPr txBox="1"/>
          <p:nvPr/>
        </p:nvSpPr>
        <p:spPr>
          <a:xfrm>
            <a:off x="768096" y="5541264"/>
            <a:ext cx="3657600" cy="201168"/>
          </a:xfrm>
          <a:prstGeom prst="rect">
            <a:avLst/>
          </a:prstGeom>
          <a:noFill/>
          <a:ln/>
        </p:spPr>
        <p:txBody>
          <a:bodyPr wrap="square" lIns="0" tIns="0" rIns="0" bIns="0" rtlCol="0" anchor="ctr"/>
          <a:lstStyle/>
          <a:p>
            <a:pPr indent="0" marL="0">
              <a:buNone/>
            </a:pPr>
            <a:r>
              <a:rPr lang="en-US" sz="850" b="1" spc="130" kern="0" dirty="0">
                <a:solidFill>
                  <a:srgbClr val="F2A23A"/>
                </a:solidFill>
                <a:latin typeface="Calibri" pitchFamily="34" charset="0"/>
                <a:ea typeface="Calibri" pitchFamily="34" charset="-122"/>
                <a:cs typeface="Calibri" pitchFamily="34" charset="-120"/>
              </a:rPr>
              <a:t>ASKED OF THE COUNCIL</a:t>
            </a:r>
            <a:endParaRPr lang="en-US" sz="850" dirty="0"/>
          </a:p>
        </p:txBody>
      </p:sp>
      <p:sp>
        <p:nvSpPr>
          <p:cNvPr id="28" name="Text 26"/>
          <p:cNvSpPr txBox="1"/>
          <p:nvPr/>
        </p:nvSpPr>
        <p:spPr>
          <a:xfrm>
            <a:off x="768096" y="5760720"/>
            <a:ext cx="4343400" cy="384048"/>
          </a:xfrm>
          <a:prstGeom prst="rect">
            <a:avLst/>
          </a:prstGeom>
          <a:noFill/>
          <a:ln/>
        </p:spPr>
        <p:txBody>
          <a:bodyPr wrap="square" lIns="0" tIns="0" rIns="0" bIns="0" rtlCol="0" anchor="ctr"/>
          <a:lstStyle/>
          <a:p>
            <a:pPr indent="0" marL="0">
              <a:lnSpc>
                <a:spcPct val="100000"/>
              </a:lnSpc>
              <a:buNone/>
            </a:pPr>
            <a:r>
              <a:rPr lang="en-US" sz="1100" dirty="0">
                <a:solidFill>
                  <a:srgbClr val="C3D6EA"/>
                </a:solidFill>
                <a:latin typeface="Calibri" pitchFamily="34" charset="0"/>
                <a:ea typeface="Calibri" pitchFamily="34" charset="-122"/>
                <a:cs typeface="Calibri" pitchFamily="34" charset="-120"/>
              </a:rPr>
              <a:t>Endorsement to continue development, and agreement on the faculty rollout list.</a:t>
            </a:r>
            <a:endParaRPr lang="en-US" sz="1100" dirty="0"/>
          </a:p>
        </p:txBody>
      </p:sp>
      <p:sp>
        <p:nvSpPr>
          <p:cNvPr id="29" name="Shape 27"/>
          <p:cNvSpPr/>
          <p:nvPr/>
        </p:nvSpPr>
        <p:spPr>
          <a:xfrm>
            <a:off x="5486400" y="1874520"/>
            <a:ext cx="6135624" cy="1591056"/>
          </a:xfrm>
          <a:prstGeom prst="roundRect">
            <a:avLst>
              <a:gd name="adj" fmla="val 4598"/>
            </a:avLst>
          </a:prstGeom>
          <a:solidFill>
            <a:srgbClr val="122842"/>
          </a:solidFill>
          <a:ln w="12700">
            <a:solidFill>
              <a:srgbClr val="23456C"/>
            </a:solidFill>
            <a:prstDash val="solid"/>
          </a:ln>
        </p:spPr>
      </p:sp>
      <p:sp>
        <p:nvSpPr>
          <p:cNvPr id="30" name="Text 28"/>
          <p:cNvSpPr txBox="1"/>
          <p:nvPr/>
        </p:nvSpPr>
        <p:spPr>
          <a:xfrm>
            <a:off x="5742432" y="2048256"/>
            <a:ext cx="3657600" cy="219456"/>
          </a:xfrm>
          <a:prstGeom prst="rect">
            <a:avLst/>
          </a:prstGeom>
          <a:noFill/>
          <a:ln/>
        </p:spPr>
        <p:txBody>
          <a:bodyPr wrap="square" lIns="0" tIns="0" rIns="0" bIns="0" rtlCol="0" anchor="ctr"/>
          <a:lstStyle/>
          <a:p>
            <a:pPr indent="0" marL="0">
              <a:buNone/>
            </a:pPr>
            <a:r>
              <a:rPr lang="en-US" sz="900" b="1" spc="150" kern="0" dirty="0">
                <a:solidFill>
                  <a:srgbClr val="F2A23A"/>
                </a:solidFill>
                <a:latin typeface="Calibri" pitchFamily="34" charset="0"/>
                <a:ea typeface="Calibri" pitchFamily="34" charset="-122"/>
                <a:cs typeface="Calibri" pitchFamily="34" charset="-120"/>
              </a:rPr>
              <a:t>PLATFORM COVERAGE</a:t>
            </a:r>
            <a:endParaRPr lang="en-US" sz="900" dirty="0"/>
          </a:p>
        </p:txBody>
      </p:sp>
      <p:sp>
        <p:nvSpPr>
          <p:cNvPr id="31" name="Text 29"/>
          <p:cNvSpPr txBox="1"/>
          <p:nvPr/>
        </p:nvSpPr>
        <p:spPr>
          <a:xfrm>
            <a:off x="5742432" y="2286000"/>
            <a:ext cx="5650992" cy="786384"/>
          </a:xfrm>
          <a:prstGeom prst="rect">
            <a:avLst/>
          </a:prstGeom>
          <a:noFill/>
          <a:ln/>
        </p:spPr>
        <p:txBody>
          <a:bodyPr wrap="square" lIns="0" tIns="0" rIns="0" bIns="0" rtlCol="0" anchor="ctr"/>
          <a:lstStyle/>
          <a:p>
            <a:pPr indent="0" marL="0">
              <a:lnSpc>
                <a:spcPct val="104000"/>
              </a:lnSpc>
              <a:buNone/>
            </a:pPr>
            <a:r>
              <a:rPr lang="en-US" sz="1150" dirty="0">
                <a:solidFill>
                  <a:srgbClr val="C3D6EA"/>
                </a:solidFill>
                <a:latin typeface="Calibri" pitchFamily="34" charset="0"/>
                <a:ea typeface="Calibri" pitchFamily="34" charset="-122"/>
                <a:cs typeface="Calibri" pitchFamily="34" charset="-120"/>
              </a:rPr>
              <a:t>Windows is the first validated desktop platform. The architecture is cross-platform in principle, allowing CIP to be extended to macOS while retaining the same controlled authentication and private content-delivery model.</a:t>
            </a:r>
            <a:endParaRPr lang="en-US" sz="1150" dirty="0"/>
          </a:p>
        </p:txBody>
      </p:sp>
      <p:sp>
        <p:nvSpPr>
          <p:cNvPr id="32" name="Text 30"/>
          <p:cNvSpPr txBox="1"/>
          <p:nvPr/>
        </p:nvSpPr>
        <p:spPr>
          <a:xfrm>
            <a:off x="5742432" y="3072384"/>
            <a:ext cx="5650992" cy="292608"/>
          </a:xfrm>
          <a:prstGeom prst="rect">
            <a:avLst/>
          </a:prstGeom>
          <a:noFill/>
          <a:ln/>
        </p:spPr>
        <p:txBody>
          <a:bodyPr wrap="square" lIns="0" tIns="0" rIns="0" bIns="0" rtlCol="0" anchor="ctr"/>
          <a:lstStyle/>
          <a:p>
            <a:pPr indent="0" marL="0">
              <a:buNone/>
            </a:pPr>
            <a:r>
              <a:rPr lang="en-US" sz="1000" i="1" dirty="0">
                <a:solidFill>
                  <a:srgbClr val="8FA8C2"/>
                </a:solidFill>
                <a:latin typeface="Calibri" pitchFamily="34" charset="0"/>
                <a:ea typeface="Calibri" pitchFamily="34" charset="-122"/>
                <a:cs typeface="Calibri" pitchFamily="34" charset="-120"/>
              </a:rPr>
              <a:t>macOS work would be packaging, Keychain integration, signing / notarization and acceptance testing — it does not exist yet.</a:t>
            </a:r>
            <a:endParaRPr lang="en-US" sz="1000" dirty="0"/>
          </a:p>
        </p:txBody>
      </p:sp>
      <p:sp>
        <p:nvSpPr>
          <p:cNvPr id="33" name="Shape 31"/>
          <p:cNvSpPr/>
          <p:nvPr/>
        </p:nvSpPr>
        <p:spPr>
          <a:xfrm>
            <a:off x="5486400" y="3611880"/>
            <a:ext cx="6135624" cy="2240280"/>
          </a:xfrm>
          <a:prstGeom prst="roundRect">
            <a:avLst>
              <a:gd name="adj" fmla="val 3265"/>
            </a:avLst>
          </a:prstGeom>
          <a:solidFill>
            <a:srgbClr val="1D4370"/>
          </a:solidFill>
          <a:ln w="12700">
            <a:solidFill>
              <a:srgbClr val="3A6FA0"/>
            </a:solidFill>
            <a:prstDash val="solid"/>
          </a:ln>
        </p:spPr>
      </p:sp>
      <p:sp>
        <p:nvSpPr>
          <p:cNvPr id="34" name="Text 32"/>
          <p:cNvSpPr txBox="1"/>
          <p:nvPr/>
        </p:nvSpPr>
        <p:spPr>
          <a:xfrm>
            <a:off x="5742432" y="3767328"/>
            <a:ext cx="4206240" cy="219456"/>
          </a:xfrm>
          <a:prstGeom prst="rect">
            <a:avLst/>
          </a:prstGeom>
          <a:noFill/>
          <a:ln/>
        </p:spPr>
        <p:txBody>
          <a:bodyPr wrap="square" lIns="0" tIns="0" rIns="0" bIns="0" rtlCol="0" anchor="ctr"/>
          <a:lstStyle/>
          <a:p>
            <a:pPr indent="0" marL="0">
              <a:buNone/>
            </a:pPr>
            <a:r>
              <a:rPr lang="en-US" sz="900" b="1" spc="150" kern="0" dirty="0">
                <a:solidFill>
                  <a:srgbClr val="79D7FF"/>
                </a:solidFill>
                <a:latin typeface="Calibri" pitchFamily="34" charset="0"/>
                <a:ea typeface="Calibri" pitchFamily="34" charset="-122"/>
                <a:cs typeface="Calibri" pitchFamily="34" charset="-120"/>
              </a:rPr>
              <a:t>VALUE TO THE DEPARTMENT</a:t>
            </a:r>
            <a:endParaRPr lang="en-US" sz="900" dirty="0"/>
          </a:p>
        </p:txBody>
      </p:sp>
      <p:sp>
        <p:nvSpPr>
          <p:cNvPr id="35" name="Text 33"/>
          <p:cNvSpPr txBox="1"/>
          <p:nvPr/>
        </p:nvSpPr>
        <p:spPr>
          <a:xfrm>
            <a:off x="5742432" y="4005072"/>
            <a:ext cx="562356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Curriculum intelligence in a controlled lifecycle</a:t>
            </a:r>
            <a:endParaRPr lang="en-US" sz="1700" dirty="0"/>
          </a:p>
        </p:txBody>
      </p:sp>
      <p:sp>
        <p:nvSpPr>
          <p:cNvPr id="36" name="Shape 34"/>
          <p:cNvSpPr/>
          <p:nvPr/>
        </p:nvSpPr>
        <p:spPr>
          <a:xfrm>
            <a:off x="5742432" y="4425696"/>
            <a:ext cx="1645920" cy="310896"/>
          </a:xfrm>
          <a:prstGeom prst="roundRect">
            <a:avLst>
              <a:gd name="adj" fmla="val 50000"/>
            </a:avLst>
          </a:prstGeom>
          <a:solidFill>
            <a:srgbClr val="2A5A8C"/>
          </a:solidFill>
          <a:ln w="12700">
            <a:solidFill>
              <a:srgbClr val="4A80B0"/>
            </a:solidFill>
            <a:prstDash val="solid"/>
          </a:ln>
        </p:spPr>
      </p:sp>
      <p:sp>
        <p:nvSpPr>
          <p:cNvPr id="37" name="Text 35"/>
          <p:cNvSpPr txBox="1"/>
          <p:nvPr/>
        </p:nvSpPr>
        <p:spPr>
          <a:xfrm>
            <a:off x="5742432" y="4425696"/>
            <a:ext cx="164592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Faculty authorization</a:t>
            </a:r>
            <a:endParaRPr lang="en-US" sz="950" dirty="0"/>
          </a:p>
        </p:txBody>
      </p:sp>
      <p:sp>
        <p:nvSpPr>
          <p:cNvPr id="38" name="Shape 36"/>
          <p:cNvSpPr/>
          <p:nvPr/>
        </p:nvSpPr>
        <p:spPr>
          <a:xfrm>
            <a:off x="7498080" y="4425696"/>
            <a:ext cx="1499616" cy="310896"/>
          </a:xfrm>
          <a:prstGeom prst="roundRect">
            <a:avLst>
              <a:gd name="adj" fmla="val 50000"/>
            </a:avLst>
          </a:prstGeom>
          <a:solidFill>
            <a:srgbClr val="2A5A8C"/>
          </a:solidFill>
          <a:ln w="12700">
            <a:solidFill>
              <a:srgbClr val="4A80B0"/>
            </a:solidFill>
            <a:prstDash val="solid"/>
          </a:ln>
        </p:spPr>
      </p:sp>
      <p:sp>
        <p:nvSpPr>
          <p:cNvPr id="39" name="Text 37"/>
          <p:cNvSpPr txBox="1"/>
          <p:nvPr/>
        </p:nvSpPr>
        <p:spPr>
          <a:xfrm>
            <a:off x="7498080" y="4425696"/>
            <a:ext cx="14996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Controlled delivery</a:t>
            </a:r>
            <a:endParaRPr lang="en-US" sz="950" dirty="0"/>
          </a:p>
        </p:txBody>
      </p:sp>
      <p:sp>
        <p:nvSpPr>
          <p:cNvPr id="40" name="Shape 38"/>
          <p:cNvSpPr/>
          <p:nvPr/>
        </p:nvSpPr>
        <p:spPr>
          <a:xfrm>
            <a:off x="9107424" y="4425696"/>
            <a:ext cx="1901952" cy="310896"/>
          </a:xfrm>
          <a:prstGeom prst="roundRect">
            <a:avLst>
              <a:gd name="adj" fmla="val 50000"/>
            </a:avLst>
          </a:prstGeom>
          <a:solidFill>
            <a:srgbClr val="2A5A8C"/>
          </a:solidFill>
          <a:ln w="12700">
            <a:solidFill>
              <a:srgbClr val="4A80B0"/>
            </a:solidFill>
            <a:prstDash val="solid"/>
          </a:ln>
        </p:spPr>
      </p:sp>
      <p:sp>
        <p:nvSpPr>
          <p:cNvPr id="41" name="Text 39"/>
          <p:cNvSpPr txBox="1"/>
          <p:nvPr/>
        </p:nvSpPr>
        <p:spPr>
          <a:xfrm>
            <a:off x="9107424" y="4425696"/>
            <a:ext cx="1901952"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Validated local operation</a:t>
            </a:r>
            <a:endParaRPr lang="en-US" sz="950" dirty="0"/>
          </a:p>
        </p:txBody>
      </p:sp>
      <p:sp>
        <p:nvSpPr>
          <p:cNvPr id="42" name="Shape 40"/>
          <p:cNvSpPr/>
          <p:nvPr/>
        </p:nvSpPr>
        <p:spPr>
          <a:xfrm>
            <a:off x="5742432" y="4809744"/>
            <a:ext cx="1335024" cy="310896"/>
          </a:xfrm>
          <a:prstGeom prst="roundRect">
            <a:avLst>
              <a:gd name="adj" fmla="val 50000"/>
            </a:avLst>
          </a:prstGeom>
          <a:solidFill>
            <a:srgbClr val="2A5A8C"/>
          </a:solidFill>
          <a:ln w="12700">
            <a:solidFill>
              <a:srgbClr val="4A80B0"/>
            </a:solidFill>
            <a:prstDash val="solid"/>
          </a:ln>
        </p:spPr>
      </p:sp>
      <p:sp>
        <p:nvSpPr>
          <p:cNvPr id="43" name="Text 41"/>
          <p:cNvSpPr txBox="1"/>
          <p:nvPr/>
        </p:nvSpPr>
        <p:spPr>
          <a:xfrm>
            <a:off x="5742432" y="4809744"/>
            <a:ext cx="133502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Managed releases</a:t>
            </a:r>
            <a:endParaRPr lang="en-US" sz="950" dirty="0"/>
          </a:p>
        </p:txBody>
      </p:sp>
      <p:sp>
        <p:nvSpPr>
          <p:cNvPr id="44" name="Shape 42"/>
          <p:cNvSpPr/>
          <p:nvPr/>
        </p:nvSpPr>
        <p:spPr>
          <a:xfrm>
            <a:off x="7187184" y="4809744"/>
            <a:ext cx="1773936" cy="310896"/>
          </a:xfrm>
          <a:prstGeom prst="roundRect">
            <a:avLst>
              <a:gd name="adj" fmla="val 50000"/>
            </a:avLst>
          </a:prstGeom>
          <a:solidFill>
            <a:srgbClr val="2A5A8C"/>
          </a:solidFill>
          <a:ln w="12700">
            <a:solidFill>
              <a:srgbClr val="4A80B0"/>
            </a:solidFill>
            <a:prstDash val="solid"/>
          </a:ln>
        </p:spPr>
      </p:sp>
      <p:sp>
        <p:nvSpPr>
          <p:cNvPr id="45" name="Text 43"/>
          <p:cNvSpPr txBox="1"/>
          <p:nvPr/>
        </p:nvSpPr>
        <p:spPr>
          <a:xfrm>
            <a:off x="7187184" y="4809744"/>
            <a:ext cx="177393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Continuous improvement</a:t>
            </a:r>
            <a:endParaRPr lang="en-US" sz="950" dirty="0"/>
          </a:p>
        </p:txBody>
      </p:sp>
      <p:sp>
        <p:nvSpPr>
          <p:cNvPr id="46" name="Text 44"/>
          <p:cNvSpPr txBox="1"/>
          <p:nvPr/>
        </p:nvSpPr>
        <p:spPr>
          <a:xfrm>
            <a:off x="5742432" y="5266944"/>
            <a:ext cx="5650992" cy="512064"/>
          </a:xfrm>
          <a:prstGeom prst="rect">
            <a:avLst/>
          </a:prstGeom>
          <a:noFill/>
          <a:ln/>
        </p:spPr>
        <p:txBody>
          <a:bodyPr wrap="square" lIns="0" tIns="0" rIns="0" bIns="0" rtlCol="0" anchor="ctr"/>
          <a:lstStyle/>
          <a:p>
            <a:pPr indent="0" marL="0">
              <a:lnSpc>
                <a:spcPct val="100000"/>
              </a:lnSpc>
              <a:buNone/>
            </a:pPr>
            <a:r>
              <a:rPr lang="en-US" sz="1050" i="1" dirty="0">
                <a:solidFill>
                  <a:srgbClr val="BCD1E5"/>
                </a:solidFill>
                <a:latin typeface="Calibri" pitchFamily="34" charset="0"/>
                <a:ea typeface="Calibri" pitchFamily="34" charset="-122"/>
                <a:cs typeface="Calibri" pitchFamily="34" charset="-120"/>
              </a:rPr>
              <a:t>CIP is a sustainable Curriculum Committee digital asset — supporting review, documentation, visibility and continuous improvement, alongside the department's official accreditation processes rather than in place of them.</a:t>
            </a:r>
            <a:endParaRPr lang="en-US" sz="1050" dirty="0"/>
          </a:p>
        </p:txBody>
      </p:sp>
      <p:sp>
        <p:nvSpPr>
          <p:cNvPr id="48" name="Text 45"/>
          <p:cNvSpPr txBox="1"/>
          <p:nvPr/>
        </p:nvSpPr>
        <p:spPr>
          <a:xfrm>
            <a:off x="566928" y="6345936"/>
            <a:ext cx="8595360" cy="256032"/>
          </a:xfrm>
          <a:prstGeom prst="rect">
            <a:avLst/>
          </a:prstGeom>
          <a:noFill/>
          <a:ln/>
        </p:spPr>
        <p:txBody>
          <a:bodyPr wrap="square" lIns="0" tIns="0" rIns="0" bIns="0" rtlCol="0" anchor="ctr"/>
          <a:lstStyle/>
          <a:p>
            <a:pPr indent="0" marL="0">
              <a:buNone/>
            </a:pPr>
            <a:r>
              <a:rPr lang="en-US" sz="900" dirty="0">
                <a:solidFill>
                  <a:srgbClr val="7D93AB"/>
                </a:solidFill>
                <a:latin typeface="Calibri" pitchFamily="34" charset="0"/>
                <a:ea typeface="Calibri" pitchFamily="34" charset="-122"/>
                <a:cs typeface="Calibri" pitchFamily="34" charset="-120"/>
              </a:rPr>
              <a:t>Curriculum Intelligence Portal  ·  Curriculum Committee  ·  Undergraduate Electrical Engineering</a:t>
            </a:r>
            <a:endParaRPr lang="en-US" sz="900" dirty="0"/>
          </a:p>
        </p:txBody>
      </p:sp>
      <p:sp>
        <p:nvSpPr>
          <p:cNvPr id="49" name="Text 46"/>
          <p:cNvSpPr txBox="1"/>
          <p:nvPr/>
        </p:nvSpPr>
        <p:spPr>
          <a:xfrm>
            <a:off x="10893247" y="6345936"/>
            <a:ext cx="731520" cy="256032"/>
          </a:xfrm>
          <a:prstGeom prst="rect">
            <a:avLst/>
          </a:prstGeom>
          <a:noFill/>
          <a:ln/>
        </p:spPr>
        <p:txBody>
          <a:bodyPr wrap="square" lIns="0" tIns="0" rIns="0" bIns="0" rtlCol="0" anchor="ctr"/>
          <a:lstStyle/>
          <a:p>
            <a:pPr algn="r" indent="0" marL="0">
              <a:buNone/>
            </a:pPr>
            <a:r>
              <a:rPr lang="en-US" sz="900" b="1" dirty="0">
                <a:solidFill>
                  <a:srgbClr val="7D93A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Prince Sultan University — College of Engineering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Curriculum Intelligence Portal (CIP)</dc:title>
  <dc:subject>PptxGenJS Presentation</dc:subject>
  <dc:creator>Curriculum Committee, Department of Communications and Networks Engineering</dc:creator>
  <cp:lastModifiedBy>Curriculum Committee, Department of Communications and Networks Engineering</cp:lastModifiedBy>
  <cp:revision>1</cp:revision>
  <dcterms:created xsi:type="dcterms:W3CDTF">2026-09-20T17:00:36Z</dcterms:created>
  <dcterms:modified xsi:type="dcterms:W3CDTF">2026-09-20T17:00:36Z</dcterms:modified>
</cp:coreProperties>
</file>