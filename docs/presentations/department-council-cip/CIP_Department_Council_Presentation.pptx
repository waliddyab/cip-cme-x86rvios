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841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CIP is a Curriculum Committee software asset, built by and for the committee. This session covers the undergraduate Electrical Engineering program only. MSc/graduate modules exist but are under construction and pending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scale, not complaint. These numbers cannot be reviewed reliably by opening files one at a time. Every figure is read from the committee's own approved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CIP is a portal that happens to be delivered as a desktop application; the desktop part is a governance decision, covered later. Note the MSc status once, in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live if the room allows. Emphasise that nothing here is re-typed: the credit distribution, the study plan and the outcome statements all render from one authoritative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coordinator preparing a syllabus, an instructor checking their CLOs and a committee reviewer all look at the same page, which removes most version disagreements.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philosophy. Labels are descriptive and point at documentation to confirm, not at a person. The Measurement and Improvement layers are deliberately empty: no attainment value is stored or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consolidated answer to "what does it actually do". Worth pausing on the Word generation: the NCAAA course specification uses the department's approved template and the committee's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argument for the department: CIP does not make curriculum decisions. It makes the evidence for those decisions available quickly and consistently, and keeps the result with the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precise. Stage 1 was the right choice for proving the concept and we are not disowning it. What changed is the requirement: once the portal held the approved curriculum record, we needed authorization before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local files: an authorized faculty member can of course inspect what is on their own machine, and we do not claim otherwise. The gain is no public URL, a hash-verified copy, and one managed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Status, not promises. Everything marked here has actually been done, and the release identifier is the one currently packaged in the repository. Broader faculty rollout follows once the committee agrees.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ownership: this is the committee's asset and the roadmap is modest. Ask the council for endorsement of continued development and for agreement on the faculty rollout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60920" y="141732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122842">
              <a:alpha val="45000"/>
            </a:srgbClr>
          </a:solidFill>
          <a:ln w="12700">
            <a:solidFill>
              <a:srgbClr val="23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001000" y="2057400"/>
            <a:ext cx="3017520" cy="3017520"/>
          </a:xfrm>
          <a:prstGeom prst="roundRect">
            <a:avLst>
              <a:gd name="adj" fmla="val 3636"/>
            </a:avLst>
          </a:prstGeom>
          <a:solidFill>
            <a:srgbClr val="122842">
              <a:alpha val="65000"/>
            </a:srgbClr>
          </a:solidFill>
          <a:ln w="12700">
            <a:solidFill>
              <a:srgbClr val="23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41080" y="2697480"/>
            <a:ext cx="1737360" cy="1737360"/>
          </a:xfrm>
          <a:prstGeom prst="roundRect">
            <a:avLst>
              <a:gd name="adj" fmla="val 6316"/>
            </a:avLst>
          </a:prstGeom>
          <a:solidFill>
            <a:schemeClr val="accent2">
              <a:alpha val="90000"/>
            </a:schemeClr>
          </a:solidFill>
          <a:ln w="12700">
            <a:solidFill>
              <a:srgbClr val="234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89720" y="3246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91897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371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SULTAN UNIVERSITY  ·  COLLEGE OF ENGINEERING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10512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Intelligence Portal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29184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EE curriculum intelligence and continuous-improvement platform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4224528"/>
            <a:ext cx="3383280" cy="438912"/>
          </a:xfrm>
          <a:prstGeom prst="roundRect">
            <a:avLst>
              <a:gd name="adj" fmla="val 45833"/>
            </a:avLst>
          </a:prstGeom>
          <a:solidFill>
            <a:srgbClr val="1B3A5C"/>
          </a:solidFill>
          <a:ln w="12700">
            <a:solidFill>
              <a:srgbClr val="2D5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66928" y="42245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Desktop 1.0.0  ·  Release 003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93776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Committee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Communications and Networks Engineering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Department Council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6DF4E5-1373-AAE7-AB01-B0785AC43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958084"/>
            <a:ext cx="1176528" cy="1176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CIP was needed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undergraduate program carries thousands of curriculum relationships, held in files rather than in a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6720840" cy="1353312"/>
          </a:xfrm>
          <a:prstGeom prst="roundRect">
            <a:avLst>
              <a:gd name="adj" fmla="val 5405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41248" y="2066544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841248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19933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data is distributed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40864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specifications, CLOs, mappings, assessment material and committee records live in separate files.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255264"/>
            <a:ext cx="6720840" cy="1353312"/>
          </a:xfrm>
          <a:prstGeom prst="roundRect">
            <a:avLst>
              <a:gd name="adj" fmla="val 5405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41248" y="3511296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4124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4381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need one clear view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3785616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and instructors need their course, its outcomes and its mappings without chasing documents.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700016"/>
            <a:ext cx="6720840" cy="1353312"/>
          </a:xfrm>
          <a:prstGeom prst="roundRect">
            <a:avLst>
              <a:gd name="adj" fmla="val 5405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41248" y="4956048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8412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8828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work needs traceability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5230368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must be consistent and evidence-based across terms, and fast enough to finish inside a review cycle.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1810512"/>
            <a:ext cx="3986784" cy="4242816"/>
          </a:xfrm>
          <a:prstGeom prst="roundRect">
            <a:avLst>
              <a:gd name="adj" fmla="val 1835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936992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IN DATA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4505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25237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modelled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30723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1455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36941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767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ABET student outcomes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936992" y="43159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36992" y="49377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466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5010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→ PI relationships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36992" y="55046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to stay consistent, defensible and documented.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CIP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desktop curriculum portal: installed by faculty, delivered under committee control, usable offline.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6692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847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1579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access to courses, outcomes, mappings, assessment and improvement views.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79776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6692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61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0723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install CIP Desktop. The portal opens from a validated local copy.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94176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6692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download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9867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obtained once through an authorized session, then held locally.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608576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66928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 controlled updates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9011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 network; new releases arrive through a managed channel.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4126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graduate modules are under construction and pending approval, and are not part of this presentation.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1810512"/>
            <a:ext cx="5358384" cy="3602736"/>
          </a:xfrm>
          <a:prstGeom prst="roundRect">
            <a:avLst>
              <a:gd name="adj" fmla="val 2030"/>
            </a:avLst>
          </a:prstGeom>
          <a:solidFill>
            <a:srgbClr val="E6EDF5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3" name="Image 0" descr="D:/WSClaude/CIP-CME-x86RVios/docs/presentations/department-council-cip/screenshots/cip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5084064" cy="31775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550468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entry view, undergraduate and graduate program areas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LEVEL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 program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degree in one place: structure, outcomes, mappings, assessment and improvement views.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3246120" cy="4224528"/>
          </a:xfrm>
          <a:prstGeom prst="roundRect">
            <a:avLst>
              <a:gd name="adj" fmla="val 2254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41248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32304"/>
            <a:ext cx="272491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and objectives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 and prerequisites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/ SO / PI relationships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maps and coverage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and improvement views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across modules</a:t>
            </a:r>
            <a:endParaRPr lang="en-US" sz="1400" dirty="0"/>
          </a:p>
        </p:txBody>
      </p:sp>
      <p:pic>
        <p:nvPicPr>
          <p:cNvPr id="8" name="Image 0" descr="D:/WSClaude/CIP-CME-x86RVios/docs/presentations/department-council-cip/screenshots/program-structur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810512"/>
            <a:ext cx="7552944" cy="22951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69080" y="4169664"/>
            <a:ext cx="7552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structure, rendered from the committee's approved curriculum data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4700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credit hours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5001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program structure data, so the figures cannot drift from the study plan.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700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retyped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001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objectives and the seven Student Outcomes come from the same file the mappings use.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LEVEL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Course-level intelligence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on one page: outcomes, mappings, teaching strategies and assessment methods.</a:t>
            </a:r>
            <a:endParaRPr lang="en-US" sz="1500" dirty="0"/>
          </a:p>
        </p:txBody>
      </p:sp>
      <p:pic>
        <p:nvPicPr>
          <p:cNvPr id="5" name="Image 0" descr="D:/WSClaude/CIP-CME-x86RVios/docs/presentations/department-council-cip/screenshots/course-dashboard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10512"/>
            <a:ext cx="5458968" cy="39172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797296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dashboard: CLO–SO–PI mapping and approved methods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1810512"/>
            <a:ext cx="5221224" cy="9144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638544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dashboards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38544" y="2231136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objectives, credits, prerequisites and topics.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798064"/>
            <a:ext cx="5221224" cy="9144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6638544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visibility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38544" y="3218688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learning outcome with its NQF domain and approved wording.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3785616"/>
            <a:ext cx="5221224" cy="9144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6638544" y="3895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assessment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38544" y="420624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approved teaching strategies and 16 assessment methods.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773168"/>
            <a:ext cx="5221224" cy="914400"/>
          </a:xfrm>
          <a:prstGeom prst="roundRect">
            <a:avLst>
              <a:gd name="adj" fmla="val 8000"/>
            </a:avLst>
          </a:prstGeom>
          <a:solidFill>
            <a:srgbClr val="E6EDF5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638544" y="4882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Course-to-program alignment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38544" y="5193792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 against the outcomes and indicators it supports.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0" y="5705856"/>
            <a:ext cx="5221224" cy="475488"/>
          </a:xfrm>
          <a:prstGeom prst="roundRect">
            <a:avLst>
              <a:gd name="adj" fmla="val 19231"/>
            </a:avLst>
          </a:prstGeom>
          <a:solidFill>
            <a:srgbClr val="FDF4E4"/>
          </a:solidFill>
          <a:ln w="12700">
            <a:solidFill>
              <a:srgbClr val="EFD3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6583680" y="570585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coordinators and reviewers work from one page.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and review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Evidence-oriented review of how the curriculum supports the seven ABET Student Outcomes.</a:t>
            </a:r>
            <a:endParaRPr lang="en-US" sz="1500" dirty="0"/>
          </a:p>
        </p:txBody>
      </p:sp>
      <p:pic>
        <p:nvPicPr>
          <p:cNvPr id="5" name="Image 0" descr="D:/WSClaude/CIP-CME-x86RVios/docs/presentations/department-council-cip/screenshots/alignment-review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810512"/>
            <a:ext cx="6035040" cy="39200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86984" y="57972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review: conclusions first, then the items worth confirming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828800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56692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CLO–SO–PI mapping visibility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121408"/>
            <a:ext cx="4261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coverage, per-course contribution and the CLO–PI explorer.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2889504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566928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analysis engine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3182112"/>
            <a:ext cx="4261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approved CLO wording, artefacts and assessment methods against each indicator.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950208"/>
            <a:ext cx="365760" cy="365760"/>
          </a:xfrm>
          <a:prstGeom prst="roundRect">
            <a:avLst>
              <a:gd name="adj" fmla="val 62500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566928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overlaps and documentation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4242816"/>
            <a:ext cx="4261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what is thin, what is duplicated and what needs confirming.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20640"/>
            <a:ext cx="4809744" cy="1042416"/>
          </a:xfrm>
          <a:prstGeom prst="roundRect">
            <a:avLst>
              <a:gd name="adj" fmla="val 7018"/>
            </a:avLst>
          </a:prstGeom>
          <a:solidFill>
            <a:srgbClr val="EAF3EC"/>
          </a:solidFill>
          <a:ln w="12700">
            <a:solidFill>
              <a:srgbClr val="BFDCC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786384" y="5193792"/>
            <a:ext cx="4407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not punitive.  </a:t>
            </a:r>
            <a:r>
              <a:rPr lang="en-US" sz="1400" dirty="0">
                <a:solidFill>
                  <a:srgbClr val="3F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reports status and suggests confirmation. It never grades a colleague and stores no student performance data.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portal can do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produced from the same curriculum record, not from separate working copies.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96112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39696"/>
            <a:ext cx="54406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structure, prerequisite flow and the four-year study plan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Course–SO–PI performance heatmaps, exportable as PNG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references for every course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strategies and assessment methods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93008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1C6E93"/>
          </a:solidFill>
          <a:ln w="12700">
            <a:solidFill>
              <a:srgbClr val="1C6E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96112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785616"/>
            <a:ext cx="54406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review with per-CLO faculty comments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mapping review across all seven Student Outcomes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CLO–SO–PI alignment and evidence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850892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2D7A56"/>
          </a:solidFill>
          <a:ln w="12700">
            <a:solidFill>
              <a:srgbClr val="2D7A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96112" y="48143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5143500"/>
            <a:ext cx="544068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NCAAA course specifications in Word, from the approved template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revision reports in Word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CLO-review, SO-mapping and change-request PDFs</a:t>
            </a:r>
            <a:endParaRPr lang="en-US" sz="1400" dirty="0"/>
          </a:p>
        </p:txBody>
      </p:sp>
      <p:pic>
        <p:nvPicPr>
          <p:cNvPr id="14" name="Image 0" descr="D:/WSClaude/CIP-CME-x86RVios/docs/presentations/department-council-cip/screenshots/pi-heatma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10512"/>
            <a:ext cx="5084064" cy="257586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537960" y="4480560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heatmap: approved I / P / M levels per course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37960" y="4956048"/>
            <a:ext cx="5084064" cy="1115568"/>
          </a:xfrm>
          <a:prstGeom prst="roundRect">
            <a:avLst>
              <a:gd name="adj" fmla="val 6557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766560" y="5029200"/>
            <a:ext cx="4645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not maintained by hand.  </a:t>
            </a: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specifications and review reports are built from the live data, so they cannot fall out of step with it.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improvement support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evidence moves from source files, through CIP, into committee decisions, and back again.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24871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43D66"/>
            </a:solidFill>
            <a:prstDash val="solid"/>
          </a:ln>
          <a:effectLst>
            <a:outerShdw blurRad="114300" dist="38100" dir="5400000" algn="bl" rotWithShape="0">
              <a:srgbClr val="0B1B2E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86384" y="1993392"/>
            <a:ext cx="256032" cy="256032"/>
          </a:xfrm>
          <a:prstGeom prst="roundRect">
            <a:avLst>
              <a:gd name="adj" fmla="val 89286"/>
            </a:avLst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786384" y="23225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65176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CLOs, mappings,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36392" y="2450592"/>
            <a:ext cx="256032" cy="256032"/>
          </a:xfrm>
          <a:prstGeom prst="rightArrow">
            <a:avLst/>
          </a:prstGeom>
          <a:solidFill>
            <a:srgbClr val="D3DDE8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56432" y="1810512"/>
            <a:ext cx="24871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C6E93"/>
            </a:solidFill>
            <a:prstDash val="solid"/>
          </a:ln>
          <a:effectLst>
            <a:outerShdw blurRad="114300" dist="38100" dir="5400000" algn="bl" rotWithShape="0">
              <a:srgbClr val="0B1B2E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75888" y="1993392"/>
            <a:ext cx="256032" cy="256032"/>
          </a:xfrm>
          <a:prstGeom prst="roundRect">
            <a:avLst>
              <a:gd name="adj" fmla="val 89286"/>
            </a:avLst>
          </a:prstGeom>
          <a:solidFill>
            <a:srgbClr val="1C6E93"/>
          </a:solidFill>
          <a:ln w="12700">
            <a:solidFill>
              <a:srgbClr val="1C6E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675888" y="23225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intelligence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65176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linked, searchable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view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25896" y="2450592"/>
            <a:ext cx="256032" cy="256032"/>
          </a:xfrm>
          <a:prstGeom prst="rightArrow">
            <a:avLst/>
          </a:prstGeom>
          <a:solidFill>
            <a:srgbClr val="D3DDE8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345936" y="1810512"/>
            <a:ext cx="24871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9A6208"/>
            </a:solidFill>
            <a:prstDash val="solid"/>
          </a:ln>
          <a:effectLst>
            <a:outerShdw blurRad="114300" dist="38100" dir="5400000" algn="bl" rotWithShape="0">
              <a:srgbClr val="0B1B2E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565392" y="1993392"/>
            <a:ext cx="256032" cy="256032"/>
          </a:xfrm>
          <a:prstGeom prst="roundRect">
            <a:avLst>
              <a:gd name="adj" fmla="val 89286"/>
            </a:avLst>
          </a:prstGeom>
          <a:solidFill>
            <a:srgbClr val="9A6208"/>
          </a:solidFill>
          <a:ln w="12700">
            <a:solidFill>
              <a:srgbClr val="9A62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565392" y="23225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decisions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5176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review,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outcomes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2450592"/>
            <a:ext cx="256032" cy="256032"/>
          </a:xfrm>
          <a:prstGeom prst="rightArrow">
            <a:avLst/>
          </a:prstGeom>
          <a:solidFill>
            <a:srgbClr val="D3DDE8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235440" y="1810512"/>
            <a:ext cx="24871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2D7A56"/>
            </a:solidFill>
            <a:prstDash val="solid"/>
          </a:ln>
          <a:effectLst>
            <a:outerShdw blurRad="114300" dist="38100" dir="5400000" algn="bl" rotWithShape="0">
              <a:srgbClr val="0B1B2E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454896" y="1993392"/>
            <a:ext cx="256032" cy="256032"/>
          </a:xfrm>
          <a:prstGeom prst="roundRect">
            <a:avLst>
              <a:gd name="adj" fmla="val 89286"/>
            </a:avLst>
          </a:prstGeom>
          <a:solidFill>
            <a:srgbClr val="2D7A56"/>
          </a:solidFill>
          <a:ln w="12700">
            <a:solidFill>
              <a:srgbClr val="2D7A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9454896" y="232257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54896" y="265176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revisions, mapping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documentation updates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3529584"/>
            <a:ext cx="11055096" cy="457200"/>
          </a:xfrm>
          <a:prstGeom prst="roundRect">
            <a:avLst>
              <a:gd name="adj" fmla="val 48000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566928" y="352958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evidence feeds the next curriculum revision cycle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31596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804672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evidence for discussion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479145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conversations start from the same view of the curriculum.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15968" y="431596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4553712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and review outputs tracked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53712" y="479145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produced from live data and kept with the release.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65008" y="431596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8302752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searching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479145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version of a mapping or a CLO is where everyone expects it.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public web portal to controlled desktop platform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information is institutional data. The delivery model was changed to match that.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3410712" cy="3950208"/>
          </a:xfrm>
          <a:prstGeom prst="roundRect">
            <a:avLst>
              <a:gd name="adj" fmla="val 2145"/>
            </a:avLst>
          </a:prstGeom>
          <a:solidFill>
            <a:srgbClr val="122842"/>
          </a:solidFill>
          <a:ln w="12700">
            <a:solidFill>
              <a:srgbClr val="2345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804672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3113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model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deployment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access anywhere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concept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986784"/>
            <a:ext cx="3044952" cy="1627632"/>
          </a:xfrm>
          <a:prstGeom prst="roundRect">
            <a:avLst>
              <a:gd name="adj" fmla="val 3933"/>
            </a:avLst>
          </a:prstGeom>
          <a:solidFill>
            <a:srgbClr val="0E2338"/>
          </a:solidFill>
          <a:ln w="12700">
            <a:solidFill>
              <a:srgbClr val="1E3E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914400" y="407822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DATA-GOVERNANCE LIMITATION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70832"/>
            <a:ext cx="2715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public web hosting. Files are served from a publicly reachable location, knowing the URL can make static resources retrievable, and no server-side authorization protects the package.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792224"/>
            <a:ext cx="3410712" cy="3950208"/>
          </a:xfrm>
          <a:prstGeom prst="roundRect">
            <a:avLst>
              <a:gd name="adj" fmla="val 2145"/>
            </a:avLst>
          </a:prstGeom>
          <a:solidFill>
            <a:srgbClr val="122842"/>
          </a:solidFill>
          <a:ln w="12700">
            <a:solidFill>
              <a:srgbClr val="2345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626864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23113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evolution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265176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by design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before delivery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exposure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distribution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986784"/>
            <a:ext cx="3044952" cy="1627632"/>
          </a:xfrm>
          <a:prstGeom prst="roundRect">
            <a:avLst>
              <a:gd name="adj" fmla="val 3933"/>
            </a:avLst>
          </a:prstGeom>
          <a:solidFill>
            <a:srgbClr val="0E2338"/>
          </a:solidFill>
          <a:ln w="12700">
            <a:solidFill>
              <a:srgbClr val="1E3E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736592" y="407822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MOVED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4370832"/>
            <a:ext cx="2715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chose a controlled desktop architecture so that governance of curriculum data is enforced by the delivery model, not by the obscurity of a link.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11312" y="1792224"/>
            <a:ext cx="3410712" cy="3950208"/>
          </a:xfrm>
          <a:prstGeom prst="roundRect">
            <a:avLst>
              <a:gd name="adj" fmla="val 2145"/>
            </a:avLst>
          </a:prstGeom>
          <a:solidFill>
            <a:srgbClr val="122842"/>
          </a:solidFill>
          <a:ln w="12700">
            <a:solidFill>
              <a:srgbClr val="2345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8449056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223113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 Desktop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265176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gateway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release storage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package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BCD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local copy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94192" y="3986784"/>
            <a:ext cx="3044952" cy="1627632"/>
          </a:xfrm>
          <a:prstGeom prst="roundRect">
            <a:avLst>
              <a:gd name="adj" fmla="val 3933"/>
            </a:avLst>
          </a:prstGeom>
          <a:solidFill>
            <a:srgbClr val="0E2338"/>
          </a:solidFill>
          <a:ln w="12700">
            <a:solidFill>
              <a:srgbClr val="1E3E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8558784" y="407822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58784" y="4370832"/>
            <a:ext cx="2715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identifiers and integrity hashes, delivered through a managed update channel so faculty machines do not diverge into unmanaged curriculum copies.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3387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is not being called insecure. </a:t>
            </a:r>
            <a:r>
              <a:rPr lang="en-US" sz="1400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public static-hosting model does not match our data-governance requirements.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DEPLOYMENT MODEL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controlled delivery works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faculty, private storage, verified package, local trusted copy.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ACCESS 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7532" y="2322576"/>
            <a:ext cx="0" cy="3328416"/>
          </a:xfrm>
          <a:prstGeom prst="line">
            <a:avLst/>
          </a:prstGeom>
          <a:noFill/>
          <a:ln w="25400">
            <a:solidFill>
              <a:srgbClr val="2D5C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3232" y="22128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133856" y="2157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PSU email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6700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1133856" y="2615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verification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1272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1133856" y="3072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faculty session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35844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1133856" y="35295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CIP release service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40416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1133856" y="39867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object storage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44988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1133856" y="4443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release package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4956048"/>
            <a:ext cx="228600" cy="228600"/>
          </a:xfrm>
          <a:prstGeom prst="ellipse">
            <a:avLst/>
          </a:prstGeom>
          <a:solidFill>
            <a:srgbClr val="79D7FF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1133856" y="4901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copy on the faculty computer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413248"/>
            <a:ext cx="228600" cy="228600"/>
          </a:xfrm>
          <a:prstGeom prst="ellipse">
            <a:avLst/>
          </a:prstGeom>
          <a:solidFill>
            <a:srgbClr val="F2A23A"/>
          </a:solidFill>
          <a:ln w="1905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1133856" y="5358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operation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1755648"/>
            <a:ext cx="6272784" cy="3145536"/>
          </a:xfrm>
          <a:prstGeom prst="roundRect">
            <a:avLst>
              <a:gd name="adj" fmla="val 2326"/>
            </a:avLst>
          </a:prstGeom>
          <a:solidFill>
            <a:srgbClr val="122842"/>
          </a:solidFill>
          <a:ln w="12700">
            <a:solidFill>
              <a:srgbClr val="2345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5596128" y="1920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SECURITY AND DATA ARCHITECTURE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2286000"/>
            <a:ext cx="57790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are authorized by email; release metadata and downloads require a valid session.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credentials are held by the desktop application in the operating system credential store.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packages sit in private cloud object storage; the bucket is not publicly exposed.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runs from the validated local release and keeps working offline.</a:t>
            </a:r>
            <a:endParaRPr lang="en-US" sz="140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carry identifiers and integrity hashes, delivered through one controlled channel.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49240" y="5047488"/>
            <a:ext cx="6272784" cy="1060704"/>
          </a:xfrm>
          <a:prstGeom prst="roundRect">
            <a:avLst>
              <a:gd name="adj" fmla="val 6897"/>
            </a:avLst>
          </a:prstGeom>
          <a:solidFill>
            <a:srgbClr val="1D4370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596128" y="51389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OBJECTIVE, STATED ACCURATELY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96128" y="5431536"/>
            <a:ext cx="5797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access, controlled distribution, reduced public exposure, release integrity, and managed synchronization of authorized local copies. Not digital rights management.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first validated desktop platform.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production status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undergraduate platform is prepared and tested; graduate modules remain under construction.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04672" y="19568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Desktop 1.0.0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94767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BFDC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4023360" y="19476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59152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desktop application, built and packaged for faculty installation.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810512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501384" y="19568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release r000000000003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720072" y="194767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BFDC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9720072" y="19476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2359152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release with a per-file integrity manifest.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04672" y="33832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content updates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23360" y="33741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BFDC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023360" y="3374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785616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content release was delivered to an installed client and verified.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236976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6501384" y="33832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trusted-user testing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20072" y="337413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 w="12700">
            <a:solidFill>
              <a:srgbClr val="BFDC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9720072" y="3374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3785616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authorized faculty test completed successfully.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663440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E6EDF5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804672" y="48097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EE modules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23360" y="48006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3EAF4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023360" y="4800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5212080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Program, course, alignment and improvement views in active use.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663440"/>
            <a:ext cx="5358384" cy="1280160"/>
          </a:xfrm>
          <a:prstGeom prst="roundRect">
            <a:avLst>
              <a:gd name="adj" fmla="val 5714"/>
            </a:avLst>
          </a:prstGeom>
          <a:solidFill>
            <a:srgbClr val="E6EDF5"/>
          </a:solidFill>
          <a:ln w="12700">
            <a:solidFill>
              <a:srgbClr val="D3DDE8"/>
            </a:solidFill>
            <a:prstDash val="solid"/>
          </a:ln>
          <a:effectLst>
            <a:outerShdw blurRad="127000" dist="38100" dir="5400000" algn="bl" rotWithShape="0">
              <a:srgbClr val="0B1B2E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501384" y="48097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graduate modules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720072" y="480060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 w="12700">
            <a:solidFill>
              <a:srgbClr val="EFD3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9720072" y="4800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construction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01384" y="5212080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approval; outside the scope of this presentation.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committee value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 departmental asset, not a one-off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329184" cy="329184"/>
          </a:xfrm>
          <a:prstGeom prst="roundRect">
            <a:avLst>
              <a:gd name="adj" fmla="val 69444"/>
            </a:avLst>
          </a:prstGeom>
          <a:solidFill>
            <a:srgbClr val="1D4370"/>
          </a:solidFill>
          <a:ln w="12700">
            <a:solidFill>
              <a:srgbClr val="1D43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66928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92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content releases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329184" cy="329184"/>
          </a:xfrm>
          <a:prstGeom prst="roundRect">
            <a:avLst>
              <a:gd name="adj" fmla="val 69444"/>
            </a:avLst>
          </a:prstGeom>
          <a:solidFill>
            <a:srgbClr val="1D4370"/>
          </a:solidFill>
          <a:ln w="12700">
            <a:solidFill>
              <a:srgbClr val="1D43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66928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304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self-update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329184" cy="329184"/>
          </a:xfrm>
          <a:prstGeom prst="roundRect">
            <a:avLst>
              <a:gd name="adj" fmla="val 69444"/>
            </a:avLst>
          </a:prstGeom>
          <a:solidFill>
            <a:srgbClr val="1D4370"/>
          </a:solidFill>
          <a:ln w="12700">
            <a:solidFill>
              <a:srgbClr val="1D43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6692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816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version indicator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3346704"/>
            <a:ext cx="329184" cy="329184"/>
          </a:xfrm>
          <a:prstGeom prst="roundRect">
            <a:avLst>
              <a:gd name="adj" fmla="val 69444"/>
            </a:avLst>
          </a:prstGeom>
          <a:solidFill>
            <a:srgbClr val="1D4370"/>
          </a:solidFill>
          <a:ln w="12700">
            <a:solidFill>
              <a:srgbClr val="1D43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66928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3284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user guide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3858768"/>
            <a:ext cx="329184" cy="329184"/>
          </a:xfrm>
          <a:prstGeom prst="roundRect">
            <a:avLst>
              <a:gd name="adj" fmla="val 69444"/>
            </a:avLst>
          </a:prstGeom>
          <a:solidFill>
            <a:srgbClr val="1D4370"/>
          </a:solidFill>
          <a:ln w="12700">
            <a:solidFill>
              <a:srgbClr val="1D43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6692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programs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4572000"/>
            <a:ext cx="4846320" cy="1225296"/>
          </a:xfrm>
          <a:prstGeom prst="roundRect">
            <a:avLst>
              <a:gd name="adj" fmla="val 5970"/>
            </a:avLst>
          </a:prstGeom>
          <a:solidFill>
            <a:srgbClr val="0E2338"/>
          </a:solidFill>
          <a:ln w="12700">
            <a:solidFill>
              <a:srgbClr val="1E3E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786384" y="4700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OF THE COUNCIL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501091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to continue development, and agreement on the faculty rollout list.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0" y="1792224"/>
            <a:ext cx="5861304" cy="1737360"/>
          </a:xfrm>
          <a:prstGeom prst="roundRect">
            <a:avLst>
              <a:gd name="adj" fmla="val 4211"/>
            </a:avLst>
          </a:prstGeom>
          <a:solidFill>
            <a:srgbClr val="122842"/>
          </a:solidFill>
          <a:ln w="12700">
            <a:solidFill>
              <a:srgbClr val="2345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5998464" y="1938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COVERAGE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98464" y="2231136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3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first validated desktop platform. The architecture is cross-platform in principle, allowing CIP to be extended to macOS while retaining the same authentication and private content-delivery model.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0" y="3694176"/>
            <a:ext cx="5861304" cy="2103120"/>
          </a:xfrm>
          <a:prstGeom prst="roundRect">
            <a:avLst>
              <a:gd name="adj" fmla="val 3478"/>
            </a:avLst>
          </a:prstGeom>
          <a:solidFill>
            <a:srgbClr val="1D4370"/>
          </a:solidFill>
          <a:ln w="12700">
            <a:solidFill>
              <a:srgbClr val="3A6F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998464" y="3822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DEPARTMENT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98464" y="411480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intelligence in a controlled lifecycle.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998464" y="4553712"/>
            <a:ext cx="1956816" cy="347472"/>
          </a:xfrm>
          <a:prstGeom prst="roundRect">
            <a:avLst>
              <a:gd name="adj" fmla="val 50000"/>
            </a:avLst>
          </a:prstGeom>
          <a:solidFill>
            <a:srgbClr val="2A5A8C"/>
          </a:solidFill>
          <a:ln w="12700">
            <a:solidFill>
              <a:srgbClr val="4A80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5998464" y="455371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authorization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83296" y="4553712"/>
            <a:ext cx="1792224" cy="347472"/>
          </a:xfrm>
          <a:prstGeom prst="roundRect">
            <a:avLst>
              <a:gd name="adj" fmla="val 50000"/>
            </a:avLst>
          </a:prstGeom>
          <a:solidFill>
            <a:srgbClr val="2A5A8C"/>
          </a:solidFill>
          <a:ln w="12700">
            <a:solidFill>
              <a:srgbClr val="4A80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8083296" y="455371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delivery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98464" y="4956048"/>
            <a:ext cx="2267712" cy="347472"/>
          </a:xfrm>
          <a:prstGeom prst="roundRect">
            <a:avLst>
              <a:gd name="adj" fmla="val 50000"/>
            </a:avLst>
          </a:prstGeom>
          <a:solidFill>
            <a:srgbClr val="2A5A8C"/>
          </a:solidFill>
          <a:ln w="12700">
            <a:solidFill>
              <a:srgbClr val="4A80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5998464" y="49560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local operation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94192" y="4956048"/>
            <a:ext cx="1572768" cy="347472"/>
          </a:xfrm>
          <a:prstGeom prst="roundRect">
            <a:avLst>
              <a:gd name="adj" fmla="val 50000"/>
            </a:avLst>
          </a:prstGeom>
          <a:solidFill>
            <a:srgbClr val="2A5A8C"/>
          </a:solidFill>
          <a:ln w="12700">
            <a:solidFill>
              <a:srgbClr val="4A80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394192" y="49560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releases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98464" y="5358384"/>
            <a:ext cx="2029968" cy="347472"/>
          </a:xfrm>
          <a:prstGeom prst="roundRect">
            <a:avLst>
              <a:gd name="adj" fmla="val 50000"/>
            </a:avLst>
          </a:prstGeom>
          <a:solidFill>
            <a:srgbClr val="2A5A8C"/>
          </a:solidFill>
          <a:ln w="12700">
            <a:solidFill>
              <a:srgbClr val="4A80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5998464" y="53583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66928" y="6263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Portal  ·  Curriculum Committee  ·  Undergraduate Electrical Engineering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0984687" y="6263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D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1988</Words>
  <Application>Microsoft Office PowerPoint</Application>
  <PresentationFormat>Widescreen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Prince Sultan University —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Intelligence Portal (CIP)</dc:title>
  <dc:subject>PptxGenJS Presentation</dc:subject>
  <dc:creator>Curriculum Committee, Department of Communications and Networks Engineering</dc:creator>
  <cp:lastModifiedBy>Walid Dyab</cp:lastModifiedBy>
  <cp:revision>2</cp:revision>
  <dcterms:created xsi:type="dcterms:W3CDTF">2026-09-20T18:20:25Z</dcterms:created>
  <dcterms:modified xsi:type="dcterms:W3CDTF">2026-09-20T18:25:05Z</dcterms:modified>
</cp:coreProperties>
</file>